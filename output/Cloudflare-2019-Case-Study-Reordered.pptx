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29a32b33a4d50" /><Relationship Type="http://schemas.openxmlformats.org/officeDocument/2006/relationships/extended-properties" Target="/docProps/app.xml" Id="R0f237bbac7014a71" /><Relationship Type="http://schemas.openxmlformats.org/officeDocument/2006/relationships/officeDocument" Target="/ppt/presentation.xml" Id="Ra7d90b58159b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50ede07504124"/>
    <p:sldMasterId xmlns:r="http://schemas.openxmlformats.org/officeDocument/2006/relationships" id="2147483660" r:id="R6f7d08f6cc304531"/>
  </p:sldMasterIdLst>
  <p:notesMasterIdLst>
    <p:notesMasterId xmlns:r="http://schemas.openxmlformats.org/officeDocument/2006/relationships" r:id="R0ae9c8139b3d44ad"/>
  </p:notesMasterIdLst>
  <p:sldIdLst>
    <p:sldId xmlns:r="http://schemas.openxmlformats.org/officeDocument/2006/relationships" id="256" r:id="Rf00ba99bf4e44985"/>
    <p:sldId xmlns:r="http://schemas.openxmlformats.org/officeDocument/2006/relationships" id="257" r:id="R59affabf72d24680"/>
    <p:sldId xmlns:r="http://schemas.openxmlformats.org/officeDocument/2006/relationships" id="258" r:id="R62662d57ff534398"/>
    <p:sldId xmlns:r="http://schemas.openxmlformats.org/officeDocument/2006/relationships" id="259" r:id="Rda9557e7de064e28"/>
    <p:sldId xmlns:r="http://schemas.openxmlformats.org/officeDocument/2006/relationships" id="260" r:id="R3d4c7d84c72c4a2b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b83b9db82415f" /><Relationship Type="http://schemas.openxmlformats.org/officeDocument/2006/relationships/slideMaster" Target="/ppt/slideMasters/slideMaster1.xml" Id="Rb1550ede07504124" /><Relationship Type="http://schemas.openxmlformats.org/officeDocument/2006/relationships/slideMaster" Target="/ppt/slideMasters/slideMaster2.xml" Id="R6f7d08f6cc304531" /><Relationship Type="http://schemas.openxmlformats.org/officeDocument/2006/relationships/notesMaster" Target="/ppt/notesMasters/notesMaster1.xml" Id="R0ae9c8139b3d44ad" /><Relationship Type="http://schemas.openxmlformats.org/officeDocument/2006/relationships/presProps" Target="/ppt/presProps.xml" Id="R7ed06040e09d4714" /><Relationship Type="http://schemas.openxmlformats.org/officeDocument/2006/relationships/viewProps" Target="/ppt/viewProps.xml" Id="Rbd2a97a88c8444e2" /><Relationship Type="http://schemas.openxmlformats.org/officeDocument/2006/relationships/tableStyles" Target="/ppt/tableStyles.xml" Id="Rd9298aa7b6154677" /><Relationship Type="http://schemas.openxmlformats.org/officeDocument/2006/relationships/slide" Target="/ppt/slides/slide1.xml" Id="Rf00ba99bf4e44985" /><Relationship Type="http://schemas.openxmlformats.org/officeDocument/2006/relationships/slide" Target="/ppt/slides/slide2.xml" Id="R59affabf72d24680" /><Relationship Type="http://schemas.openxmlformats.org/officeDocument/2006/relationships/slide" Target="/ppt/slides/slide3.xml" Id="R62662d57ff534398" /><Relationship Type="http://schemas.openxmlformats.org/officeDocument/2006/relationships/slide" Target="/ppt/slides/slide4.xml" Id="Rda9557e7de064e28" /><Relationship Type="http://schemas.openxmlformats.org/officeDocument/2006/relationships/slide" Target="/ppt/slides/slide5.xml" Id="R3d4c7d84c72c4a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26f34bdaaf7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8964ac7964adc" /><Relationship Type="http://schemas.openxmlformats.org/officeDocument/2006/relationships/notesMaster" Target="/ppt/notesMasters/notesMaster1.xml" Id="R59eace6dae47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7d2875353480f" /><Relationship Type="http://schemas.openxmlformats.org/officeDocument/2006/relationships/notesMaster" Target="/ppt/notesMasters/notesMaster1.xml" Id="R9e633583dcfd41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c05c5b76934ab3" /><Relationship Type="http://schemas.openxmlformats.org/officeDocument/2006/relationships/notesMaster" Target="/ppt/notesMasters/notesMaster1.xml" Id="R93c60bd3e8144a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2db3faa6c74109" /><Relationship Type="http://schemas.openxmlformats.org/officeDocument/2006/relationships/notesMaster" Target="/ppt/notesMasters/notesMaster1.xml" Id="Rdcc0a538651f48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5f1e923c764804" /><Relationship Type="http://schemas.openxmlformats.org/officeDocument/2006/relationships/notesMaster" Target="/ppt/notesMasters/notesMaster1.xml" Id="R3197dbee3514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setup as an intermediary: a visitor’s request passes through Cloudflare before reaching the site. A 502 error means that intermediary could not obtain the response it needed. The 82% figure describes Cloudflare’s traffic drop, not 82% of the Internet.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everyday example: a visitor may be unable to open a store or complete an online task. This is an illustration of availability impact, not a measured financial-loss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Cloudflare sits between visitors and websites. Its servers deliver content and screen requests before they reach a website’s own server.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 July 2, a firewall rule update overloaded servers worldwide. Visitors saw “502 Bad Gateway” errors instead of web pages.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outage lasted 27 minutes. CPU usage reached 100%, and Cloudflare’s traffic fell 82% at its worst.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it mattered: one shared provider’s failure interrupted many customers at once, even when their own websites were otherwise healthy.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refer to July 2, 2019, in UTC. A rollback restores an earlier configuration or version. Disabling the affected component first removes the immediate load, giving the team room to investigate.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the two recovery milestones explicit: people could access websites again at 14:09, but the WAF returned at 14:52. Traffic recovery therefore does not mean every protection was already back. The detailed postmortem gives the 14:07 termination time and 14:00 diagnosis.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13:42 UTC: the rule goes live. By 14:00, engineers identify the WAF as the source of CPU exhaustion.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14:07 UTC: they disable the WAF globally. By 14:09, CPU usage and traffic return to normal.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They roll back the faulty rule and test the fix. At 14:52 UTC, they restore the WAF worldwide.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tradeoff: websites recover before WAF inspection returns. Other security protections remain active during that interval.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original CPU chart, Cloudflare engineering postmortem. https://blog.cloudflare.com/_emdash/api/media/file/01KW44G5FHMGT7B6C2NGNFWVW7.png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chart shows one location, not a separately measured global average.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pattern aloud as: any text, followed by any text, followed by an equals sign, then any text. This is a simplified fragment, not the complete deployed expression.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example: when a candidate input lacks an equals sign, a backtracking matcher can repeatedly redistribute characters between the wildcard sections before deciding there is no match. A check can be logically correct yet too expensive to run on every request. Avoid calling this an infinite loop: the problem is excessive repeated 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web application firewall (WAF) checks requests for suspicious content. This update targeted malicious JavaScript.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regular expression, or regex, is a text-search pattern. The simplified fragment .*.*=.* contains overlapping “match anything” sections.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Backtracking means retrying different ways to match the same text. Here, the repeated work consumed the CPU needed to serve requests.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“Simulate” mode only stopped the rule from blocking visitors. It still ran the expensive check on real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analysis: several defenses failed together. A useful test plan asks both “Does this rule classify traffic correctly?” and “Can we afford to execute it under load?”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rollout exposes a small traffic sample first. Teams watch errors and CPU before expanding it. That limits how many customers encounter an undetected defect.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debt connection is the accumulated risk in testing, deployment, and recovery procedures. The new regex triggered the incident, while existing weaknesses increased its severity.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Earlier refactoring accidentally removed a CPU safeguard. The effort to improve performance weakened a protection against costly rules.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Tests checked which requests to allow or block. They did not catch runaway CPU use, so passing tests gave incomplete reassurance.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rollout sent the rule worldwide without a limited trial. A local defect therefore became a global availability problem.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Recovery also depended on affected systems. Engineers struggled to access internal tools, making an emergency change harder.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bullet describes work reported complete. The following actions were announced in the July 12 postmortem, so this slide does not claim they had all shipped by that 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RE2 explanation: for a fixed pattern, work scales proportionally with input length instead of exploding through repeated retries. This does not mean every expression takes the same time. RE2 also restricts syntax: features such as backreferences and look-around are unsupported. A migration therefore needs compatibility tests.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https://github.com/google/re2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Completed by July 12: restored the CPU safeguard and inspected all 3,868 managed rules for similar problems.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testing: profile each rule’s performance. That means measuring its processing cost, beyond whether it gives the right answer.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rollout: release rules in stages. Planned engine change: use RE2 or Rust regex with runtime guarantees.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the engine matters: RE2 bounds matching time linearly in input length for a fixed pattern, avoiding unbounded backtracking.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Additional lessons and discussion: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presentation’s conclusions from the case. Corrective maintenance addresses an existing defect. Preventive maintenance reduces the likelihood of future failures.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changes a program’s internal structure while preserving external behavior. The case shows why a team must identify the protections that need to survive a code change. A proposed regression test could run difficult inputs and fail when a rule exceeds an agreed processing budget. This is a recommendation, not a claim about Cloudflare’s exact implementation.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question: If a change returns the same answers but makes the service unavailable under load, has it preserved the behavior users need?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source: https://refactoring.com/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evidence: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Maintenance includes keeping changes safe. Fixing the broken rule restores service, while stronger tests help prevent another failure.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debt can live in processes too. Saving time on rollout or testing can create larger debugging and outage costs later.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should preserve behavior. Teams also need regression tests for safety limits that ordinary feature tests may miss.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takeaway: test correctness and resource use, expand releases gradually, and rehearse recovery when normal tools are unavailable.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cce871ffa4f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93d94f09a40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2016bcf2141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692e2dc0c47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1824a6f9840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d8584b8a445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3a51b929341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3f3ab1b2844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38fff0b524c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ae8f9dd014b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7cf87603b4f2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f0bce2ab194e3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5ef26ed60d42f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3469ce2fe8402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47794b40fd4ee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2bee0d3a9c483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e6621b455b44c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4dc533102d425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baff846c7a4d0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7f4bfede6848e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8506aa0e3d4e6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0434412231448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DBF76A6-E7D2-471D-B830-32429652E3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5A822B7-ECC4-4B1E-A898-FBDD797666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0D249F6-92AF-4248-A4EF-203EA1122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CF78C72-9B57-4D6E-B176-B199B80FF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2D4A4CB-5C1F-4DB5-AFFF-63B0F5E1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C4DEEFE-F3C1-4E2B-8DFF-5A7262038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1F2D044-A6A1-4FD7-AAC5-35464A6C4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219DB9-D6F3-4F19-AE9F-BC7FEC9F7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C351D77-650D-4C35-BAB4-87F6042CC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77321CC-D77F-4756-8190-C73A397EF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86B9A7D-7F51-4659-AC7A-DB03DAC1D8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8BDF4B95-3A2D-46E2-B0C9-497D1B6FE4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D15B4F0-2F8C-4FDF-8A75-C78C0CB6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D316778-65A9-4276-9371-442A12D88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4F75451-516A-48D3-B611-98DD27A15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21F1E27-CCAF-4BD4-AD23-D3EB5151B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F5F9220-160D-45E5-A1DE-F50753520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C3C1CEB-15D9-40A8-B6E2-5DF40449E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A5E59FF-99F7-42DB-8D11-870BF0B37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9FD25FC-8B8F-41D3-A558-C7AE1D58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7FAD47B-205E-42B3-AAC7-39F652F1D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765499E-59CE-49F4-BC16-5A4A28602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85CC6B3-85BF-4E68-9055-D2FEDF149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C3153D5-3CD3-475C-B048-C55CC6CBC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1CA9F07-74FA-4B46-A28A-AFB881310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E65C115-9003-41EC-92BA-3D9E1EBB8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8C2E02A-7FCD-4805-9EEA-99E10A97C6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9DA680B-21CA-4345-B216-C76042BAF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1D66801-7DAF-4EF3-AD86-D017E7876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1554BA4-7261-4683-8020-C57E6A1FD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43145B99-D6CF-498D-899E-3D68550B7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1967EECE-ED64-465F-8A12-324B2CA21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DD12850B-30AD-4A2A-AEB7-8F641AD2F4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08DB5432-B0B4-4B00-BB52-BC5275C6DE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64" y="1597819"/>
            <a:ext cx="5829455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B9CBC5D6-B22F-4715-8398-4BDD2CB329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27" y="2914650"/>
            <a:ext cx="480072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31826811-9344-412B-9F53-529AAF345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5516ECAF-2EF6-46EF-B5C6-21D535A2C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B1678455-3D97-43A1-B0F0-C804D57E5A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A83B252E-2AE6-41DF-AA77-4C2CC36FB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6D0AA315-7A00-4C09-A9D0-FB5500160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3075F3F2-3883-412C-9881-25820CE15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4568A37F-A757-4223-B052-7EAB14335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CCA3380-B471-4ADA-8899-7BEE733F2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F7AFA3AE-B225-4E96-9C80-3D334F97C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49" y="3305175"/>
            <a:ext cx="5829455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02AD6477-B245-464B-92EE-D55653B5D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49" y="2180035"/>
            <a:ext cx="5829455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9E3BA603-D8D2-4DD4-9518-91C715BBC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7B2F198C-F4B0-4BE7-82E7-86A5E02547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9984B88A-8543-4167-BAF7-0FAC1A84B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84F360A3-4E43-4DF4-BEB1-3B200D482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27E3E39E-8C4A-4D32-A0D9-70890466C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50636CCF-E785-40B8-BECA-22B8795766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6243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206F119-D792-4E9A-99AE-E122FFC3B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46802ACF-571C-4DD8-BD95-DDB41F072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1AFD0D8B-284A-4D31-804A-4FFD78B54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1F91341F-BBDC-4587-A0A9-FA7C1FAA8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444CDE19-26A4-40CA-8864-3B9D6BF5A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151335"/>
            <a:ext cx="303022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7725B640-C6CB-4E7A-BDBF-396F05DD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631156"/>
            <a:ext cx="303022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18DF8F34-830D-4033-8C92-1B243233B8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862" y="1151335"/>
            <a:ext cx="303141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6E8CC8CC-801B-4793-9F90-1D4DE0CA33F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483862" y="1631156"/>
            <a:ext cx="303141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50BC3EBA-33D7-45DD-A199-D714C8FD4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111C725B-9BDC-4E5B-8D0A-5000A64F5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F67A45EB-8A33-45A8-AD31-7CA098098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DD8A6062-DBF1-479D-A36A-E5AD2FBC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4D2095A2-8F8A-4302-AD86-488EE96C55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82662BB3-8881-47D2-AE09-F090E868A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0">
            <a:extLst xmlns:a="http://schemas.openxmlformats.org/drawingml/2006/main">
              <a:ext uri="{FF2B5EF4-FFF2-40B4-BE49-F238E27FC236}">
                <a16:creationId xmlns:a16="http://schemas.microsoft.com/office/drawing/2014/main" id="{3EE596EC-DF93-4C93-8E3B-BADD0339C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2E75F723-EA7F-4F3B-BB02-7D3660B73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4788"/>
            <a:ext cx="2256295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89430275-861B-432F-84FF-4F1C5986A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1359" y="204788"/>
            <a:ext cx="3833915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02" name="Google Shape;102;p21">
            <a:extLst xmlns:a="http://schemas.openxmlformats.org/drawingml/2006/main">
              <a:ext uri="{FF2B5EF4-FFF2-40B4-BE49-F238E27FC236}">
                <a16:creationId xmlns:a16="http://schemas.microsoft.com/office/drawing/2014/main" id="{91E06565-2718-4A60-A6A1-A6CDE49920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076325"/>
            <a:ext cx="2256295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03" name="Google Shape;103;p21">
            <a:extLst xmlns:a="http://schemas.openxmlformats.org/drawingml/2006/main">
              <a:ext uri="{FF2B5EF4-FFF2-40B4-BE49-F238E27FC236}">
                <a16:creationId xmlns:a16="http://schemas.microsoft.com/office/drawing/2014/main" id="{369EDA4B-08CA-4FA8-B171-F4996BF9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21">
            <a:extLst xmlns:a="http://schemas.openxmlformats.org/drawingml/2006/main">
              <a:ext uri="{FF2B5EF4-FFF2-40B4-BE49-F238E27FC236}">
                <a16:creationId xmlns:a16="http://schemas.microsoft.com/office/drawing/2014/main" id="{B29CECB4-33CC-4776-8131-00D3C9BBC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72913679-7AA5-46FA-9830-F9F8B35DB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C6E77CFC-27D5-4253-86A7-73CF776B7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52" y="3600450"/>
            <a:ext cx="411491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2">
            <a:extLst xmlns:a="http://schemas.openxmlformats.org/drawingml/2006/main">
              <a:ext uri="{FF2B5EF4-FFF2-40B4-BE49-F238E27FC236}">
                <a16:creationId xmlns:a16="http://schemas.microsoft.com/office/drawing/2014/main" id="{FCDC3D89-F335-49D8-ABD9-7B9264B0D22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44252" y="459581"/>
            <a:ext cx="411491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9" name="Google Shape;109;p22">
            <a:extLst xmlns:a="http://schemas.openxmlformats.org/drawingml/2006/main">
              <a:ext uri="{FF2B5EF4-FFF2-40B4-BE49-F238E27FC236}">
                <a16:creationId xmlns:a16="http://schemas.microsoft.com/office/drawing/2014/main" id="{F674F3FB-592A-4E67-9D07-AD32DB515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44252" y="4025503"/>
            <a:ext cx="411491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4DC1E15F-6059-4DB5-A571-41D88635B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2E774CB5-0221-4061-A7D1-EC71E59C7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C8D50C75-1AB6-4A6A-B3EF-FCBC4AA53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EB89D84C-685B-45DE-B178-533F6400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A3BDB942-8FF8-4FB8-A4AE-4AF5084D8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31855" y="-188796"/>
            <a:ext cx="3394472" cy="6172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C53E58B4-D9BD-49E7-BA07-5D36DF126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7C1CE093-86DF-452D-BC36-A908017B1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FC8462B7-6771-4776-85B1-E73D14411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C57C54C2-46B2-48AF-8C6E-249429A84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549406" y="1628755"/>
            <a:ext cx="4388644" cy="1543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893CA174-3162-47DB-8949-94857F0D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06072" y="142815"/>
            <a:ext cx="4388644" cy="451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281A6F0E-DBA4-44D6-8C56-B681052BB6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AADBFD7F-B745-429E-9F37-265648F3A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07793A97-6C76-4E11-BAF7-CCCC6B141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4dfbd861bb4758" /><Relationship Type="http://schemas.openxmlformats.org/officeDocument/2006/relationships/slideLayout" Target="/ppt/slideLayouts/slideLayout1.xml" Id="R85da73949b384f34" /><Relationship Type="http://schemas.openxmlformats.org/officeDocument/2006/relationships/slideLayout" Target="/ppt/slideLayouts/slideLayout2.xml" Id="R57a5351880c0463d" /><Relationship Type="http://schemas.openxmlformats.org/officeDocument/2006/relationships/slideLayout" Target="/ppt/slideLayouts/slideLayout3.xml" Id="R370c56916e3b47ac" /><Relationship Type="http://schemas.openxmlformats.org/officeDocument/2006/relationships/slideLayout" Target="/ppt/slideLayouts/slideLayout4.xml" Id="R5b164ebee0164462" /><Relationship Type="http://schemas.openxmlformats.org/officeDocument/2006/relationships/slideLayout" Target="/ppt/slideLayouts/slideLayout5.xml" Id="Rd5114aaefe394dfb" /><Relationship Type="http://schemas.openxmlformats.org/officeDocument/2006/relationships/slideLayout" Target="/ppt/slideLayouts/slideLayout6.xml" Id="R23c009d42e624ec2" /><Relationship Type="http://schemas.openxmlformats.org/officeDocument/2006/relationships/slideLayout" Target="/ppt/slideLayouts/slideLayout7.xml" Id="Rdf336485067c45f1" /><Relationship Type="http://schemas.openxmlformats.org/officeDocument/2006/relationships/slideLayout" Target="/ppt/slideLayouts/slideLayout8.xml" Id="Rb8c3f34a4d8d44e9" /><Relationship Type="http://schemas.openxmlformats.org/officeDocument/2006/relationships/slideLayout" Target="/ppt/slideLayouts/slideLayout9.xml" Id="R6c0141d744e2490b" /><Relationship Type="http://schemas.openxmlformats.org/officeDocument/2006/relationships/slideLayout" Target="/ppt/slideLayouts/slideLayout10.xml" Id="R4229e98ade964b90" /><Relationship Type="http://schemas.openxmlformats.org/officeDocument/2006/relationships/slideLayout" Target="/ppt/slideLayouts/slideLayout11.xml" Id="Reda419244e714f8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1b2bc2038da4350" /><Relationship Type="http://schemas.openxmlformats.org/officeDocument/2006/relationships/slideLayout" Target="/ppt/slideLayouts/slideLayout12.xml" Id="R7edeccbbcfc34fb1" /><Relationship Type="http://schemas.openxmlformats.org/officeDocument/2006/relationships/slideLayout" Target="/ppt/slideLayouts/slideLayout13.xml" Id="R0e3b14e802f54104" /><Relationship Type="http://schemas.openxmlformats.org/officeDocument/2006/relationships/slideLayout" Target="/ppt/slideLayouts/slideLayout14.xml" Id="Ra3171c2e502948f6" /><Relationship Type="http://schemas.openxmlformats.org/officeDocument/2006/relationships/slideLayout" Target="/ppt/slideLayouts/slideLayout15.xml" Id="Rb60e506514cc467a" /><Relationship Type="http://schemas.openxmlformats.org/officeDocument/2006/relationships/slideLayout" Target="/ppt/slideLayouts/slideLayout16.xml" Id="R97d529e6852d46a2" /><Relationship Type="http://schemas.openxmlformats.org/officeDocument/2006/relationships/slideLayout" Target="/ppt/slideLayouts/slideLayout17.xml" Id="R949011e27ec44cb6" /><Relationship Type="http://schemas.openxmlformats.org/officeDocument/2006/relationships/slideLayout" Target="/ppt/slideLayouts/slideLayout18.xml" Id="Rafc568b821d545ac" /><Relationship Type="http://schemas.openxmlformats.org/officeDocument/2006/relationships/slideLayout" Target="/ppt/slideLayouts/slideLayout19.xml" Id="R9dd0d9ed2f374217" /><Relationship Type="http://schemas.openxmlformats.org/officeDocument/2006/relationships/slideLayout" Target="/ppt/slideLayouts/slideLayout20.xml" Id="R21e38a438a13476e" /><Relationship Type="http://schemas.openxmlformats.org/officeDocument/2006/relationships/slideLayout" Target="/ppt/slideLayouts/slideLayout21.xml" Id="Rbad6aedcf689439b" /><Relationship Type="http://schemas.openxmlformats.org/officeDocument/2006/relationships/slideLayout" Target="/ppt/slideLayouts/slideLayout22.xml" Id="R521418e5b186417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00E5AE-AF6C-49EA-A26D-2860C56ED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204BD63-A697-4A52-AA47-0C7C88FDE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25F209E-3CC9-48B5-A9E2-4AE40FEE3D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da73949b384f34"/>
    <p:sldLayoutId xmlns:r="http://schemas.openxmlformats.org/officeDocument/2006/relationships" id="2147483650" r:id="R57a5351880c0463d"/>
    <p:sldLayoutId xmlns:r="http://schemas.openxmlformats.org/officeDocument/2006/relationships" id="2147483651" r:id="R370c56916e3b47ac"/>
    <p:sldLayoutId xmlns:r="http://schemas.openxmlformats.org/officeDocument/2006/relationships" id="2147483652" r:id="R5b164ebee0164462"/>
    <p:sldLayoutId xmlns:r="http://schemas.openxmlformats.org/officeDocument/2006/relationships" id="2147483653" r:id="Rd5114aaefe394dfb"/>
    <p:sldLayoutId xmlns:r="http://schemas.openxmlformats.org/officeDocument/2006/relationships" id="2147483654" r:id="R23c009d42e624ec2"/>
    <p:sldLayoutId xmlns:r="http://schemas.openxmlformats.org/officeDocument/2006/relationships" id="2147483655" r:id="Rdf336485067c45f1"/>
    <p:sldLayoutId xmlns:r="http://schemas.openxmlformats.org/officeDocument/2006/relationships" id="2147483656" r:id="Rb8c3f34a4d8d44e9"/>
    <p:sldLayoutId xmlns:r="http://schemas.openxmlformats.org/officeDocument/2006/relationships" id="2147483657" r:id="R6c0141d744e2490b"/>
    <p:sldLayoutId xmlns:r="http://schemas.openxmlformats.org/officeDocument/2006/relationships" id="2147483658" r:id="R4229e98ade964b90"/>
    <p:sldLayoutId xmlns:r="http://schemas.openxmlformats.org/officeDocument/2006/relationships" id="2147483659" r:id="Reda419244e714f8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E3C64CE1-FC7D-46E2-ACCF-D88686751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C0FEF5C9-E3EB-4F40-91CA-9D76678EF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993BE664-F5AF-4C5A-AA77-9C74B0BCA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5EAC371-6A0A-4BAB-9270-68841D979D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3FADF8E-48ED-4D6D-8A84-92FF045FC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edeccbbcfc34fb1"/>
    <p:sldLayoutId xmlns:r="http://schemas.openxmlformats.org/officeDocument/2006/relationships" id="2147483662" r:id="R0e3b14e802f54104"/>
    <p:sldLayoutId xmlns:r="http://schemas.openxmlformats.org/officeDocument/2006/relationships" id="2147483663" r:id="Ra3171c2e502948f6"/>
    <p:sldLayoutId xmlns:r="http://schemas.openxmlformats.org/officeDocument/2006/relationships" id="2147483664" r:id="Rb60e506514cc467a"/>
    <p:sldLayoutId xmlns:r="http://schemas.openxmlformats.org/officeDocument/2006/relationships" id="2147483665" r:id="R97d529e6852d46a2"/>
    <p:sldLayoutId xmlns:r="http://schemas.openxmlformats.org/officeDocument/2006/relationships" id="2147483666" r:id="R949011e27ec44cb6"/>
    <p:sldLayoutId xmlns:r="http://schemas.openxmlformats.org/officeDocument/2006/relationships" id="2147483667" r:id="Rafc568b821d545ac"/>
    <p:sldLayoutId xmlns:r="http://schemas.openxmlformats.org/officeDocument/2006/relationships" id="2147483668" r:id="R9dd0d9ed2f374217"/>
    <p:sldLayoutId xmlns:r="http://schemas.openxmlformats.org/officeDocument/2006/relationships" id="2147483669" r:id="R21e38a438a13476e"/>
    <p:sldLayoutId xmlns:r="http://schemas.openxmlformats.org/officeDocument/2006/relationships" id="2147483670" r:id="Rbad6aedcf689439b"/>
    <p:sldLayoutId xmlns:r="http://schemas.openxmlformats.org/officeDocument/2006/relationships" id="2147483671" r:id="R521418e5b186417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6c2ca6d5b1421d" /><Relationship Type="http://schemas.openxmlformats.org/officeDocument/2006/relationships/notesSlide" Target="/ppt/notesSlides/notesSlide1.xml" Id="R0fd3e37cfbd549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3e8e5d9b954db4" /><Relationship Type="http://schemas.openxmlformats.org/officeDocument/2006/relationships/image" Target="/ppt/media/image.png" Id="R065dedee068e4d56" /><Relationship Type="http://schemas.openxmlformats.org/officeDocument/2006/relationships/notesSlide" Target="/ppt/notesSlides/notesSlide2.xml" Id="R0e687a1f6a83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ac255438fa4adf" /><Relationship Type="http://schemas.openxmlformats.org/officeDocument/2006/relationships/notesSlide" Target="/ppt/notesSlides/notesSlide3.xml" Id="R19780c1d5251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3c63aee0984f75" /><Relationship Type="http://schemas.openxmlformats.org/officeDocument/2006/relationships/notesSlide" Target="/ppt/notesSlides/notesSlide4.xml" Id="Rfc98afb27df9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28fc14142a46af" /><Relationship Type="http://schemas.openxmlformats.org/officeDocument/2006/relationships/notesSlide" Target="/ppt/notesSlides/notesSlide5.xml" Id="R88a85255efa141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3">
            <a:extLst xmlns:a="http://schemas.openxmlformats.org/drawingml/2006/main">
              <a:ext uri="{FF2B5EF4-FFF2-40B4-BE49-F238E27FC236}">
                <a16:creationId xmlns:a16="http://schemas.microsoft.com/office/drawing/2014/main" id="{77E2C50F-6E02-4636-87FF-37AC430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5D2BFDE-C16A-4D73-BA08-9825ED17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Cloudflare’s outage: the story in brief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B623D27-7AC3-46EF-A267-5549E44D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5D49483-E475-406B-9765-A63DCF3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1 / 5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442B613-F19B-4CB2-9C4E-F02D7B1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JULY 2, 2019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31DD137-A1EB-4F0E-8B5E-4460333B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9FC"/>
                </a:solidFill>
              </a:defRPr>
            </a:defPPr>
            <a:lvl1pPr>
              <a:defRPr sz="1875" b="1">
                <a:solidFill>
                  <a:srgbClr val="F7F9FC"/>
                </a:solidFill>
              </a:defRPr>
            </a:lvl1pPr>
            <a:lvl2pPr>
              <a:defRPr sz="1875" b="1">
                <a:solidFill>
                  <a:srgbClr val="F7F9FC"/>
                </a:solidFill>
              </a:defRPr>
            </a:lvl2pPr>
            <a:lvl3pPr>
              <a:defRPr sz="1875" b="1">
                <a:solidFill>
                  <a:srgbClr val="F7F9FC"/>
                </a:solidFill>
              </a:defRPr>
            </a:lvl3pPr>
            <a:lvl4pPr>
              <a:defRPr sz="1875" b="1">
                <a:solidFill>
                  <a:srgbClr val="F7F9FC"/>
                </a:solidFill>
              </a:defRPr>
            </a:lvl4pPr>
            <a:lvl5pPr>
              <a:defRPr sz="1875" b="1">
                <a:solidFill>
                  <a:srgbClr val="F7F9FC"/>
                </a:solidFill>
              </a:defRPr>
            </a:lvl5pPr>
            <a:lvl6pPr>
              <a:defRPr sz="1875" b="1">
                <a:solidFill>
                  <a:srgbClr val="F7F9FC"/>
                </a:solidFill>
              </a:defRPr>
            </a:lvl6pPr>
            <a:lvl7pPr>
              <a:defRPr sz="1875" b="1">
                <a:solidFill>
                  <a:srgbClr val="F7F9FC"/>
                </a:solidFill>
              </a:defRPr>
            </a:lvl7pPr>
            <a:lvl8pPr>
              <a:defRPr sz="1875" b="1">
                <a:solidFill>
                  <a:srgbClr val="F7F9FC"/>
                </a:solidFill>
              </a:defRPr>
            </a:lvl8pPr>
            <a:lvl9pPr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What Cloudflare does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B3EEBBD-23F5-430E-B3A2-2045359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Websites use Cloudflare to load faster and filter harmful traffic. Because visitors pass through Cloudflare first, its failures can make those sites unreachable.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8BDDC90-A08A-41F8-99C0-52F4618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57325"/>
            <a:ext cx="3933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7F9FC"/>
                </a:solidFill>
              </a:defRPr>
            </a:defPPr>
            <a:lvl1pPr>
              <a:defRPr sz="1875" b="1">
                <a:solidFill>
                  <a:srgbClr val="F7F9FC"/>
                </a:solidFill>
              </a:defRPr>
            </a:lvl1pPr>
            <a:lvl2pPr>
              <a:defRPr sz="1875" b="1">
                <a:solidFill>
                  <a:srgbClr val="F7F9FC"/>
                </a:solidFill>
              </a:defRPr>
            </a:lvl2pPr>
            <a:lvl3pPr>
              <a:defRPr sz="1875" b="1">
                <a:solidFill>
                  <a:srgbClr val="F7F9FC"/>
                </a:solidFill>
              </a:defRPr>
            </a:lvl3pPr>
            <a:lvl4pPr>
              <a:defRPr sz="1875" b="1">
                <a:solidFill>
                  <a:srgbClr val="F7F9FC"/>
                </a:solidFill>
              </a:defRPr>
            </a:lvl4pPr>
            <a:lvl5pPr>
              <a:defRPr sz="1875" b="1">
                <a:solidFill>
                  <a:srgbClr val="F7F9FC"/>
                </a:solidFill>
              </a:defRPr>
            </a:lvl5pPr>
            <a:lvl6pPr>
              <a:defRPr sz="1875" b="1">
                <a:solidFill>
                  <a:srgbClr val="F7F9FC"/>
                </a:solidFill>
              </a:defRPr>
            </a:lvl6pPr>
            <a:lvl7pPr>
              <a:defRPr sz="1875" b="1">
                <a:solidFill>
                  <a:srgbClr val="F7F9FC"/>
                </a:solidFill>
              </a:defRPr>
            </a:lvl7pPr>
            <a:lvl8pPr>
              <a:defRPr sz="1875" b="1">
                <a:solidFill>
                  <a:srgbClr val="F7F9FC"/>
                </a:solidFill>
              </a:defRPr>
            </a:lvl8pPr>
            <a:lvl9pPr>
              <a:defRPr sz="1875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7F9FC"/>
                </a:solidFill>
              </a:defRPr>
            </a:pPr>
            <a:r>
              <a:rPr sz="1875" b="1">
                <a:solidFill>
                  <a:srgbClr val="F7F9FC"/>
                </a:solidFill>
              </a:rPr>
              <a:t>What happened that day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01AB1DA-46C2-45CB-9ABC-809D409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39338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A routine security update made Cloudflare’s servers too busy to serve visitors. People saw error pages instead of websites, even when those sites were healthy.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8DBECF8-6BCC-45EA-884D-CD8F8FB0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8086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DACBC"/>
                </a:solidFill>
              </a:defRPr>
            </a:defPPr>
            <a:lvl1pPr>
              <a:defRPr sz="1350" b="0">
                <a:solidFill>
                  <a:srgbClr val="9DACBC"/>
                </a:solidFill>
              </a:defRPr>
            </a:lvl1pPr>
            <a:lvl2pPr>
              <a:defRPr sz="1350" b="0">
                <a:solidFill>
                  <a:srgbClr val="9DACBC"/>
                </a:solidFill>
              </a:defRPr>
            </a:lvl2pPr>
            <a:lvl3pPr>
              <a:defRPr sz="1350" b="0">
                <a:solidFill>
                  <a:srgbClr val="9DACBC"/>
                </a:solidFill>
              </a:defRPr>
            </a:lvl3pPr>
            <a:lvl4pPr>
              <a:defRPr sz="1350" b="0">
                <a:solidFill>
                  <a:srgbClr val="9DACBC"/>
                </a:solidFill>
              </a:defRPr>
            </a:lvl4pPr>
            <a:lvl5pPr>
              <a:defRPr sz="1350" b="0">
                <a:solidFill>
                  <a:srgbClr val="9DACBC"/>
                </a:solidFill>
              </a:defRPr>
            </a:lvl5pPr>
            <a:lvl6pPr>
              <a:defRPr sz="1350" b="0">
                <a:solidFill>
                  <a:srgbClr val="9DACBC"/>
                </a:solidFill>
              </a:defRPr>
            </a:lvl6pPr>
            <a:lvl7pPr>
              <a:defRPr sz="1350" b="0">
                <a:solidFill>
                  <a:srgbClr val="9DACBC"/>
                </a:solidFill>
              </a:defRPr>
            </a:lvl7pPr>
            <a:lvl8pPr>
              <a:defRPr sz="1350" b="0">
                <a:solidFill>
                  <a:srgbClr val="9DACBC"/>
                </a:solidFill>
              </a:defRPr>
            </a:lvl8pPr>
            <a:lvl9pPr>
              <a:defRPr sz="135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DACBC"/>
                </a:solidFill>
              </a:defRPr>
            </a:pPr>
            <a:r>
              <a:rPr sz="1350" b="0">
                <a:solidFill>
                  <a:srgbClr val="9DACBC"/>
                </a:solidFill>
              </a:rPr>
              <a:t>Engineers disabled the faulty security checks, restored traffic, then tested and rolled back the rule.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B87B89F-C00B-41EB-9391-A8073D7E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9D94"/>
                </a:solidFill>
              </a:defRPr>
            </a:defPPr>
            <a:lvl1pPr>
              <a:defRPr sz="3450" b="1">
                <a:solidFill>
                  <a:srgbClr val="189D94"/>
                </a:solidFill>
              </a:defRPr>
            </a:lvl1pPr>
            <a:lvl2pPr>
              <a:defRPr sz="3450" b="1">
                <a:solidFill>
                  <a:srgbClr val="189D94"/>
                </a:solidFill>
              </a:defRPr>
            </a:lvl2pPr>
            <a:lvl3pPr>
              <a:defRPr sz="3450" b="1">
                <a:solidFill>
                  <a:srgbClr val="189D94"/>
                </a:solidFill>
              </a:defRPr>
            </a:lvl3pPr>
            <a:lvl4pPr>
              <a:defRPr sz="3450" b="1">
                <a:solidFill>
                  <a:srgbClr val="189D94"/>
                </a:solidFill>
              </a:defRPr>
            </a:lvl4pPr>
            <a:lvl5pPr>
              <a:defRPr sz="3450" b="1">
                <a:solidFill>
                  <a:srgbClr val="189D94"/>
                </a:solidFill>
              </a:defRPr>
            </a:lvl5pPr>
            <a:lvl6pPr>
              <a:defRPr sz="3450" b="1">
                <a:solidFill>
                  <a:srgbClr val="189D94"/>
                </a:solidFill>
              </a:defRPr>
            </a:lvl6pPr>
            <a:lvl7pPr>
              <a:defRPr sz="3450" b="1">
                <a:solidFill>
                  <a:srgbClr val="189D94"/>
                </a:solidFill>
              </a:defRPr>
            </a:lvl7pPr>
            <a:lvl8pPr>
              <a:defRPr sz="3450" b="1">
                <a:solidFill>
                  <a:srgbClr val="189D94"/>
                </a:solidFill>
              </a:defRPr>
            </a:lvl8pPr>
            <a:lvl9pPr>
              <a:defRPr sz="34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9D94"/>
                </a:solidFill>
              </a:defRPr>
            </a:pPr>
            <a:r>
              <a:rPr sz="3450" b="1">
                <a:solidFill>
                  <a:srgbClr val="189D94"/>
                </a:solidFill>
              </a:rPr>
              <a:t>27 min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6380F9B-C6E5-4B71-B561-7395176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service disruption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FA55639-6890-4D6D-8A44-175E25C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6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9D94"/>
                </a:solidFill>
              </a:defRPr>
            </a:defPPr>
            <a:lvl1pPr>
              <a:defRPr sz="3450" b="1">
                <a:solidFill>
                  <a:srgbClr val="189D94"/>
                </a:solidFill>
              </a:defRPr>
            </a:lvl1pPr>
            <a:lvl2pPr>
              <a:defRPr sz="3450" b="1">
                <a:solidFill>
                  <a:srgbClr val="189D94"/>
                </a:solidFill>
              </a:defRPr>
            </a:lvl2pPr>
            <a:lvl3pPr>
              <a:defRPr sz="3450" b="1">
                <a:solidFill>
                  <a:srgbClr val="189D94"/>
                </a:solidFill>
              </a:defRPr>
            </a:lvl3pPr>
            <a:lvl4pPr>
              <a:defRPr sz="3450" b="1">
                <a:solidFill>
                  <a:srgbClr val="189D94"/>
                </a:solidFill>
              </a:defRPr>
            </a:lvl4pPr>
            <a:lvl5pPr>
              <a:defRPr sz="3450" b="1">
                <a:solidFill>
                  <a:srgbClr val="189D94"/>
                </a:solidFill>
              </a:defRPr>
            </a:lvl5pPr>
            <a:lvl6pPr>
              <a:defRPr sz="3450" b="1">
                <a:solidFill>
                  <a:srgbClr val="189D94"/>
                </a:solidFill>
              </a:defRPr>
            </a:lvl6pPr>
            <a:lvl7pPr>
              <a:defRPr sz="3450" b="1">
                <a:solidFill>
                  <a:srgbClr val="189D94"/>
                </a:solidFill>
              </a:defRPr>
            </a:lvl7pPr>
            <a:lvl8pPr>
              <a:defRPr sz="3450" b="1">
                <a:solidFill>
                  <a:srgbClr val="189D94"/>
                </a:solidFill>
              </a:defRPr>
            </a:lvl8pPr>
            <a:lvl9pPr>
              <a:defRPr sz="34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9D94"/>
                </a:solidFill>
              </a:defRPr>
            </a:pPr>
            <a:r>
              <a:rPr sz="3450" b="1">
                <a:solidFill>
                  <a:srgbClr val="189D94"/>
                </a:solidFill>
              </a:rPr>
              <a:t>82%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AA44897-8DA2-487F-8B74-3CA62A5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worst traffic drop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E8726E1-E4A3-4CB0-9111-23F589D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9D94"/>
                </a:solidFill>
              </a:defRPr>
            </a:defPPr>
            <a:lvl1pPr>
              <a:defRPr sz="3450" b="1">
                <a:solidFill>
                  <a:srgbClr val="189D94"/>
                </a:solidFill>
              </a:defRPr>
            </a:lvl1pPr>
            <a:lvl2pPr>
              <a:defRPr sz="3450" b="1">
                <a:solidFill>
                  <a:srgbClr val="189D94"/>
                </a:solidFill>
              </a:defRPr>
            </a:lvl2pPr>
            <a:lvl3pPr>
              <a:defRPr sz="3450" b="1">
                <a:solidFill>
                  <a:srgbClr val="189D94"/>
                </a:solidFill>
              </a:defRPr>
            </a:lvl3pPr>
            <a:lvl4pPr>
              <a:defRPr sz="3450" b="1">
                <a:solidFill>
                  <a:srgbClr val="189D94"/>
                </a:solidFill>
              </a:defRPr>
            </a:lvl4pPr>
            <a:lvl5pPr>
              <a:defRPr sz="3450" b="1">
                <a:solidFill>
                  <a:srgbClr val="189D94"/>
                </a:solidFill>
              </a:defRPr>
            </a:lvl5pPr>
            <a:lvl6pPr>
              <a:defRPr sz="3450" b="1">
                <a:solidFill>
                  <a:srgbClr val="189D94"/>
                </a:solidFill>
              </a:defRPr>
            </a:lvl6pPr>
            <a:lvl7pPr>
              <a:defRPr sz="3450" b="1">
                <a:solidFill>
                  <a:srgbClr val="189D94"/>
                </a:solidFill>
              </a:defRPr>
            </a:lvl7pPr>
            <a:lvl8pPr>
              <a:defRPr sz="3450" b="1">
                <a:solidFill>
                  <a:srgbClr val="189D94"/>
                </a:solidFill>
              </a:defRPr>
            </a:lvl8pPr>
            <a:lvl9pPr>
              <a:defRPr sz="34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9D94"/>
                </a:solidFill>
              </a:defRPr>
            </a:pPr>
            <a:r>
              <a:rPr sz="3450" b="1">
                <a:solidFill>
                  <a:srgbClr val="189D94"/>
                </a:solidFill>
              </a:rPr>
              <a:t>100%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AD20ED3-4641-4017-B297-56B223E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server CPU usage</a:t>
            </a:r>
          </a:p>
        </p:txBody>
      </p:sp>
    </p:spTree>
    <p:extLst>
      <p:ext uri="{BB962C8B-B14F-4D97-AF65-F5344CB8AC3E}">
        <p14:creationId xmlns:p14="http://schemas.microsoft.com/office/powerpoint/2010/main" val="197856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F5B4E305-C797-456C-A975-A080BAE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17F60F8-81B8-4052-8B5E-E0AB114C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What it took to get websites working again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9274B6DB-A20A-491A-A38B-A1054EE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C7DD26D-AB28-4DD3-8B3C-29CAAC38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2 / 5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75A7AD1-27B3-4427-86A5-1417D1F3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9D94"/>
                </a:solidFill>
              </a:defRPr>
            </a:defPPr>
            <a:lvl1pPr>
              <a:defRPr sz="975" b="1">
                <a:solidFill>
                  <a:srgbClr val="189D94"/>
                </a:solidFill>
              </a:defRPr>
            </a:lvl1pPr>
            <a:lvl2pPr>
              <a:defRPr sz="975" b="1">
                <a:solidFill>
                  <a:srgbClr val="189D94"/>
                </a:solidFill>
              </a:defRPr>
            </a:lvl2pPr>
            <a:lvl3pPr>
              <a:defRPr sz="975" b="1">
                <a:solidFill>
                  <a:srgbClr val="189D94"/>
                </a:solidFill>
              </a:defRPr>
            </a:lvl3pPr>
            <a:lvl4pPr>
              <a:defRPr sz="975" b="1">
                <a:solidFill>
                  <a:srgbClr val="189D94"/>
                </a:solidFill>
              </a:defRPr>
            </a:lvl4pPr>
            <a:lvl5pPr>
              <a:defRPr sz="975" b="1">
                <a:solidFill>
                  <a:srgbClr val="189D94"/>
                </a:solidFill>
              </a:defRPr>
            </a:lvl5pPr>
            <a:lvl6pPr>
              <a:defRPr sz="975" b="1">
                <a:solidFill>
                  <a:srgbClr val="189D94"/>
                </a:solidFill>
              </a:defRPr>
            </a:lvl6pPr>
            <a:lvl7pPr>
              <a:defRPr sz="975" b="1">
                <a:solidFill>
                  <a:srgbClr val="189D94"/>
                </a:solidFill>
              </a:defRPr>
            </a:lvl7pPr>
            <a:lvl8pPr>
              <a:defRPr sz="975" b="1">
                <a:solidFill>
                  <a:srgbClr val="189D94"/>
                </a:solidFill>
              </a:defRPr>
            </a:lvl8pPr>
            <a:lvl9pPr>
              <a:defRPr sz="9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9D94"/>
                </a:solidFill>
              </a:defRPr>
            </a:pPr>
            <a:r>
              <a:rPr sz="975" b="1">
                <a:solidFill>
                  <a:srgbClr val="189D94"/>
                </a:solidFill>
              </a:rPr>
              <a:t>SERVERS RAN OUT OF PROCESSING CAPACITY</a:t>
            </a:r>
          </a:p>
        </p:txBody>
      </p:sp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545A571-56D7-4AC4-8FB8-AEC28FFC1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edee068e4d56"/>
          <a:stretch xmlns:a="http://schemas.openxmlformats.org/drawingml/2006/main"/>
        </p:blipFill>
        <p:spPr>
          <a:xfrm xmlns:a="http://schemas.openxmlformats.org/drawingml/2006/main">
            <a:off x="533400" y="1495644"/>
            <a:ext cx="5219700" cy="2142687"/>
          </a:xfrm>
          <a:prstGeom xmlns:a="http://schemas.openxmlformats.org/drawingml/2006/main" prst="rect">
            <a:avLst/>
          </a:prstGeom>
        </p:spPr>
      </p:pic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FF9E80A-98C9-4509-8AC5-70400DA4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CPU = processor usage. Original chart from Cloudflare’s report.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A8B4C00-FA0A-4C6A-A1CE-3E9F7153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Turning off the affected firewall checks let websites load again. Other security protections stayed active.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070188F-36B4-46D4-AA61-7D877F82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08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13:42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B8D4AB98-5849-41D8-A9E0-AD9631E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Rule deployed globally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980D1AC-2BDB-4D44-89F0-A93B575C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14:00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E629B73-4297-487F-8FAF-3CDD3DF1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Firewall identified as cause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0CEA7B9-9392-44A0-8631-8DA2D6E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14:07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C9417D5-41AD-45D0-A667-861AC1B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38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Firewall checks disabled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FD85688-A6CD-46E7-ADBE-49B62ADA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0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14:09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01E55D11-EBF7-44C3-B8DC-6A438B8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Websites load normally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4735C8A-A05B-40AE-B212-7EB6C18A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14:52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5D07803-5658-4EEA-B149-ADDFBF08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48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Firewall restored after tests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5642411-633E-42F2-9B70-3237452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958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All times UTC, July 2, 2019</a:t>
            </a:r>
          </a:p>
        </p:txBody>
      </p:sp>
    </p:spTree>
    <p:extLst>
      <p:ext uri="{BB962C8B-B14F-4D97-AF65-F5344CB8AC3E}">
        <p14:creationId xmlns:p14="http://schemas.microsoft.com/office/powerpoint/2010/main" val="1360811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34">
            <a:extLst xmlns:a="http://schemas.openxmlformats.org/drawingml/2006/main">
              <a:ext uri="{FF2B5EF4-FFF2-40B4-BE49-F238E27FC236}">
                <a16:creationId xmlns:a16="http://schemas.microsoft.com/office/drawing/2014/main" id="{8553E37F-1DAB-4829-97C2-4F50BEA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9551718-0AC5-4376-9DEE-174A4A8B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Inside the failure: one costly security rule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D22CC0B-028F-458D-9C1B-56DD168F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FE7453A-07F6-4489-9C19-3F8B2A2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3 / 5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7620A16-BA03-4319-A5B0-ED98CCF9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THE SIMPLIFIED PATTERN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B8C47AC-310F-470B-90BB-ACAC423C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89D94"/>
                </a:solidFill>
              </a:defRPr>
            </a:defPPr>
            <a:lvl1pPr>
              <a:defRPr sz="3750" b="1">
                <a:solidFill>
                  <a:srgbClr val="189D94"/>
                </a:solidFill>
              </a:defRPr>
            </a:lvl1pPr>
            <a:lvl2pPr>
              <a:defRPr sz="3750" b="1">
                <a:solidFill>
                  <a:srgbClr val="189D94"/>
                </a:solidFill>
              </a:defRPr>
            </a:lvl2pPr>
            <a:lvl3pPr>
              <a:defRPr sz="3750" b="1">
                <a:solidFill>
                  <a:srgbClr val="189D94"/>
                </a:solidFill>
              </a:defRPr>
            </a:lvl3pPr>
            <a:lvl4pPr>
              <a:defRPr sz="3750" b="1">
                <a:solidFill>
                  <a:srgbClr val="189D94"/>
                </a:solidFill>
              </a:defRPr>
            </a:lvl4pPr>
            <a:lvl5pPr>
              <a:defRPr sz="3750" b="1">
                <a:solidFill>
                  <a:srgbClr val="189D94"/>
                </a:solidFill>
              </a:defRPr>
            </a:lvl5pPr>
            <a:lvl6pPr>
              <a:defRPr sz="3750" b="1">
                <a:solidFill>
                  <a:srgbClr val="189D94"/>
                </a:solidFill>
              </a:defRPr>
            </a:lvl6pPr>
            <a:lvl7pPr>
              <a:defRPr sz="3750" b="1">
                <a:solidFill>
                  <a:srgbClr val="189D94"/>
                </a:solidFill>
              </a:defRPr>
            </a:lvl7pPr>
            <a:lvl8pPr>
              <a:defRPr sz="3750" b="1">
                <a:solidFill>
                  <a:srgbClr val="189D94"/>
                </a:solidFill>
              </a:defRPr>
            </a:lvl8pPr>
            <a:lvl9pPr>
              <a:defRPr sz="37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9D94"/>
                </a:solidFill>
              </a:defRPr>
            </a:pPr>
            <a:r>
              <a:rPr sz="3750" b="1">
                <a:solidFill>
                  <a:srgbClr val="189D94"/>
                </a:solidFill>
              </a:rPr>
              <a:t>.*.*=.*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A96D36C-A57C-4F06-9709-FDBBBAE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Each .* can match almost any amount of text. The overlapping sections create many possible ways to split the same input.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DB33A5B-480F-49FA-A0F8-53AEB16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DACBC"/>
                </a:solidFill>
              </a:defRPr>
            </a:defPPr>
            <a:lvl1pPr>
              <a:defRPr sz="1500" b="0">
                <a:solidFill>
                  <a:srgbClr val="9DACBC"/>
                </a:solidFill>
              </a:defRPr>
            </a:lvl1pPr>
            <a:lvl2pPr>
              <a:defRPr sz="1500" b="0">
                <a:solidFill>
                  <a:srgbClr val="9DACBC"/>
                </a:solidFill>
              </a:defRPr>
            </a:lvl2pPr>
            <a:lvl3pPr>
              <a:defRPr sz="1500" b="0">
                <a:solidFill>
                  <a:srgbClr val="9DACBC"/>
                </a:solidFill>
              </a:defRPr>
            </a:lvl3pPr>
            <a:lvl4pPr>
              <a:defRPr sz="1500" b="0">
                <a:solidFill>
                  <a:srgbClr val="9DACBC"/>
                </a:solidFill>
              </a:defRPr>
            </a:lvl4pPr>
            <a:lvl5pPr>
              <a:defRPr sz="1500" b="0">
                <a:solidFill>
                  <a:srgbClr val="9DACBC"/>
                </a:solidFill>
              </a:defRPr>
            </a:lvl5pPr>
            <a:lvl6pPr>
              <a:defRPr sz="1500" b="0">
                <a:solidFill>
                  <a:srgbClr val="9DACBC"/>
                </a:solidFill>
              </a:defRPr>
            </a:lvl6pPr>
            <a:lvl7pPr>
              <a:defRPr sz="1500" b="0">
                <a:solidFill>
                  <a:srgbClr val="9DACBC"/>
                </a:solidFill>
              </a:defRPr>
            </a:lvl7pPr>
            <a:lvl8pPr>
              <a:defRPr sz="1500" b="0">
                <a:solidFill>
                  <a:srgbClr val="9DACBC"/>
                </a:solidFill>
              </a:defRPr>
            </a:lvl8pPr>
            <a:lvl9pPr>
              <a:defRPr sz="15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DACBC"/>
                </a:solidFill>
              </a:defRPr>
            </a:pPr>
            <a:r>
              <a:rPr sz="1500" b="0">
                <a:solidFill>
                  <a:srgbClr val="9DACBC"/>
                </a:solidFill>
              </a:rPr>
              <a:t>A regex is a pattern for searching text.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0D32BF0-D971-41AC-82F0-A44E8BC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334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01  Inspect the request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07BA374-B0A6-402B-B25F-40A82BF2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web application firewall (WAF) ran this rule to detect malicious JavaScript.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53E9002-334D-4B91-9829-11158E4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02  Retry possible matches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DE57E651-0416-4B3E-A561-060B844C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Backtracking tries alternative matches. Too many retries use up processing time.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9580988-57C3-4292-B0F0-A1B10585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718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03  Crowd out normal work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317A699-2C4D-4F51-8A56-0DE3A07F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check consumed CPU that servers needed to respond to visitors.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8733867-EB9E-48E3-9C46-B9FCE7EB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DACBC"/>
                </a:solidFill>
              </a:defRPr>
            </a:defPPr>
            <a:lvl1pPr>
              <a:defRPr sz="1350" b="0">
                <a:solidFill>
                  <a:srgbClr val="9DACBC"/>
                </a:solidFill>
              </a:defRPr>
            </a:lvl1pPr>
            <a:lvl2pPr>
              <a:defRPr sz="1350" b="0">
                <a:solidFill>
                  <a:srgbClr val="9DACBC"/>
                </a:solidFill>
              </a:defRPr>
            </a:lvl2pPr>
            <a:lvl3pPr>
              <a:defRPr sz="1350" b="0">
                <a:solidFill>
                  <a:srgbClr val="9DACBC"/>
                </a:solidFill>
              </a:defRPr>
            </a:lvl3pPr>
            <a:lvl4pPr>
              <a:defRPr sz="1350" b="0">
                <a:solidFill>
                  <a:srgbClr val="9DACBC"/>
                </a:solidFill>
              </a:defRPr>
            </a:lvl4pPr>
            <a:lvl5pPr>
              <a:defRPr sz="1350" b="0">
                <a:solidFill>
                  <a:srgbClr val="9DACBC"/>
                </a:solidFill>
              </a:defRPr>
            </a:lvl5pPr>
            <a:lvl6pPr>
              <a:defRPr sz="1350" b="0">
                <a:solidFill>
                  <a:srgbClr val="9DACBC"/>
                </a:solidFill>
              </a:defRPr>
            </a:lvl6pPr>
            <a:lvl7pPr>
              <a:defRPr sz="1350" b="0">
                <a:solidFill>
                  <a:srgbClr val="9DACBC"/>
                </a:solidFill>
              </a:defRPr>
            </a:lvl7pPr>
            <a:lvl8pPr>
              <a:defRPr sz="1350" b="0">
                <a:solidFill>
                  <a:srgbClr val="9DACBC"/>
                </a:solidFill>
              </a:defRPr>
            </a:lvl8pPr>
            <a:lvl9pPr>
              <a:defRPr sz="135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DACBC"/>
                </a:solidFill>
              </a:defRPr>
            </a:pPr>
            <a:r>
              <a:rPr sz="1350" b="0">
                <a:solidFill>
                  <a:srgbClr val="9DACBC"/>
                </a:solidFill>
              </a:rPr>
              <a:t>“Simulate” mode still runs the check. It only prevents the rule from blocking visitors.</a:t>
            </a:r>
          </a:p>
        </p:txBody>
      </p:sp>
    </p:spTree>
    <p:extLst>
      <p:ext uri="{BB962C8B-B14F-4D97-AF65-F5344CB8AC3E}">
        <p14:creationId xmlns:p14="http://schemas.microsoft.com/office/powerpoint/2010/main" val="1879359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67E3D8E2-56CD-488A-AE46-97FE511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7EC0CF1-F456-4936-A978-F4357A2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Why one rule became a global failure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F0370509-B868-4CFF-8146-745BE8D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9EC915C-CA34-4A6B-81E7-DE233942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4 / 5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F219661-1540-416C-841C-459B2796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01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5E7DC88-FF6B-4F38-B95D-3D13F88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620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CPU protection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DAE9D29-F2A9-4247-8E83-565FD3A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430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An earlier performance refactor accidentally removed a safeguard against costly regex processing.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C16A184-58EB-4697-AB64-15356E2B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02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D3761AD-A099-4C20-B5A3-4DA404E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Performance tests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50DD23C-00B6-4B19-A265-61EA667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Tests checked allow/block decisions, but did not catch runaway CPU use. Correct answers were not enough.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4C03F75-30D2-4473-ABAD-4CCED8B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03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50E13F9D-2492-461B-8C3C-0B188A4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384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A limited rollout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F84FC00-965A-4307-8B19-CE7617FB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rule reached the world without a small trial first. One defect affected many locations together.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CF3E2C2-D0B0-4413-B839-28D202C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04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BF445874-E66D-4B20-B120-3E7F98E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Independent recovery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2873CCF-0604-46EB-AC5A-9B470E9A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outage also blocked internal tools, making emergency access and recovery harder.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B44384F-3A9B-425A-9AA6-1E0B066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DACBC"/>
                </a:solidFill>
              </a:defRPr>
            </a:defPPr>
            <a:lvl1pPr>
              <a:defRPr sz="1200" b="0">
                <a:solidFill>
                  <a:srgbClr val="9DACBC"/>
                </a:solidFill>
              </a:defRPr>
            </a:lvl1pPr>
            <a:lvl2pPr>
              <a:defRPr sz="1200" b="0">
                <a:solidFill>
                  <a:srgbClr val="9DACBC"/>
                </a:solidFill>
              </a:defRPr>
            </a:lvl2pPr>
            <a:lvl3pPr>
              <a:defRPr sz="1200" b="0">
                <a:solidFill>
                  <a:srgbClr val="9DACBC"/>
                </a:solidFill>
              </a:defRPr>
            </a:lvl3pPr>
            <a:lvl4pPr>
              <a:defRPr sz="1200" b="0">
                <a:solidFill>
                  <a:srgbClr val="9DACBC"/>
                </a:solidFill>
              </a:defRPr>
            </a:lvl4pPr>
            <a:lvl5pPr>
              <a:defRPr sz="1200" b="0">
                <a:solidFill>
                  <a:srgbClr val="9DACBC"/>
                </a:solidFill>
              </a:defRPr>
            </a:lvl5pPr>
            <a:lvl6pPr>
              <a:defRPr sz="1200" b="0">
                <a:solidFill>
                  <a:srgbClr val="9DACBC"/>
                </a:solidFill>
              </a:defRPr>
            </a:lvl6pPr>
            <a:lvl7pPr>
              <a:defRPr sz="1200" b="0">
                <a:solidFill>
                  <a:srgbClr val="9DACBC"/>
                </a:solidFill>
              </a:defRPr>
            </a:lvl7pPr>
            <a:lvl8pPr>
              <a:defRPr sz="1200" b="0">
                <a:solidFill>
                  <a:srgbClr val="9DACBC"/>
                </a:solidFill>
              </a:defRPr>
            </a:lvl8pPr>
            <a:lvl9pPr>
              <a:defRPr sz="12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DACBC"/>
                </a:solidFill>
              </a:defRPr>
            </a:pPr>
            <a:r>
              <a:rPr sz="1200" b="0">
                <a:solidFill>
                  <a:srgbClr val="9DACBC"/>
                </a:solidFill>
              </a:rPr>
              <a:t>The rule triggered the incident. Existing weaknesses made it global and harder to stop.</a:t>
            </a:r>
          </a:p>
        </p:txBody>
      </p:sp>
    </p:spTree>
    <p:extLst>
      <p:ext uri="{BB962C8B-B14F-4D97-AF65-F5344CB8AC3E}">
        <p14:creationId xmlns:p14="http://schemas.microsoft.com/office/powerpoint/2010/main" val="237804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Google Shape;296;p37">
            <a:extLst xmlns:a="http://schemas.openxmlformats.org/drawingml/2006/main">
              <a:ext uri="{FF2B5EF4-FFF2-40B4-BE49-F238E27FC236}">
                <a16:creationId xmlns:a16="http://schemas.microsoft.com/office/drawing/2014/main" id="{A3D8C215-FBFF-485C-8EB1-8122445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199202E-F63B-4C62-83D6-333F35D7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Fixes and lessons for safer maintenance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3059BCC-6A0A-4312-97A7-2A931423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B913E56-72EA-4A17-B3C4-463628EA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5 / 5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2F7437B4-EA18-4F1D-ACA4-4A24E2BA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COMPLETED BY JULY 12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6A7141BD-E6B5-4B4F-9942-6A7672F9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Restored CPU protection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CF465D3-97F4-4850-94DD-684E80A6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3714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Reintroduced the safeguard and inspected all 3,868 managed rules for similar problems.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B2FE09B-7955-4050-9F55-501FBB65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23950"/>
            <a:ext cx="3933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ANNOUNCED NEXT STEPS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FFBA9AC0-147C-4298-BFDF-F5F29F4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52575"/>
            <a:ext cx="3933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Test cost, then limit exposure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8D802C6-D08C-461E-B36F-06236E06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9775"/>
            <a:ext cx="393382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Profile CPU use, roll rules out in stages, and move to RE2 or Rust regex with runtime guarantees.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D41412A-AA37-42CC-8CB3-194CE8F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9D94"/>
                </a:solidFill>
              </a:defRPr>
            </a:defPPr>
            <a:lvl1pPr>
              <a:defRPr sz="1800" b="1">
                <a:solidFill>
                  <a:srgbClr val="189D94"/>
                </a:solidFill>
              </a:defRPr>
            </a:lvl1pPr>
            <a:lvl2pPr>
              <a:defRPr sz="1800" b="1">
                <a:solidFill>
                  <a:srgbClr val="189D94"/>
                </a:solidFill>
              </a:defRPr>
            </a:lvl2pPr>
            <a:lvl3pPr>
              <a:defRPr sz="1800" b="1">
                <a:solidFill>
                  <a:srgbClr val="189D94"/>
                </a:solidFill>
              </a:defRPr>
            </a:lvl3pPr>
            <a:lvl4pPr>
              <a:defRPr sz="1800" b="1">
                <a:solidFill>
                  <a:srgbClr val="189D94"/>
                </a:solidFill>
              </a:defRPr>
            </a:lvl4pPr>
            <a:lvl5pPr>
              <a:defRPr sz="1800" b="1">
                <a:solidFill>
                  <a:srgbClr val="189D94"/>
                </a:solidFill>
              </a:defRPr>
            </a:lvl5pPr>
            <a:lvl6pPr>
              <a:defRPr sz="1800" b="1">
                <a:solidFill>
                  <a:srgbClr val="189D94"/>
                </a:solidFill>
              </a:defRPr>
            </a:lvl6pPr>
            <a:lvl7pPr>
              <a:defRPr sz="1800" b="1">
                <a:solidFill>
                  <a:srgbClr val="189D94"/>
                </a:solidFill>
              </a:defRPr>
            </a:lvl7pPr>
            <a:lvl8pPr>
              <a:defRPr sz="1800" b="1">
                <a:solidFill>
                  <a:srgbClr val="189D94"/>
                </a:solidFill>
              </a:defRPr>
            </a:lvl8pPr>
            <a:lvl9pPr>
              <a:defRPr sz="180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9D94"/>
                </a:solidFill>
              </a:defRPr>
            </a:pPr>
            <a:r>
              <a:rPr sz="1800" b="1">
                <a:solidFill>
                  <a:srgbClr val="189D94"/>
                </a:solidFill>
              </a:rPr>
              <a:t>Technical debt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58E1CC69-1A9F-429D-92DF-C39446E8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3714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Shortcuts in testing and deployment can become future outage costs.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F42D350-E343-408F-AE61-A7D760D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1375"/>
            <a:ext cx="3933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9D94"/>
                </a:solidFill>
              </a:defRPr>
            </a:defPPr>
            <a:lvl1pPr>
              <a:defRPr sz="1800" b="1">
                <a:solidFill>
                  <a:srgbClr val="189D94"/>
                </a:solidFill>
              </a:defRPr>
            </a:lvl1pPr>
            <a:lvl2pPr>
              <a:defRPr sz="1800" b="1">
                <a:solidFill>
                  <a:srgbClr val="189D94"/>
                </a:solidFill>
              </a:defRPr>
            </a:lvl2pPr>
            <a:lvl3pPr>
              <a:defRPr sz="1800" b="1">
                <a:solidFill>
                  <a:srgbClr val="189D94"/>
                </a:solidFill>
              </a:defRPr>
            </a:lvl3pPr>
            <a:lvl4pPr>
              <a:defRPr sz="1800" b="1">
                <a:solidFill>
                  <a:srgbClr val="189D94"/>
                </a:solidFill>
              </a:defRPr>
            </a:lvl4pPr>
            <a:lvl5pPr>
              <a:defRPr sz="1800" b="1">
                <a:solidFill>
                  <a:srgbClr val="189D94"/>
                </a:solidFill>
              </a:defRPr>
            </a:lvl5pPr>
            <a:lvl6pPr>
              <a:defRPr sz="1800" b="1">
                <a:solidFill>
                  <a:srgbClr val="189D94"/>
                </a:solidFill>
              </a:defRPr>
            </a:lvl6pPr>
            <a:lvl7pPr>
              <a:defRPr sz="1800" b="1">
                <a:solidFill>
                  <a:srgbClr val="189D94"/>
                </a:solidFill>
              </a:defRPr>
            </a:lvl7pPr>
            <a:lvl8pPr>
              <a:defRPr sz="1800" b="1">
                <a:solidFill>
                  <a:srgbClr val="189D94"/>
                </a:solidFill>
              </a:defRPr>
            </a:lvl8pPr>
            <a:lvl9pPr>
              <a:defRPr sz="180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9D94"/>
                </a:solidFill>
              </a:defRPr>
            </a:pPr>
            <a:r>
              <a:rPr sz="1800" b="1">
                <a:solidFill>
                  <a:srgbClr val="189D94"/>
                </a:solidFill>
              </a:rPr>
              <a:t>Refactoring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C7C5F44-2120-4534-909C-7579D17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39338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Preserve safety limits as well as feature behavior. Test resource use under load.</a:t>
            </a:r>
          </a:p>
        </p:txBody>
      </p:sp>
    </p:spTree>
    <p:extLst>
      <p:ext uri="{BB962C8B-B14F-4D97-AF65-F5344CB8AC3E}">
        <p14:creationId xmlns:p14="http://schemas.microsoft.com/office/powerpoint/2010/main" val="52728819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2026-10-27T17:47:23.1650000Z</dcterms:created>
  <dcterms:modified xsi:type="dcterms:W3CDTF">2026-10-27T17:47:23.1650000Z</dcterms:modified>
</coreProperties>
</file>