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49" d="100"/>
          <a:sy n="149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setup as an intermediary: a visitor’s request passes through Cloudflare before reaching the site. A 502 error means that intermediary could not obtain the response it needed. The 82% figure describes Cloudflare’s traffic drop, not 82% of the Internet.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everyday example: a visitor may be unable to open a store or complete an online task. This is an illustration of availability impact, not a measured financial-loss claim.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Cloudflare sits between visitors and websites. Its servers deliver content and screen requests before they reach a website’s own server.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 July 2, a firewall rule update overloaded servers worldwide. Visitors saw “502 Bad Gateway” errors instead of web pages.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outage lasted 27 minutes. CPU usage reached 100%, and Cloudflare’s traffic fell 82% at its worst.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it mattered: one shared provider’s failure interrupted many customers at once, even when their own websites were otherwise healthy.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Cloudflare, A Tour Inside Cloudflare’s G9 Servers (October 10, 2018). https://blog.cloudflare.com/a-tour-inside-cloudflares-g9-servers/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asset: https://blog.cloudflare.com/_emdash/api/media/file/01KW46RPEYCEAKMS3YKZM20Z6N.png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pattern aloud as: any text, followed by any text, followed by an equals sign, then any text. This is a simplified fragment, not the complete deployed expression.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example: when a candidate input lacks an equals sign, a backtracking matcher can repeatedly redistribute characters between the wildcard sections before deciding there is no match. A check can be logically correct yet too expensive to run on every request. Avoid calling this an infinite loop: the problem is excessive repeated work.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web application firewall (WAF) checks requests for suspicious content. This update targeted malicious JavaScript.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regular expression, or regex, is a text-search pattern. The simplified fragment .*.*=.* contains overlapping “match anything” sections.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Backtracking means retrying different ways to match the same text. Here, the repeated work consumed the CPU needed to serve requests.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“Simulate” mode only stopped the rule from blocking visitors. It still ran the expensive check on real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analysis: several defenses failed together. A useful test plan asks both “Does this rule classify traffic correctly?” and “Can we afford to execute it under load?”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rollout exposes a small traffic sample first. Teams watch errors and CPU before expanding it. That limits how many customers encounter an undetected defect.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debt connection is the accumulated risk in testing, deployment, and recovery procedures. The new regex triggered the incident, while existing weaknesses increased its severity.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Earlier refactoring accidentally removed a CPU safeguard. The effort to improve performance weakened a protection against costly rules.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Tests checked which requests to allow or block. They did not catch runaway CPU use, so passing tests gave incomplete reassurance.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rollout sent the rule worldwide without a limited trial. A local defect therefore became a global availability problem.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Recovery also depended on affected systems. Engineers struggled to access internal tools, making an emergency change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refer to July 2, 2019, in UTC. A rollback restores an earlier configuration or version. Disabling the affected component first removes the immediate load, giving the team room to investigate.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the two recovery milestones explicit: people could access websites again at 14:09, but the WAF returned at 14:52. Traffic recovery therefore does not mean every protection was already back. The detailed postmortem gives the 14:07 termination time and 14:00 diagnosis.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13:42 UTC: the rule goes live. By 14:00, engineers identify the WAF as the source of CPU exhaustion.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14:07 UTC: they disable the WAF globally. By 14:09, CPU usage and traffic return to normal.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They roll back the faulty rule and test the fix. At 14:52 UTC, they restore the WAF worldwide.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tradeoff: websites recover before WAF inspection returns. Other security protections remain active during that interval.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original CPU chart, Cloudflare engineering postmortem. https://blog.cloudflare.com/_emdash/api/media/file/01KW44G5FHMGT7B6C2NGNFWVW7.png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chart shows one location, not a separately measured global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bullet describes work reported complete. The following actions were announced in the July 12 postmortem, so this slide does not claim they had all shipped by that date.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RE2 explanation: for a fixed pattern, work scales proportionally with input length instead of exploding through repeated retries. This does not mean every expression takes the same time. RE2 also restricts syntax: features such as backreferences and look-around are unsupported. A migration therefore needs compatibility tests.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https://github.com/google/re2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Completed by July 12: restored the CPU safeguard and inspected all 3,868 managed rules for similar problems.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testing: profile each rule’s performance. That means measuring its processing cost, beyond whether it gives the right answer.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rollout: release rules in stages. Planned engine change: use RE2 or Rust regex with runtime guarantees.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the engine matters: RE2 bounds matching time linearly in input length for a fixed pattern, avoiding unbounded backtracking.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presentation’s conclusions from the case. Corrective maintenance addresses an existing defect. Preventive maintenance reduces the likelihood of future failures.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changes a program’s internal structure while preserving external behavior. The case shows why a team must identify the protections that need to survive a code change. A proposed regression test could run difficult inputs and fail when a rule exceeds an agreed processing budget. This is a recommendation, not a claim about Cloudflare’s exact implementation.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question: If a change returns the same answers but makes the service unavailable under load, has it preserved the behavior users need?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source: https://refactoring.com/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evidence: https://blog.cloudflare.com/details-of-the-cloudflare-outage-on-july-2-2019/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Maintenance includes keeping changes safe. Fixing the broken rule restores service, while stronger tests help prevent another failure.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debt can live in processes too. Saving time on rollout or testing can create larger debugging and outage costs later.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should preserve behavior. Teams also need regression tests for safety limits that ordinary feature tests may miss.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takeaway: test correctness and resource use, expand releases gradually, and rehearse recovery when normal tools are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1DBF76A6-E7D2-471D-B830-32429652E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E5A822B7-ECC4-4B1E-A898-FBDD79766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C0D249F6-92AF-4248-A4EF-203EA1122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0CF78C72-9B57-4D6E-B176-B199B80F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02D4A4CB-5C1F-4DB5-AFFF-63B0F5E1DE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BC4DEEFE-F3C1-4E2B-8DFF-5A7262038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51F2D044-A6A1-4FD7-AAC5-35464A6C4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3C219DB9-D6F3-4F19-AE9F-BC7FEC9F78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7C351D77-650D-4C35-BAB4-87F6042C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577321CC-D77F-4756-8190-C73A397EF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886B9A7D-7F51-4659-AC7A-DB03DAC1D8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8BDF4B95-3A2D-46E2-B0C9-497D1B6FE4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8D15B4F0-2F8C-4FDF-8A75-C78C0CB6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D316778-65A9-4276-9371-442A12D887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54F75451-516A-48D3-B611-98DD27A1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B21F1E27-CCAF-4BD4-AD23-D3EB5151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BF5F9220-160D-45E5-A1DE-F50753520CB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9C3C1CEB-15D9-40A8-B6E2-5DF40449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0A5E59FF-99F7-42DB-8D11-870BF0B373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9FD25FC-8B8F-41D3-A558-C7AE1D580083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37FAD47B-205E-42B3-AAC7-39F652F1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1765499E-59CE-49F4-BC16-5A4A28602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085CC6B3-85BF-4E68-9055-D2FEDF149B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DC3153D5-3CD3-475C-B048-C55CC6CBC9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B1CA9F07-74FA-4B46-A28A-AFB881310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FE65C115-9003-41EC-92BA-3D9E1EBB81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28C2E02A-7FCD-4805-9EEA-99E10A97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09DA680B-21CA-4345-B216-C76042BAF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D1D66801-7DAF-4EF3-AD86-D017E7876C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D1554BA4-7261-4683-8020-C57E6A1FD5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43145B99-D6CF-498D-899E-3D68550B74F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>
            <a:extLst>
              <a:ext uri="{FF2B5EF4-FFF2-40B4-BE49-F238E27FC236}">
                <a16:creationId xmlns:a16="http://schemas.microsoft.com/office/drawing/2014/main" id="{1967EECE-ED64-465F-8A12-324B2CA21FD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DD12850B-30AD-4A2A-AEB7-8F641AD2F4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08DB5432-B0B4-4B00-BB52-BC5275C6D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B9CBC5D6-B22F-4715-8398-4BDD2CB32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31826811-9344-412B-9F53-529AAF345AA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5516ECAF-2EF6-46EF-B5C6-21D535A2CA4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>
            <a:extLst>
              <a:ext uri="{FF2B5EF4-FFF2-40B4-BE49-F238E27FC236}">
                <a16:creationId xmlns:a16="http://schemas.microsoft.com/office/drawing/2014/main" id="{B1678455-3D97-43A1-B0F0-C804D57E5A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A83B252E-2AE6-41DF-AA77-4C2CC36F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6D0AA315-7A00-4C09-A9D0-FB5500160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3075F3F2-3883-412C-9881-25820CE1507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4568A37F-A757-4223-B052-7EAB143352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FCCA3380-B471-4ADA-8899-7BEE733F25F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F7AFA3AE-B225-4E96-9C80-3D334F97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2AD6477-B245-464B-92EE-D55653B5D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9E3BA603-D8D2-4DD4-9518-91C715BBCA3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7B2F198C-F4B0-4BE7-82E7-86A5E025479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9984B88A-8543-4167-BAF7-0FAC1A84BC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84F360A3-4E43-4DF4-BEB1-3B200D48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27E3E39E-8C4A-4D32-A0D9-70890466C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50636CCF-E785-40B8-BECA-22B8795766B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8206F119-D792-4E9A-99AE-E122FFC3B58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46802ACF-571C-4DD8-BD95-DDB41F07289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>
            <a:extLst>
              <a:ext uri="{FF2B5EF4-FFF2-40B4-BE49-F238E27FC236}">
                <a16:creationId xmlns:a16="http://schemas.microsoft.com/office/drawing/2014/main" id="{1AFD0D8B-284A-4D31-804A-4FFD78B542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>
            <a:extLst>
              <a:ext uri="{FF2B5EF4-FFF2-40B4-BE49-F238E27FC236}">
                <a16:creationId xmlns:a16="http://schemas.microsoft.com/office/drawing/2014/main" id="{1F91341F-BBDC-4587-A0A9-FA7C1FAA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>
            <a:extLst>
              <a:ext uri="{FF2B5EF4-FFF2-40B4-BE49-F238E27FC236}">
                <a16:creationId xmlns:a16="http://schemas.microsoft.com/office/drawing/2014/main" id="{444CDE19-26A4-40CA-8864-3B9D6BF5A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>
            <a:extLst>
              <a:ext uri="{FF2B5EF4-FFF2-40B4-BE49-F238E27FC236}">
                <a16:creationId xmlns:a16="http://schemas.microsoft.com/office/drawing/2014/main" id="{7725B640-C6CB-4E7A-BDBF-396F05DDFD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9" name="Google Shape;89;p19">
            <a:extLst>
              <a:ext uri="{FF2B5EF4-FFF2-40B4-BE49-F238E27FC236}">
                <a16:creationId xmlns:a16="http://schemas.microsoft.com/office/drawing/2014/main" id="{18DF8F34-830D-4033-8C92-1B243233B87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>
            <a:extLst>
              <a:ext uri="{FF2B5EF4-FFF2-40B4-BE49-F238E27FC236}">
                <a16:creationId xmlns:a16="http://schemas.microsoft.com/office/drawing/2014/main" id="{6E8CC8CC-801B-4793-9F90-1D4DE0CA33F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1" name="Google Shape;91;p19">
            <a:extLst>
              <a:ext uri="{FF2B5EF4-FFF2-40B4-BE49-F238E27FC236}">
                <a16:creationId xmlns:a16="http://schemas.microsoft.com/office/drawing/2014/main" id="{50BC3EBA-33D7-45DD-A199-D714C8FD411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>
            <a:extLst>
              <a:ext uri="{FF2B5EF4-FFF2-40B4-BE49-F238E27FC236}">
                <a16:creationId xmlns:a16="http://schemas.microsoft.com/office/drawing/2014/main" id="{111C725B-9BDC-4E5B-8D0A-5000A64F547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F67A45EB-8A33-45A8-AD31-7CA0980987D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>
            <a:extLst>
              <a:ext uri="{FF2B5EF4-FFF2-40B4-BE49-F238E27FC236}">
                <a16:creationId xmlns:a16="http://schemas.microsoft.com/office/drawing/2014/main" id="{DD8A6062-DBF1-479D-A36A-E5AD2FBC6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>
            <a:extLst>
              <a:ext uri="{FF2B5EF4-FFF2-40B4-BE49-F238E27FC236}">
                <a16:creationId xmlns:a16="http://schemas.microsoft.com/office/drawing/2014/main" id="{4D2095A2-8F8A-4302-AD86-488EE96C559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82662BB3-8881-47D2-AE09-F090E868AA7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3EE596EC-DF93-4C93-8E3B-BADD0339CA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>
            <a:extLst>
              <a:ext uri="{FF2B5EF4-FFF2-40B4-BE49-F238E27FC236}">
                <a16:creationId xmlns:a16="http://schemas.microsoft.com/office/drawing/2014/main" id="{2E75F723-EA7F-4F3B-BB02-7D3660B7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>
            <a:extLst>
              <a:ext uri="{FF2B5EF4-FFF2-40B4-BE49-F238E27FC236}">
                <a16:creationId xmlns:a16="http://schemas.microsoft.com/office/drawing/2014/main" id="{89430275-861B-432F-84FF-4F1C5986A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>
            <a:extLst>
              <a:ext uri="{FF2B5EF4-FFF2-40B4-BE49-F238E27FC236}">
                <a16:creationId xmlns:a16="http://schemas.microsoft.com/office/drawing/2014/main" id="{91E06565-2718-4A60-A6A1-A6CDE49920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369EDA4B-08CA-4FA8-B171-F4996BF93AB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B29CECB4-33CC-4776-8131-00D3C9BBC6C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72913679-7AA5-46FA-9830-F9F8B35DB6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>
            <a:extLst>
              <a:ext uri="{FF2B5EF4-FFF2-40B4-BE49-F238E27FC236}">
                <a16:creationId xmlns:a16="http://schemas.microsoft.com/office/drawing/2014/main" id="{C6E77CFC-27D5-4253-86A7-73CF776B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>
            <a:extLst>
              <a:ext uri="{FF2B5EF4-FFF2-40B4-BE49-F238E27FC236}">
                <a16:creationId xmlns:a16="http://schemas.microsoft.com/office/drawing/2014/main" id="{FCDC3D89-F335-49D8-ABD9-7B9264B0D22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>
            <a:extLst>
              <a:ext uri="{FF2B5EF4-FFF2-40B4-BE49-F238E27FC236}">
                <a16:creationId xmlns:a16="http://schemas.microsoft.com/office/drawing/2014/main" id="{F674F3FB-592A-4E67-9D07-AD32DB515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0" name="Google Shape;110;p22">
            <a:extLst>
              <a:ext uri="{FF2B5EF4-FFF2-40B4-BE49-F238E27FC236}">
                <a16:creationId xmlns:a16="http://schemas.microsoft.com/office/drawing/2014/main" id="{4DC1E15F-6059-4DB5-A571-41D88635B43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>
            <a:extLst>
              <a:ext uri="{FF2B5EF4-FFF2-40B4-BE49-F238E27FC236}">
                <a16:creationId xmlns:a16="http://schemas.microsoft.com/office/drawing/2014/main" id="{2E774CB5-0221-4061-A7D1-EC71E59C78E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>
            <a:extLst>
              <a:ext uri="{FF2B5EF4-FFF2-40B4-BE49-F238E27FC236}">
                <a16:creationId xmlns:a16="http://schemas.microsoft.com/office/drawing/2014/main" id="{C8D50C75-1AB6-4A6A-B3EF-FCBC4AA537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>
            <a:extLst>
              <a:ext uri="{FF2B5EF4-FFF2-40B4-BE49-F238E27FC236}">
                <a16:creationId xmlns:a16="http://schemas.microsoft.com/office/drawing/2014/main" id="{EB89D84C-685B-45DE-B178-533F6400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>
            <a:extLst>
              <a:ext uri="{FF2B5EF4-FFF2-40B4-BE49-F238E27FC236}">
                <a16:creationId xmlns:a16="http://schemas.microsoft.com/office/drawing/2014/main" id="{A3BDB942-8FF8-4FB8-A4AE-4AF5084D8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>
            <a:extLst>
              <a:ext uri="{FF2B5EF4-FFF2-40B4-BE49-F238E27FC236}">
                <a16:creationId xmlns:a16="http://schemas.microsoft.com/office/drawing/2014/main" id="{C53E58B4-D9BD-49E7-BA07-5D36DF1267E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>
            <a:extLst>
              <a:ext uri="{FF2B5EF4-FFF2-40B4-BE49-F238E27FC236}">
                <a16:creationId xmlns:a16="http://schemas.microsoft.com/office/drawing/2014/main" id="{7C1CE093-86DF-452D-BC36-A908017B113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>
            <a:extLst>
              <a:ext uri="{FF2B5EF4-FFF2-40B4-BE49-F238E27FC236}">
                <a16:creationId xmlns:a16="http://schemas.microsoft.com/office/drawing/2014/main" id="{FC8462B7-6771-4776-85B1-E73D14411E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>
            <a:extLst>
              <a:ext uri="{FF2B5EF4-FFF2-40B4-BE49-F238E27FC236}">
                <a16:creationId xmlns:a16="http://schemas.microsoft.com/office/drawing/2014/main" id="{C57C54C2-46B2-48AF-8C6E-249429A8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>
            <a:extLst>
              <a:ext uri="{FF2B5EF4-FFF2-40B4-BE49-F238E27FC236}">
                <a16:creationId xmlns:a16="http://schemas.microsoft.com/office/drawing/2014/main" id="{893CA174-3162-47DB-8949-94857F0D6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>
            <a:extLst>
              <a:ext uri="{FF2B5EF4-FFF2-40B4-BE49-F238E27FC236}">
                <a16:creationId xmlns:a16="http://schemas.microsoft.com/office/drawing/2014/main" id="{281A6F0E-DBA4-44D6-8C56-B681052BB6C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>
            <a:extLst>
              <a:ext uri="{FF2B5EF4-FFF2-40B4-BE49-F238E27FC236}">
                <a16:creationId xmlns:a16="http://schemas.microsoft.com/office/drawing/2014/main" id="{AADBFD7F-B745-429E-9F37-265648F3A0A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>
            <a:extLst>
              <a:ext uri="{FF2B5EF4-FFF2-40B4-BE49-F238E27FC236}">
                <a16:creationId xmlns:a16="http://schemas.microsoft.com/office/drawing/2014/main" id="{07793A97-6C76-4E11-BAF7-CCCC6B1419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3F00E5AE-AF6C-49EA-A26D-2860C56E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3204BD63-A697-4A52-AA47-0C7C88FD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F25F209E-3CC9-48B5-A9E2-4AE40FEE3D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3C64CE1-FC7D-46E2-ACCF-D8868675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C0FEF5C9-E3EB-4F40-91CA-9D76678EF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993BE664-F5AF-4C5A-AA77-9C74B0BCA3C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85EAC371-6A0A-4BAB-9270-68841D979DE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3FADF8E-48ED-4D6D-8A84-92FF045FCC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>
            <a:extLst>
              <a:ext uri="{FF2B5EF4-FFF2-40B4-BE49-F238E27FC236}">
                <a16:creationId xmlns:a16="http://schemas.microsoft.com/office/drawing/2014/main" id="{77E2C50F-6E02-4636-87FF-37AC430346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156" cy="5143500"/>
          </a:xfrm>
          <a:prstGeom prst="rect">
            <a:avLst/>
          </a:prstGeom>
          <a:solidFill>
            <a:srgbClr val="189D9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A671954-B3AF-4FC9-AA12-0206DF8E5695}"/>
              </a:ext>
            </a:extLst>
          </p:cNvPr>
          <p:cNvSpPr>
            <a:spLocks noGrp="1"/>
          </p:cNvSpPr>
          <p:nvPr/>
        </p:nvSpPr>
        <p:spPr>
          <a:xfrm>
            <a:off x="514350" y="352425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One faulty rule. A worldwide outage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A703E1-25C5-41F3-A8EF-2003CB80C061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D97EE49-C54B-4C27-8EB6-2386260FB4E7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1 / 6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559A4C0-E9C8-41B6-8095-5D8BCF76E834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JULY 2, 2019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A98EFC9B-3094-4AAE-AD74-52423CEAC77B}"/>
              </a:ext>
            </a:extLst>
          </p:cNvPr>
          <p:cNvSpPr>
            <a:spLocks noGrp="1"/>
          </p:cNvSpPr>
          <p:nvPr/>
        </p:nvSpPr>
        <p:spPr>
          <a:xfrm>
            <a:off x="533400" y="1419225"/>
            <a:ext cx="3714750" cy="1028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Cloudflare sits between visitors and websites, delivering content and checking requests for threats.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6D62E59-CA28-4E28-83E1-67E0551C198D}"/>
              </a:ext>
            </a:extLst>
          </p:cNvPr>
          <p:cNvSpPr>
            <a:spLocks noGrp="1"/>
          </p:cNvSpPr>
          <p:nvPr/>
        </p:nvSpPr>
        <p:spPr>
          <a:xfrm>
            <a:off x="533400" y="2514600"/>
            <a:ext cx="3714750" cy="1066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A firewall update overloaded its servers. Visitors saw 502 errors even when the websites behind Cloudflare were healthy.</a:t>
            </a:r>
          </a:p>
        </p:txBody>
      </p:sp>
      <p:pic>
        <p:nvPicPr>
          <p:cNvPr id="242" name="Picture 241">
            <a:extLst>
              <a:ext uri="{FF2B5EF4-FFF2-40B4-BE49-F238E27FC236}">
                <a16:creationId xmlns:a16="http://schemas.microsoft.com/office/drawing/2014/main" id="{E70EB696-E142-4D0F-9AEE-2C08B23D8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45022" y="1057275"/>
            <a:ext cx="3549706" cy="2667000"/>
          </a:xfrm>
          <a:prstGeom prst="rect">
            <a:avLst/>
          </a:prstGeom>
        </p:spPr>
      </p:pic>
      <p:sp>
        <p:nvSpPr>
          <p:cNvPr id="243" name="Rectangle 242">
            <a:extLst>
              <a:ext uri="{FF2B5EF4-FFF2-40B4-BE49-F238E27FC236}">
                <a16:creationId xmlns:a16="http://schemas.microsoft.com/office/drawing/2014/main" id="{79AC3958-D1FF-44E6-A97A-4B4CF1F53102}"/>
              </a:ext>
            </a:extLst>
          </p:cNvPr>
          <p:cNvSpPr>
            <a:spLocks noGrp="1"/>
          </p:cNvSpPr>
          <p:nvPr/>
        </p:nvSpPr>
        <p:spPr>
          <a:xfrm>
            <a:off x="4619625" y="3752850"/>
            <a:ext cx="4000500" cy="2952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Cloudflare G9 hardware, 2018. Context photo, not the incident.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4B5B9F7-B674-4188-BE7F-8F54A4FACAA7}"/>
              </a:ext>
            </a:extLst>
          </p:cNvPr>
          <p:cNvSpPr>
            <a:spLocks noGrp="1"/>
          </p:cNvSpPr>
          <p:nvPr/>
        </p:nvSpPr>
        <p:spPr>
          <a:xfrm>
            <a:off x="533400" y="399097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27 min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AAB6D23B-E887-4697-A399-512B2BF39A48}"/>
              </a:ext>
            </a:extLst>
          </p:cNvPr>
          <p:cNvSpPr>
            <a:spLocks noGrp="1"/>
          </p:cNvSpPr>
          <p:nvPr/>
        </p:nvSpPr>
        <p:spPr>
          <a:xfrm>
            <a:off x="533400" y="45053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service disruption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0EBBC9DD-F4A9-494E-BC8E-C3617B03FF9B}"/>
              </a:ext>
            </a:extLst>
          </p:cNvPr>
          <p:cNvSpPr>
            <a:spLocks noGrp="1"/>
          </p:cNvSpPr>
          <p:nvPr/>
        </p:nvSpPr>
        <p:spPr>
          <a:xfrm>
            <a:off x="3371850" y="399097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82%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9A530A7-C032-4877-A41A-687EA98CB8BE}"/>
              </a:ext>
            </a:extLst>
          </p:cNvPr>
          <p:cNvSpPr>
            <a:spLocks noGrp="1"/>
          </p:cNvSpPr>
          <p:nvPr/>
        </p:nvSpPr>
        <p:spPr>
          <a:xfrm>
            <a:off x="3371850" y="45053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worst traffic drop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723EA0DA-AA21-4AED-BEC9-1F1E42DF980F}"/>
              </a:ext>
            </a:extLst>
          </p:cNvPr>
          <p:cNvSpPr>
            <a:spLocks noGrp="1"/>
          </p:cNvSpPr>
          <p:nvPr/>
        </p:nvSpPr>
        <p:spPr>
          <a:xfrm>
            <a:off x="6210300" y="3990975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100%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2A7C414-75AE-4F67-8372-F6F1B5ED80DD}"/>
              </a:ext>
            </a:extLst>
          </p:cNvPr>
          <p:cNvSpPr>
            <a:spLocks noGrp="1"/>
          </p:cNvSpPr>
          <p:nvPr/>
        </p:nvSpPr>
        <p:spPr>
          <a:xfrm>
            <a:off x="6210300" y="45053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CPU usage</a:t>
            </a:r>
          </a:p>
        </p:txBody>
      </p:sp>
    </p:spTree>
    <p:extLst>
      <p:ext uri="{BB962C8B-B14F-4D97-AF65-F5344CB8AC3E}">
        <p14:creationId xmlns:p14="http://schemas.microsoft.com/office/powerpoint/2010/main" val="197856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>
            <a:extLst>
              <a:ext uri="{FF2B5EF4-FFF2-40B4-BE49-F238E27FC236}">
                <a16:creationId xmlns:a16="http://schemas.microsoft.com/office/drawing/2014/main" id="{8553E37F-1DAB-4829-97C2-4F50BEAF30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156" cy="5143500"/>
          </a:xfrm>
          <a:prstGeom prst="rect">
            <a:avLst/>
          </a:prstGeom>
          <a:solidFill>
            <a:srgbClr val="189D9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AB8A2C1-85D1-49A7-B564-7186FD118336}"/>
              </a:ext>
            </a:extLst>
          </p:cNvPr>
          <p:cNvSpPr>
            <a:spLocks noGrp="1"/>
          </p:cNvSpPr>
          <p:nvPr/>
        </p:nvSpPr>
        <p:spPr>
          <a:xfrm>
            <a:off x="514350" y="352425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Why a text-search rule consumed the CPU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EBE349AB-E4E4-425A-8579-EB2FA8674AAC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CC407D2A-B704-43F4-8327-78266F1878B2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2 / 6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FAA89C7-AA4C-424B-B4E6-A520B1570C78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3429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THE SIMPLIFIED PATTERN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1ACCC40-FDE8-448D-AC17-9F3663A31526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3381375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750" b="1">
                <a:solidFill>
                  <a:srgbClr val="189D94"/>
                </a:solidFill>
              </a:defRPr>
            </a:defPPr>
            <a:lvl1pPr>
              <a:defRPr sz="3750" b="1">
                <a:solidFill>
                  <a:srgbClr val="189D94"/>
                </a:solidFill>
              </a:defRPr>
            </a:lvl1pPr>
            <a:lvl2pPr>
              <a:defRPr sz="3750" b="1">
                <a:solidFill>
                  <a:srgbClr val="189D94"/>
                </a:solidFill>
              </a:defRPr>
            </a:lvl2pPr>
            <a:lvl3pPr>
              <a:defRPr sz="3750" b="1">
                <a:solidFill>
                  <a:srgbClr val="189D94"/>
                </a:solidFill>
              </a:defRPr>
            </a:lvl3pPr>
            <a:lvl4pPr>
              <a:defRPr sz="3750" b="1">
                <a:solidFill>
                  <a:srgbClr val="189D94"/>
                </a:solidFill>
              </a:defRPr>
            </a:lvl4pPr>
            <a:lvl5pPr>
              <a:defRPr sz="3750" b="1">
                <a:solidFill>
                  <a:srgbClr val="189D94"/>
                </a:solidFill>
              </a:defRPr>
            </a:lvl5pPr>
            <a:lvl6pPr>
              <a:defRPr sz="3750" b="1">
                <a:solidFill>
                  <a:srgbClr val="189D94"/>
                </a:solidFill>
              </a:defRPr>
            </a:lvl6pPr>
            <a:lvl7pPr>
              <a:defRPr sz="3750" b="1">
                <a:solidFill>
                  <a:srgbClr val="189D94"/>
                </a:solidFill>
              </a:defRPr>
            </a:lvl7pPr>
            <a:lvl8pPr>
              <a:defRPr sz="3750" b="1">
                <a:solidFill>
                  <a:srgbClr val="189D94"/>
                </a:solidFill>
              </a:defRPr>
            </a:lvl8pPr>
            <a:lvl9pPr>
              <a:defRPr sz="3750" b="1">
                <a:solidFill>
                  <a:srgbClr val="189D94"/>
                </a:solidFill>
              </a:defRPr>
            </a:lvl9pPr>
          </a:lstStyle>
          <a:p>
            <a:pPr>
              <a:defRPr sz="3750" b="1">
                <a:solidFill>
                  <a:srgbClr val="189D94"/>
                </a:solidFill>
              </a:defRPr>
            </a:pPr>
            <a:r>
              <a:rPr sz="3750" b="1">
                <a:solidFill>
                  <a:srgbClr val="189D94"/>
                </a:solidFill>
              </a:rPr>
              <a:t>.*.*=.*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BED2854C-CE38-40F3-BC07-A37F79DE8713}"/>
              </a:ext>
            </a:extLst>
          </p:cNvPr>
          <p:cNvSpPr>
            <a:spLocks noGrp="1"/>
          </p:cNvSpPr>
          <p:nvPr/>
        </p:nvSpPr>
        <p:spPr>
          <a:xfrm>
            <a:off x="533400" y="2400300"/>
            <a:ext cx="3333750" cy="1371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Each .* can match almost any amount of text. The overlapping sections create many possible ways to split the same input.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24B4B61B-28F5-4070-8C7A-406E0FE1367A}"/>
              </a:ext>
            </a:extLst>
          </p:cNvPr>
          <p:cNvSpPr>
            <a:spLocks noGrp="1"/>
          </p:cNvSpPr>
          <p:nvPr/>
        </p:nvSpPr>
        <p:spPr>
          <a:xfrm>
            <a:off x="533400" y="40195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9DACBC"/>
                </a:solidFill>
              </a:defRPr>
            </a:defPPr>
            <a:lvl1pPr>
              <a:defRPr sz="1500" b="0">
                <a:solidFill>
                  <a:srgbClr val="9DACBC"/>
                </a:solidFill>
              </a:defRPr>
            </a:lvl1pPr>
            <a:lvl2pPr>
              <a:defRPr sz="1500" b="0">
                <a:solidFill>
                  <a:srgbClr val="9DACBC"/>
                </a:solidFill>
              </a:defRPr>
            </a:lvl2pPr>
            <a:lvl3pPr>
              <a:defRPr sz="1500" b="0">
                <a:solidFill>
                  <a:srgbClr val="9DACBC"/>
                </a:solidFill>
              </a:defRPr>
            </a:lvl3pPr>
            <a:lvl4pPr>
              <a:defRPr sz="1500" b="0">
                <a:solidFill>
                  <a:srgbClr val="9DACBC"/>
                </a:solidFill>
              </a:defRPr>
            </a:lvl4pPr>
            <a:lvl5pPr>
              <a:defRPr sz="1500" b="0">
                <a:solidFill>
                  <a:srgbClr val="9DACBC"/>
                </a:solidFill>
              </a:defRPr>
            </a:lvl5pPr>
            <a:lvl6pPr>
              <a:defRPr sz="1500" b="0">
                <a:solidFill>
                  <a:srgbClr val="9DACBC"/>
                </a:solidFill>
              </a:defRPr>
            </a:lvl6pPr>
            <a:lvl7pPr>
              <a:defRPr sz="1500" b="0">
                <a:solidFill>
                  <a:srgbClr val="9DACBC"/>
                </a:solidFill>
              </a:defRPr>
            </a:lvl7pPr>
            <a:lvl8pPr>
              <a:defRPr sz="1500" b="0">
                <a:solidFill>
                  <a:srgbClr val="9DACBC"/>
                </a:solidFill>
              </a:defRPr>
            </a:lvl8pPr>
            <a:lvl9pPr>
              <a:defRPr sz="1500" b="0">
                <a:solidFill>
                  <a:srgbClr val="9DACBC"/>
                </a:solidFill>
              </a:defRPr>
            </a:lvl9pPr>
          </a:lstStyle>
          <a:p>
            <a:pPr>
              <a:defRPr sz="1500" b="0">
                <a:solidFill>
                  <a:srgbClr val="9DACBC"/>
                </a:solidFill>
              </a:defRPr>
            </a:pPr>
            <a:r>
              <a:rPr sz="1500" b="0">
                <a:solidFill>
                  <a:srgbClr val="9DACBC"/>
                </a:solidFill>
              </a:rPr>
              <a:t>A regex is a pattern for searching text.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097F1110-8E1B-4713-A7A8-52EB4E053448}"/>
              </a:ext>
            </a:extLst>
          </p:cNvPr>
          <p:cNvSpPr>
            <a:spLocks noGrp="1"/>
          </p:cNvSpPr>
          <p:nvPr/>
        </p:nvSpPr>
        <p:spPr>
          <a:xfrm>
            <a:off x="4476750" y="1133475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01  Inspect the request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0DEF4328-93F8-44FC-A56B-AC56A1AB0CD2}"/>
              </a:ext>
            </a:extLst>
          </p:cNvPr>
          <p:cNvSpPr>
            <a:spLocks noGrp="1"/>
          </p:cNvSpPr>
          <p:nvPr/>
        </p:nvSpPr>
        <p:spPr>
          <a:xfrm>
            <a:off x="4476750" y="1504950"/>
            <a:ext cx="414337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web application firewall (WAF) ran this rule to detect malicious JavaScript.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7532D10D-D644-49DC-A545-A26DB02BC286}"/>
              </a:ext>
            </a:extLst>
          </p:cNvPr>
          <p:cNvSpPr>
            <a:spLocks noGrp="1"/>
          </p:cNvSpPr>
          <p:nvPr/>
        </p:nvSpPr>
        <p:spPr>
          <a:xfrm>
            <a:off x="4476750" y="2152650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02  Retry possible matches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03AA7F4-FEA3-47D5-9C06-55B1108BA6B8}"/>
              </a:ext>
            </a:extLst>
          </p:cNvPr>
          <p:cNvSpPr>
            <a:spLocks noGrp="1"/>
          </p:cNvSpPr>
          <p:nvPr/>
        </p:nvSpPr>
        <p:spPr>
          <a:xfrm>
            <a:off x="4476750" y="2524125"/>
            <a:ext cx="414337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Backtracking tries alternative matches. Too many retries use up processing time.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05397990-C8BD-455E-B266-60108D26A674}"/>
              </a:ext>
            </a:extLst>
          </p:cNvPr>
          <p:cNvSpPr>
            <a:spLocks noGrp="1"/>
          </p:cNvSpPr>
          <p:nvPr/>
        </p:nvSpPr>
        <p:spPr>
          <a:xfrm>
            <a:off x="4476750" y="3171825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03  Crowd out normal work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C6136F5D-22F8-4D53-B40C-B3084C145918}"/>
              </a:ext>
            </a:extLst>
          </p:cNvPr>
          <p:cNvSpPr>
            <a:spLocks noGrp="1"/>
          </p:cNvSpPr>
          <p:nvPr/>
        </p:nvSpPr>
        <p:spPr>
          <a:xfrm>
            <a:off x="4476750" y="3543300"/>
            <a:ext cx="414337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check consumed CPU that servers needed to respond to visitors.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558642CC-38CB-4D47-8A97-EEC2ACA734AD}"/>
              </a:ext>
            </a:extLst>
          </p:cNvPr>
          <p:cNvSpPr>
            <a:spLocks noGrp="1"/>
          </p:cNvSpPr>
          <p:nvPr/>
        </p:nvSpPr>
        <p:spPr>
          <a:xfrm>
            <a:off x="4476750" y="4257675"/>
            <a:ext cx="4143375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9DACBC"/>
                </a:solidFill>
              </a:defRPr>
            </a:defPPr>
            <a:lvl1pPr>
              <a:defRPr sz="1350" b="0">
                <a:solidFill>
                  <a:srgbClr val="9DACBC"/>
                </a:solidFill>
              </a:defRPr>
            </a:lvl1pPr>
            <a:lvl2pPr>
              <a:defRPr sz="1350" b="0">
                <a:solidFill>
                  <a:srgbClr val="9DACBC"/>
                </a:solidFill>
              </a:defRPr>
            </a:lvl2pPr>
            <a:lvl3pPr>
              <a:defRPr sz="1350" b="0">
                <a:solidFill>
                  <a:srgbClr val="9DACBC"/>
                </a:solidFill>
              </a:defRPr>
            </a:lvl3pPr>
            <a:lvl4pPr>
              <a:defRPr sz="1350" b="0">
                <a:solidFill>
                  <a:srgbClr val="9DACBC"/>
                </a:solidFill>
              </a:defRPr>
            </a:lvl4pPr>
            <a:lvl5pPr>
              <a:defRPr sz="1350" b="0">
                <a:solidFill>
                  <a:srgbClr val="9DACBC"/>
                </a:solidFill>
              </a:defRPr>
            </a:lvl5pPr>
            <a:lvl6pPr>
              <a:defRPr sz="1350" b="0">
                <a:solidFill>
                  <a:srgbClr val="9DACBC"/>
                </a:solidFill>
              </a:defRPr>
            </a:lvl6pPr>
            <a:lvl7pPr>
              <a:defRPr sz="1350" b="0">
                <a:solidFill>
                  <a:srgbClr val="9DACBC"/>
                </a:solidFill>
              </a:defRPr>
            </a:lvl7pPr>
            <a:lvl8pPr>
              <a:defRPr sz="1350" b="0">
                <a:solidFill>
                  <a:srgbClr val="9DACBC"/>
                </a:solidFill>
              </a:defRPr>
            </a:lvl8pPr>
            <a:lvl9pPr>
              <a:defRPr sz="1350" b="0">
                <a:solidFill>
                  <a:srgbClr val="9DACBC"/>
                </a:solidFill>
              </a:defRPr>
            </a:lvl9pPr>
          </a:lstStyle>
          <a:p>
            <a:pPr>
              <a:defRPr sz="1350" b="0">
                <a:solidFill>
                  <a:srgbClr val="9DACBC"/>
                </a:solidFill>
              </a:defRPr>
            </a:pPr>
            <a:r>
              <a:rPr sz="1350" b="0">
                <a:solidFill>
                  <a:srgbClr val="9DACBC"/>
                </a:solidFill>
              </a:rPr>
              <a:t>“Simulate” mode still runs the check. It only prevents the rule from blocking visitors.</a:t>
            </a:r>
          </a:p>
        </p:txBody>
      </p:sp>
    </p:spTree>
    <p:extLst>
      <p:ext uri="{BB962C8B-B14F-4D97-AF65-F5344CB8AC3E}">
        <p14:creationId xmlns:p14="http://schemas.microsoft.com/office/powerpoint/2010/main" val="187935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>
            <a:extLst>
              <a:ext uri="{FF2B5EF4-FFF2-40B4-BE49-F238E27FC236}">
                <a16:creationId xmlns:a16="http://schemas.microsoft.com/office/drawing/2014/main" id="{67E3D8E2-56CD-488A-AE46-97FE51156A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156" cy="5143500"/>
          </a:xfrm>
          <a:prstGeom prst="rect">
            <a:avLst/>
          </a:prstGeom>
          <a:solidFill>
            <a:srgbClr val="189D9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A23CC213-64DE-4852-9025-AF02281AEBED}"/>
              </a:ext>
            </a:extLst>
          </p:cNvPr>
          <p:cNvSpPr>
            <a:spLocks noGrp="1"/>
          </p:cNvSpPr>
          <p:nvPr/>
        </p:nvSpPr>
        <p:spPr>
          <a:xfrm>
            <a:off x="514350" y="352425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Four missing defenses amplified the failure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4717C3C1-449A-4E69-824D-1B456FF0DC66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8D9B1DB-196B-4C47-96F8-01D31EA016D4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3 / 6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8C6ACA7-D34E-420C-93FE-53E389EF30A6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01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C1C645AF-6C33-4591-B18E-EB50A945A8EA}"/>
              </a:ext>
            </a:extLst>
          </p:cNvPr>
          <p:cNvSpPr>
            <a:spLocks noGrp="1"/>
          </p:cNvSpPr>
          <p:nvPr/>
        </p:nvSpPr>
        <p:spPr>
          <a:xfrm>
            <a:off x="1285875" y="1162050"/>
            <a:ext cx="25241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CPU protection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1835142-BF9E-4BE0-BCCE-C78058D6AAF6}"/>
              </a:ext>
            </a:extLst>
          </p:cNvPr>
          <p:cNvSpPr>
            <a:spLocks noGrp="1"/>
          </p:cNvSpPr>
          <p:nvPr/>
        </p:nvSpPr>
        <p:spPr>
          <a:xfrm>
            <a:off x="4095750" y="11430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An earlier performance refactor accidentally removed a safeguard against costly regex processing.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F0BC1196-B1A6-4569-8E51-28761631A281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02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76D565A-4DFE-4A74-BA1A-A2346BBFEE01}"/>
              </a:ext>
            </a:extLst>
          </p:cNvPr>
          <p:cNvSpPr>
            <a:spLocks noGrp="1"/>
          </p:cNvSpPr>
          <p:nvPr/>
        </p:nvSpPr>
        <p:spPr>
          <a:xfrm>
            <a:off x="1285875" y="2000250"/>
            <a:ext cx="25241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Performance tests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C6E0A43B-8A1D-491A-A38D-D798CDB00AF5}"/>
              </a:ext>
            </a:extLst>
          </p:cNvPr>
          <p:cNvSpPr>
            <a:spLocks noGrp="1"/>
          </p:cNvSpPr>
          <p:nvPr/>
        </p:nvSpPr>
        <p:spPr>
          <a:xfrm>
            <a:off x="4095750" y="19812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Tests checked allow/block decisions, but did not catch runaway CPU use. Correct answers were not enough.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CD85AF59-E9D5-48F7-A68D-4EF4579BD261}"/>
              </a:ext>
            </a:extLst>
          </p:cNvPr>
          <p:cNvSpPr>
            <a:spLocks noGrp="1"/>
          </p:cNvSpPr>
          <p:nvPr/>
        </p:nvSpPr>
        <p:spPr>
          <a:xfrm>
            <a:off x="533400" y="28194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A72839A-AD3A-405F-BF94-F83523A93C5E}"/>
              </a:ext>
            </a:extLst>
          </p:cNvPr>
          <p:cNvSpPr>
            <a:spLocks noGrp="1"/>
          </p:cNvSpPr>
          <p:nvPr/>
        </p:nvSpPr>
        <p:spPr>
          <a:xfrm>
            <a:off x="1285875" y="2838450"/>
            <a:ext cx="25241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A limited rollout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FA1A000-097C-4615-9E05-EE85ECF7DDCF}"/>
              </a:ext>
            </a:extLst>
          </p:cNvPr>
          <p:cNvSpPr>
            <a:spLocks noGrp="1"/>
          </p:cNvSpPr>
          <p:nvPr/>
        </p:nvSpPr>
        <p:spPr>
          <a:xfrm>
            <a:off x="4095750" y="28194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rule reached the world without a small trial first. One defect affected many locations together.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538177BF-A267-4426-AD6A-D966B74C199D}"/>
              </a:ext>
            </a:extLst>
          </p:cNvPr>
          <p:cNvSpPr>
            <a:spLocks noGrp="1"/>
          </p:cNvSpPr>
          <p:nvPr/>
        </p:nvSpPr>
        <p:spPr>
          <a:xfrm>
            <a:off x="533400" y="36576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04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9911C4C-F46A-4CAF-9A28-1899D709EED7}"/>
              </a:ext>
            </a:extLst>
          </p:cNvPr>
          <p:cNvSpPr>
            <a:spLocks noGrp="1"/>
          </p:cNvSpPr>
          <p:nvPr/>
        </p:nvSpPr>
        <p:spPr>
          <a:xfrm>
            <a:off x="1285875" y="3676650"/>
            <a:ext cx="252412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Independent recovery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0FFC3F0-94C4-476C-AAE8-620C8BEF79F6}"/>
              </a:ext>
            </a:extLst>
          </p:cNvPr>
          <p:cNvSpPr>
            <a:spLocks noGrp="1"/>
          </p:cNvSpPr>
          <p:nvPr/>
        </p:nvSpPr>
        <p:spPr>
          <a:xfrm>
            <a:off x="4095750" y="36576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outage also blocked internal tools, making emergency access and recovery harder.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7754558-60C5-426D-94B2-6441E0626815}"/>
              </a:ext>
            </a:extLst>
          </p:cNvPr>
          <p:cNvSpPr>
            <a:spLocks noGrp="1"/>
          </p:cNvSpPr>
          <p:nvPr/>
        </p:nvSpPr>
        <p:spPr>
          <a:xfrm>
            <a:off x="1285875" y="4552950"/>
            <a:ext cx="7334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9DACBC"/>
                </a:solidFill>
              </a:defRPr>
            </a:defPPr>
            <a:lvl1pPr>
              <a:defRPr sz="1200" b="0">
                <a:solidFill>
                  <a:srgbClr val="9DACBC"/>
                </a:solidFill>
              </a:defRPr>
            </a:lvl1pPr>
            <a:lvl2pPr>
              <a:defRPr sz="1200" b="0">
                <a:solidFill>
                  <a:srgbClr val="9DACBC"/>
                </a:solidFill>
              </a:defRPr>
            </a:lvl2pPr>
            <a:lvl3pPr>
              <a:defRPr sz="1200" b="0">
                <a:solidFill>
                  <a:srgbClr val="9DACBC"/>
                </a:solidFill>
              </a:defRPr>
            </a:lvl3pPr>
            <a:lvl4pPr>
              <a:defRPr sz="1200" b="0">
                <a:solidFill>
                  <a:srgbClr val="9DACBC"/>
                </a:solidFill>
              </a:defRPr>
            </a:lvl4pPr>
            <a:lvl5pPr>
              <a:defRPr sz="1200" b="0">
                <a:solidFill>
                  <a:srgbClr val="9DACBC"/>
                </a:solidFill>
              </a:defRPr>
            </a:lvl5pPr>
            <a:lvl6pPr>
              <a:defRPr sz="1200" b="0">
                <a:solidFill>
                  <a:srgbClr val="9DACBC"/>
                </a:solidFill>
              </a:defRPr>
            </a:lvl6pPr>
            <a:lvl7pPr>
              <a:defRPr sz="1200" b="0">
                <a:solidFill>
                  <a:srgbClr val="9DACBC"/>
                </a:solidFill>
              </a:defRPr>
            </a:lvl7pPr>
            <a:lvl8pPr>
              <a:defRPr sz="1200" b="0">
                <a:solidFill>
                  <a:srgbClr val="9DACBC"/>
                </a:solidFill>
              </a:defRPr>
            </a:lvl8pPr>
            <a:lvl9pPr>
              <a:defRPr sz="1200" b="0">
                <a:solidFill>
                  <a:srgbClr val="9DACBC"/>
                </a:solidFill>
              </a:defRPr>
            </a:lvl9pPr>
          </a:lstStyle>
          <a:p>
            <a:pPr>
              <a:defRPr sz="1200" b="0">
                <a:solidFill>
                  <a:srgbClr val="9DACBC"/>
                </a:solidFill>
              </a:defRPr>
            </a:pPr>
            <a:r>
              <a:rPr sz="1200" b="0">
                <a:solidFill>
                  <a:srgbClr val="9DACBC"/>
                </a:solidFill>
              </a:rPr>
              <a:t>The rule triggered the incident. Existing weaknesses made it global and harder to stop.</a:t>
            </a:r>
          </a:p>
        </p:txBody>
      </p:sp>
    </p:spTree>
    <p:extLst>
      <p:ext uri="{BB962C8B-B14F-4D97-AF65-F5344CB8AC3E}">
        <p14:creationId xmlns:p14="http://schemas.microsoft.com/office/powerpoint/2010/main" val="23780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>
            <a:extLst>
              <a:ext uri="{FF2B5EF4-FFF2-40B4-BE49-F238E27FC236}">
                <a16:creationId xmlns:a16="http://schemas.microsoft.com/office/drawing/2014/main" id="{F5B4E305-C797-456C-A975-A080BAEEFE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156" cy="5143500"/>
          </a:xfrm>
          <a:prstGeom prst="rect">
            <a:avLst/>
          </a:prstGeom>
          <a:solidFill>
            <a:srgbClr val="189D9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C9048D2E-81B6-4119-89E2-621F54D92D16}"/>
              </a:ext>
            </a:extLst>
          </p:cNvPr>
          <p:cNvSpPr>
            <a:spLocks noGrp="1"/>
          </p:cNvSpPr>
          <p:nvPr/>
        </p:nvSpPr>
        <p:spPr>
          <a:xfrm>
            <a:off x="514350" y="352425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Service recovered before the firewall returned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E43683AA-2E62-4B30-8F29-CEDCE6B904D3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08450CF7-229D-4699-B4CE-CFB73CDB952E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4 / 6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BF5F8219-F346-420B-92D2-F5B6AFDBB267}"/>
              </a:ext>
            </a:extLst>
          </p:cNvPr>
          <p:cNvSpPr>
            <a:spLocks noGrp="1"/>
          </p:cNvSpPr>
          <p:nvPr/>
        </p:nvSpPr>
        <p:spPr>
          <a:xfrm>
            <a:off x="533400" y="1095375"/>
            <a:ext cx="52197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75" b="1">
                <a:solidFill>
                  <a:srgbClr val="189D94"/>
                </a:solidFill>
              </a:defRPr>
            </a:defPPr>
            <a:lvl1pPr>
              <a:defRPr sz="975" b="1">
                <a:solidFill>
                  <a:srgbClr val="189D94"/>
                </a:solidFill>
              </a:defRPr>
            </a:lvl1pPr>
            <a:lvl2pPr>
              <a:defRPr sz="975" b="1">
                <a:solidFill>
                  <a:srgbClr val="189D94"/>
                </a:solidFill>
              </a:defRPr>
            </a:lvl2pPr>
            <a:lvl3pPr>
              <a:defRPr sz="975" b="1">
                <a:solidFill>
                  <a:srgbClr val="189D94"/>
                </a:solidFill>
              </a:defRPr>
            </a:lvl3pPr>
            <a:lvl4pPr>
              <a:defRPr sz="975" b="1">
                <a:solidFill>
                  <a:srgbClr val="189D94"/>
                </a:solidFill>
              </a:defRPr>
            </a:lvl4pPr>
            <a:lvl5pPr>
              <a:defRPr sz="975" b="1">
                <a:solidFill>
                  <a:srgbClr val="189D94"/>
                </a:solidFill>
              </a:defRPr>
            </a:lvl5pPr>
            <a:lvl6pPr>
              <a:defRPr sz="975" b="1">
                <a:solidFill>
                  <a:srgbClr val="189D94"/>
                </a:solidFill>
              </a:defRPr>
            </a:lvl6pPr>
            <a:lvl7pPr>
              <a:defRPr sz="975" b="1">
                <a:solidFill>
                  <a:srgbClr val="189D94"/>
                </a:solidFill>
              </a:defRPr>
            </a:lvl7pPr>
            <a:lvl8pPr>
              <a:defRPr sz="975" b="1">
                <a:solidFill>
                  <a:srgbClr val="189D94"/>
                </a:solidFill>
              </a:defRPr>
            </a:lvl8pPr>
            <a:lvl9pPr>
              <a:defRPr sz="975" b="1">
                <a:solidFill>
                  <a:srgbClr val="189D94"/>
                </a:solidFill>
              </a:defRPr>
            </a:lvl9pPr>
          </a:lstStyle>
          <a:p>
            <a:pPr>
              <a:defRPr sz="975" b="1">
                <a:solidFill>
                  <a:srgbClr val="189D94"/>
                </a:solidFill>
              </a:defRPr>
            </a:pPr>
            <a:r>
              <a:rPr sz="975" b="1">
                <a:solidFill>
                  <a:srgbClr val="189D94"/>
                </a:solidFill>
              </a:rPr>
              <a:t>CPU USAGE AT ONE CLOUDFLARE LOCATION</a:t>
            </a:r>
          </a:p>
        </p:txBody>
      </p:sp>
      <p:pic>
        <p:nvPicPr>
          <p:cNvPr id="285" name="Picture 284">
            <a:extLst>
              <a:ext uri="{FF2B5EF4-FFF2-40B4-BE49-F238E27FC236}">
                <a16:creationId xmlns:a16="http://schemas.microsoft.com/office/drawing/2014/main" id="{AB55D455-CF15-4723-8F1D-55F8D6F4E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495644"/>
            <a:ext cx="5219700" cy="2142687"/>
          </a:xfrm>
          <a:prstGeom prst="rect">
            <a:avLst/>
          </a:prstGeom>
        </p:spPr>
      </p:pic>
      <p:sp>
        <p:nvSpPr>
          <p:cNvPr id="286" name="Rectangle 285">
            <a:extLst>
              <a:ext uri="{FF2B5EF4-FFF2-40B4-BE49-F238E27FC236}">
                <a16:creationId xmlns:a16="http://schemas.microsoft.com/office/drawing/2014/main" id="{B94FB918-837A-4D32-8098-926BC04BD7A7}"/>
              </a:ext>
            </a:extLst>
          </p:cNvPr>
          <p:cNvSpPr>
            <a:spLocks noGrp="1"/>
          </p:cNvSpPr>
          <p:nvPr/>
        </p:nvSpPr>
        <p:spPr>
          <a:xfrm>
            <a:off x="533400" y="3714750"/>
            <a:ext cx="52197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Original monitoring chart from Cloudflare’s postmortem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F004CA72-23ED-41C0-AC28-05C9DEC0456B}"/>
              </a:ext>
            </a:extLst>
          </p:cNvPr>
          <p:cNvSpPr>
            <a:spLocks noGrp="1"/>
          </p:cNvSpPr>
          <p:nvPr/>
        </p:nvSpPr>
        <p:spPr>
          <a:xfrm>
            <a:off x="533400" y="4076700"/>
            <a:ext cx="52197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Disabling the WAF removed the immediate load. Other security protections stayed active.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7C81D258-FE61-4C4E-A6D6-5928EB471820}"/>
              </a:ext>
            </a:extLst>
          </p:cNvPr>
          <p:cNvSpPr>
            <a:spLocks noGrp="1"/>
          </p:cNvSpPr>
          <p:nvPr/>
        </p:nvSpPr>
        <p:spPr>
          <a:xfrm>
            <a:off x="6219825" y="10858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13:42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AF8C51A0-57DA-4CD1-8958-68C27620D38C}"/>
              </a:ext>
            </a:extLst>
          </p:cNvPr>
          <p:cNvSpPr>
            <a:spLocks noGrp="1"/>
          </p:cNvSpPr>
          <p:nvPr/>
        </p:nvSpPr>
        <p:spPr>
          <a:xfrm>
            <a:off x="6219825" y="14287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Rule deployed globally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A2F557F6-B7FB-4275-A054-BA17C772E207}"/>
              </a:ext>
            </a:extLst>
          </p:cNvPr>
          <p:cNvSpPr>
            <a:spLocks noGrp="1"/>
          </p:cNvSpPr>
          <p:nvPr/>
        </p:nvSpPr>
        <p:spPr>
          <a:xfrm>
            <a:off x="6219825" y="17907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14:00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40EDD22D-9B27-404E-9CE7-F5287BFF96C4}"/>
              </a:ext>
            </a:extLst>
          </p:cNvPr>
          <p:cNvSpPr>
            <a:spLocks noGrp="1"/>
          </p:cNvSpPr>
          <p:nvPr/>
        </p:nvSpPr>
        <p:spPr>
          <a:xfrm>
            <a:off x="6219825" y="21336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identified as cause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EF198E6E-C897-485A-99F0-44F1E375AEBE}"/>
              </a:ext>
            </a:extLst>
          </p:cNvPr>
          <p:cNvSpPr>
            <a:spLocks noGrp="1"/>
          </p:cNvSpPr>
          <p:nvPr/>
        </p:nvSpPr>
        <p:spPr>
          <a:xfrm>
            <a:off x="6219825" y="24955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14:07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6CA0C37C-1E13-4281-915C-9B777971900D}"/>
              </a:ext>
            </a:extLst>
          </p:cNvPr>
          <p:cNvSpPr>
            <a:spLocks noGrp="1"/>
          </p:cNvSpPr>
          <p:nvPr/>
        </p:nvSpPr>
        <p:spPr>
          <a:xfrm>
            <a:off x="6219825" y="28384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disabled globally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9CF94B64-5EE0-4D40-8DCD-68CC8B78F8F5}"/>
              </a:ext>
            </a:extLst>
          </p:cNvPr>
          <p:cNvSpPr>
            <a:spLocks noGrp="1"/>
          </p:cNvSpPr>
          <p:nvPr/>
        </p:nvSpPr>
        <p:spPr>
          <a:xfrm>
            <a:off x="6219825" y="32004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14:09</a:t>
            </a: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8DAE968-9332-4481-933B-2495D0279AC1}"/>
              </a:ext>
            </a:extLst>
          </p:cNvPr>
          <p:cNvSpPr>
            <a:spLocks noGrp="1"/>
          </p:cNvSpPr>
          <p:nvPr/>
        </p:nvSpPr>
        <p:spPr>
          <a:xfrm>
            <a:off x="6219825" y="35433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Traffic and CPU recover</a:t>
            </a: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763257F-69C9-46BB-B5BB-DAD9246A5989}"/>
              </a:ext>
            </a:extLst>
          </p:cNvPr>
          <p:cNvSpPr>
            <a:spLocks noGrp="1"/>
          </p:cNvSpPr>
          <p:nvPr/>
        </p:nvSpPr>
        <p:spPr>
          <a:xfrm>
            <a:off x="6219825" y="39052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14:52</a:t>
            </a: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A0608A69-62D2-41E6-84D7-6C54ECDBB52F}"/>
              </a:ext>
            </a:extLst>
          </p:cNvPr>
          <p:cNvSpPr>
            <a:spLocks noGrp="1"/>
          </p:cNvSpPr>
          <p:nvPr/>
        </p:nvSpPr>
        <p:spPr>
          <a:xfrm>
            <a:off x="6219825" y="42481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restored after testing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1F16D4DC-BAB6-49EA-8C64-FA868B382D0A}"/>
              </a:ext>
            </a:extLst>
          </p:cNvPr>
          <p:cNvSpPr>
            <a:spLocks noGrp="1"/>
          </p:cNvSpPr>
          <p:nvPr/>
        </p:nvSpPr>
        <p:spPr>
          <a:xfrm>
            <a:off x="6219825" y="4695825"/>
            <a:ext cx="24003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All times UTC, July 2, 2019</a:t>
            </a:r>
          </a:p>
        </p:txBody>
      </p:sp>
    </p:spTree>
    <p:extLst>
      <p:ext uri="{BB962C8B-B14F-4D97-AF65-F5344CB8AC3E}">
        <p14:creationId xmlns:p14="http://schemas.microsoft.com/office/powerpoint/2010/main" val="136081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>
            <a:extLst>
              <a:ext uri="{FF2B5EF4-FFF2-40B4-BE49-F238E27FC236}">
                <a16:creationId xmlns:a16="http://schemas.microsoft.com/office/drawing/2014/main" id="{A3D8C215-FBFF-485C-8EB1-8122445D9E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156" cy="5143500"/>
          </a:xfrm>
          <a:prstGeom prst="rect">
            <a:avLst/>
          </a:prstGeom>
          <a:solidFill>
            <a:srgbClr val="189D9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44F22752-BB54-42EE-B6BD-E72FB69CA3F3}"/>
              </a:ext>
            </a:extLst>
          </p:cNvPr>
          <p:cNvSpPr>
            <a:spLocks noGrp="1"/>
          </p:cNvSpPr>
          <p:nvPr/>
        </p:nvSpPr>
        <p:spPr>
          <a:xfrm>
            <a:off x="514350" y="352425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The response addressed code and release process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265F5D4-6FDA-4EE9-BA74-AA93D8863EE8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5EF769E6-DEFA-490E-8F31-23FB70DAE424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5 / 6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6A557AA-1852-44E6-B860-9F11A5A7E6E0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COMPLETED BY JULY 12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8600E010-E95C-4A87-985B-993AD9AA5B40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900" b="1">
                <a:solidFill>
                  <a:srgbClr val="F7F9FC"/>
                </a:solidFill>
              </a:defRPr>
            </a:defPPr>
            <a:lvl1pPr>
              <a:defRPr sz="3900" b="1">
                <a:solidFill>
                  <a:srgbClr val="F7F9FC"/>
                </a:solidFill>
              </a:defRPr>
            </a:lvl1pPr>
            <a:lvl2pPr>
              <a:defRPr sz="3900" b="1">
                <a:solidFill>
                  <a:srgbClr val="F7F9FC"/>
                </a:solidFill>
              </a:defRPr>
            </a:lvl2pPr>
            <a:lvl3pPr>
              <a:defRPr sz="3900" b="1">
                <a:solidFill>
                  <a:srgbClr val="F7F9FC"/>
                </a:solidFill>
              </a:defRPr>
            </a:lvl3pPr>
            <a:lvl4pPr>
              <a:defRPr sz="3900" b="1">
                <a:solidFill>
                  <a:srgbClr val="F7F9FC"/>
                </a:solidFill>
              </a:defRPr>
            </a:lvl4pPr>
            <a:lvl5pPr>
              <a:defRPr sz="3900" b="1">
                <a:solidFill>
                  <a:srgbClr val="F7F9FC"/>
                </a:solidFill>
              </a:defRPr>
            </a:lvl5pPr>
            <a:lvl6pPr>
              <a:defRPr sz="3900" b="1">
                <a:solidFill>
                  <a:srgbClr val="F7F9FC"/>
                </a:solidFill>
              </a:defRPr>
            </a:lvl6pPr>
            <a:lvl7pPr>
              <a:defRPr sz="3900" b="1">
                <a:solidFill>
                  <a:srgbClr val="F7F9FC"/>
                </a:solidFill>
              </a:defRPr>
            </a:lvl7pPr>
            <a:lvl8pPr>
              <a:defRPr sz="3900" b="1">
                <a:solidFill>
                  <a:srgbClr val="F7F9FC"/>
                </a:solidFill>
              </a:defRPr>
            </a:lvl8pPr>
            <a:lvl9pPr>
              <a:defRPr sz="3900" b="1">
                <a:solidFill>
                  <a:srgbClr val="F7F9FC"/>
                </a:solidFill>
              </a:defRPr>
            </a:lvl9pPr>
          </a:lstStyle>
          <a:p>
            <a:pPr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3,868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8BDF8C22-EF63-42B4-B4E4-1975BA9E375B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managed rules inspected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881B2136-8B84-45B2-9F8F-D31AF89C05C6}"/>
              </a:ext>
            </a:extLst>
          </p:cNvPr>
          <p:cNvSpPr>
            <a:spLocks noGrp="1"/>
          </p:cNvSpPr>
          <p:nvPr/>
        </p:nvSpPr>
        <p:spPr>
          <a:xfrm>
            <a:off x="533400" y="2990850"/>
            <a:ext cx="3333750" cy="10572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Cloudflare also restored the CPU safeguard removed during refactoring.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AC12D7E2-84E6-46D0-906D-76B18C434E68}"/>
              </a:ext>
            </a:extLst>
          </p:cNvPr>
          <p:cNvSpPr>
            <a:spLocks noGrp="1"/>
          </p:cNvSpPr>
          <p:nvPr/>
        </p:nvSpPr>
        <p:spPr>
          <a:xfrm>
            <a:off x="4476750" y="1123950"/>
            <a:ext cx="4143375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ANNOUNCED NEXT STEPS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C72AD8FB-A5D6-45B4-AE31-F842F1C6F8DF}"/>
              </a:ext>
            </a:extLst>
          </p:cNvPr>
          <p:cNvSpPr>
            <a:spLocks noGrp="1"/>
          </p:cNvSpPr>
          <p:nvPr/>
        </p:nvSpPr>
        <p:spPr>
          <a:xfrm>
            <a:off x="4476750" y="1552575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Measure processing cost</a:t>
            </a: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B898A390-4F70-4EAE-AB75-AC56C1BA1D71}"/>
              </a:ext>
            </a:extLst>
          </p:cNvPr>
          <p:cNvSpPr>
            <a:spLocks noGrp="1"/>
          </p:cNvSpPr>
          <p:nvPr/>
        </p:nvSpPr>
        <p:spPr>
          <a:xfrm>
            <a:off x="4476750" y="1914525"/>
            <a:ext cx="4143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Profile rules for excessive CPU use, as well as checking whether they detect attacks.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D77804F-F3E0-499B-B0BB-EC7A08E09171}"/>
              </a:ext>
            </a:extLst>
          </p:cNvPr>
          <p:cNvSpPr>
            <a:spLocks noGrp="1"/>
          </p:cNvSpPr>
          <p:nvPr/>
        </p:nvSpPr>
        <p:spPr>
          <a:xfrm>
            <a:off x="4476750" y="2562225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Expand releases gradually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58A914B-7E8D-42C0-B6AC-C348F329F2AF}"/>
              </a:ext>
            </a:extLst>
          </p:cNvPr>
          <p:cNvSpPr>
            <a:spLocks noGrp="1"/>
          </p:cNvSpPr>
          <p:nvPr/>
        </p:nvSpPr>
        <p:spPr>
          <a:xfrm>
            <a:off x="4476750" y="2924175"/>
            <a:ext cx="4143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Start with limited traffic and inspect results before deploying worldwide.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D34E5E6E-6B7A-4278-9272-46BB632436BE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Use a safer regex engine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11DF0F5A-64E6-44A9-89BE-BF5C861C3011}"/>
              </a:ext>
            </a:extLst>
          </p:cNvPr>
          <p:cNvSpPr>
            <a:spLocks noGrp="1"/>
          </p:cNvSpPr>
          <p:nvPr/>
        </p:nvSpPr>
        <p:spPr>
          <a:xfrm>
            <a:off x="4476750" y="3933825"/>
            <a:ext cx="414337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RE2 or Rust regex can provide runtime guarantees. Compatibility still needs testing.</a:t>
            </a: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11892B60-99D0-4091-A166-E8E5B2720868}"/>
              </a:ext>
            </a:extLst>
          </p:cNvPr>
          <p:cNvSpPr>
            <a:spLocks noGrp="1"/>
          </p:cNvSpPr>
          <p:nvPr/>
        </p:nvSpPr>
        <p:spPr>
          <a:xfrm>
            <a:off x="533400" y="4448175"/>
            <a:ext cx="8086725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9DACBC"/>
                </a:solidFill>
              </a:defRPr>
            </a:defPPr>
            <a:lvl1pPr>
              <a:defRPr sz="1275" b="0">
                <a:solidFill>
                  <a:srgbClr val="9DACBC"/>
                </a:solidFill>
              </a:defRPr>
            </a:lvl1pPr>
            <a:lvl2pPr>
              <a:defRPr sz="1275" b="0">
                <a:solidFill>
                  <a:srgbClr val="9DACBC"/>
                </a:solidFill>
              </a:defRPr>
            </a:lvl2pPr>
            <a:lvl3pPr>
              <a:defRPr sz="1275" b="0">
                <a:solidFill>
                  <a:srgbClr val="9DACBC"/>
                </a:solidFill>
              </a:defRPr>
            </a:lvl3pPr>
            <a:lvl4pPr>
              <a:defRPr sz="1275" b="0">
                <a:solidFill>
                  <a:srgbClr val="9DACBC"/>
                </a:solidFill>
              </a:defRPr>
            </a:lvl4pPr>
            <a:lvl5pPr>
              <a:defRPr sz="1275" b="0">
                <a:solidFill>
                  <a:srgbClr val="9DACBC"/>
                </a:solidFill>
              </a:defRPr>
            </a:lvl5pPr>
            <a:lvl6pPr>
              <a:defRPr sz="1275" b="0">
                <a:solidFill>
                  <a:srgbClr val="9DACBC"/>
                </a:solidFill>
              </a:defRPr>
            </a:lvl6pPr>
            <a:lvl7pPr>
              <a:defRPr sz="1275" b="0">
                <a:solidFill>
                  <a:srgbClr val="9DACBC"/>
                </a:solidFill>
              </a:defRPr>
            </a:lvl7pPr>
            <a:lvl8pPr>
              <a:defRPr sz="1275" b="0">
                <a:solidFill>
                  <a:srgbClr val="9DACBC"/>
                </a:solidFill>
              </a:defRPr>
            </a:lvl8pPr>
            <a:lvl9pPr>
              <a:defRPr sz="1275" b="0">
                <a:solidFill>
                  <a:srgbClr val="9DACBC"/>
                </a:solidFill>
              </a:defRPr>
            </a:lvl9pPr>
          </a:lstStyle>
          <a:p>
            <a:pPr>
              <a:defRPr sz="1275" b="0">
                <a:solidFill>
                  <a:srgbClr val="9DACBC"/>
                </a:solidFill>
              </a:defRPr>
            </a:pPr>
            <a:r>
              <a:rPr sz="1275" b="0">
                <a:solidFill>
                  <a:srgbClr val="9DACBC"/>
                </a:solidFill>
              </a:rPr>
              <a:t>RE2: for a fixed pattern, matching time scales linearly with input length.</a:t>
            </a:r>
          </a:p>
        </p:txBody>
      </p:sp>
    </p:spTree>
    <p:extLst>
      <p:ext uri="{BB962C8B-B14F-4D97-AF65-F5344CB8AC3E}">
        <p14:creationId xmlns:p14="http://schemas.microsoft.com/office/powerpoint/2010/main" val="52728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83D0D9FB-36B8-44F5-8A5C-7A982B6077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9156" cy="5143500"/>
          </a:xfrm>
          <a:prstGeom prst="rect">
            <a:avLst/>
          </a:prstGeom>
          <a:solidFill>
            <a:srgbClr val="189D9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68575" tIns="34275" rIns="68575" bIns="34275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53E47D08-664B-4137-AEB4-A599F7A9E9E0}"/>
              </a:ext>
            </a:extLst>
          </p:cNvPr>
          <p:cNvSpPr>
            <a:spLocks noGrp="1"/>
          </p:cNvSpPr>
          <p:nvPr/>
        </p:nvSpPr>
        <p:spPr>
          <a:xfrm>
            <a:off x="514350" y="352425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What this case teaches engineering teams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66669189-2C08-45D7-B423-745CE2C5E073}"/>
              </a:ext>
            </a:extLst>
          </p:cNvPr>
          <p:cNvSpPr>
            <a:spLocks noGrp="1"/>
          </p:cNvSpPr>
          <p:nvPr/>
        </p:nvSpPr>
        <p:spPr>
          <a:xfrm>
            <a:off x="533400" y="4829175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36BC5EB2-0231-4C8F-9875-1BFB9A7E62C5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6 / 6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9CC62B7D-8BF2-420E-9E04-BA2AA035FA4E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Maintenance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D963F4F2-B406-4659-B764-EF71D69E1FC2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2476500" cy="1619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Restore service first. Then improve the controls that keep the same failure from recurring.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AE53E213-61C9-4FFB-A6D7-30C351C770A2}"/>
              </a:ext>
            </a:extLst>
          </p:cNvPr>
          <p:cNvSpPr>
            <a:spLocks noGrp="1"/>
          </p:cNvSpPr>
          <p:nvPr/>
        </p:nvSpPr>
        <p:spPr>
          <a:xfrm>
            <a:off x="3286125" y="12001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Technical debt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B08A3C62-A12E-497D-8ED3-64D259D6F04F}"/>
              </a:ext>
            </a:extLst>
          </p:cNvPr>
          <p:cNvSpPr>
            <a:spLocks noGrp="1"/>
          </p:cNvSpPr>
          <p:nvPr/>
        </p:nvSpPr>
        <p:spPr>
          <a:xfrm>
            <a:off x="3286125" y="1762125"/>
            <a:ext cx="2476500" cy="1619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Shortcuts in testing and deployment can turn today’s speed into tomorrow’s outage costs.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FBC428DA-1B0E-4B2C-BDF8-ECD16BD6A8A0}"/>
              </a:ext>
            </a:extLst>
          </p:cNvPr>
          <p:cNvSpPr>
            <a:spLocks noGrp="1"/>
          </p:cNvSpPr>
          <p:nvPr/>
        </p:nvSpPr>
        <p:spPr>
          <a:xfrm>
            <a:off x="6038850" y="12001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Refactoring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EB45697B-EF0B-43C3-86C5-D2ACE319C32C}"/>
              </a:ext>
            </a:extLst>
          </p:cNvPr>
          <p:cNvSpPr>
            <a:spLocks noGrp="1"/>
          </p:cNvSpPr>
          <p:nvPr/>
        </p:nvSpPr>
        <p:spPr>
          <a:xfrm>
            <a:off x="6038850" y="1762125"/>
            <a:ext cx="2476500" cy="1619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Preserve safety limits as well as feature behavior. Test resource use, not only correct answers.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BA243B32-FCD7-4A31-91A1-D242E2CC30E5}"/>
              </a:ext>
            </a:extLst>
          </p:cNvPr>
          <p:cNvSpPr>
            <a:spLocks noGrp="1"/>
          </p:cNvSpPr>
          <p:nvPr/>
        </p:nvSpPr>
        <p:spPr>
          <a:xfrm>
            <a:off x="533400" y="3495675"/>
            <a:ext cx="80867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F7F9FC"/>
                </a:solidFill>
              </a:defRPr>
            </a:defPPr>
            <a:lvl1pPr>
              <a:defRPr sz="2550" b="1">
                <a:solidFill>
                  <a:srgbClr val="F7F9FC"/>
                </a:solidFill>
              </a:defRPr>
            </a:lvl1pPr>
            <a:lvl2pPr>
              <a:defRPr sz="2550" b="1">
                <a:solidFill>
                  <a:srgbClr val="F7F9FC"/>
                </a:solidFill>
              </a:defRPr>
            </a:lvl2pPr>
            <a:lvl3pPr>
              <a:defRPr sz="2550" b="1">
                <a:solidFill>
                  <a:srgbClr val="F7F9FC"/>
                </a:solidFill>
              </a:defRPr>
            </a:lvl3pPr>
            <a:lvl4pPr>
              <a:defRPr sz="2550" b="1">
                <a:solidFill>
                  <a:srgbClr val="F7F9FC"/>
                </a:solidFill>
              </a:defRPr>
            </a:lvl4pPr>
            <a:lvl5pPr>
              <a:defRPr sz="2550" b="1">
                <a:solidFill>
                  <a:srgbClr val="F7F9FC"/>
                </a:solidFill>
              </a:defRPr>
            </a:lvl5pPr>
            <a:lvl6pPr>
              <a:defRPr sz="2550" b="1">
                <a:solidFill>
                  <a:srgbClr val="F7F9FC"/>
                </a:solidFill>
              </a:defRPr>
            </a:lvl6pPr>
            <a:lvl7pPr>
              <a:defRPr sz="2550" b="1">
                <a:solidFill>
                  <a:srgbClr val="F7F9FC"/>
                </a:solidFill>
              </a:defRPr>
            </a:lvl7pPr>
            <a:lvl8pPr>
              <a:defRPr sz="2550" b="1">
                <a:solidFill>
                  <a:srgbClr val="F7F9FC"/>
                </a:solidFill>
              </a:defRPr>
            </a:lvl8pPr>
            <a:lvl9pPr>
              <a:defRPr sz="2550" b="1">
                <a:solidFill>
                  <a:srgbClr val="F7F9FC"/>
                </a:solidFill>
              </a:defRPr>
            </a:lvl9pPr>
          </a:lstStyle>
          <a:p>
            <a:pPr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Does “the same output” mean</a:t>
            </a:r>
          </a:p>
          <a:p>
            <a:pPr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“the same behavior” under load?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693EE9DB-80D1-4DC2-A3B4-3BF50F8A7B35}"/>
              </a:ext>
            </a:extLst>
          </p:cNvPr>
          <p:cNvSpPr>
            <a:spLocks noGrp="1"/>
          </p:cNvSpPr>
          <p:nvPr/>
        </p:nvSpPr>
        <p:spPr>
          <a:xfrm>
            <a:off x="533400" y="4524375"/>
            <a:ext cx="8086725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9DACBC"/>
                </a:solidFill>
              </a:defRPr>
            </a:defPPr>
            <a:lvl1pPr>
              <a:defRPr sz="1275" b="0">
                <a:solidFill>
                  <a:srgbClr val="9DACBC"/>
                </a:solidFill>
              </a:defRPr>
            </a:lvl1pPr>
            <a:lvl2pPr>
              <a:defRPr sz="1275" b="0">
                <a:solidFill>
                  <a:srgbClr val="9DACBC"/>
                </a:solidFill>
              </a:defRPr>
            </a:lvl2pPr>
            <a:lvl3pPr>
              <a:defRPr sz="1275" b="0">
                <a:solidFill>
                  <a:srgbClr val="9DACBC"/>
                </a:solidFill>
              </a:defRPr>
            </a:lvl3pPr>
            <a:lvl4pPr>
              <a:defRPr sz="1275" b="0">
                <a:solidFill>
                  <a:srgbClr val="9DACBC"/>
                </a:solidFill>
              </a:defRPr>
            </a:lvl4pPr>
            <a:lvl5pPr>
              <a:defRPr sz="1275" b="0">
                <a:solidFill>
                  <a:srgbClr val="9DACBC"/>
                </a:solidFill>
              </a:defRPr>
            </a:lvl5pPr>
            <a:lvl6pPr>
              <a:defRPr sz="1275" b="0">
                <a:solidFill>
                  <a:srgbClr val="9DACBC"/>
                </a:solidFill>
              </a:defRPr>
            </a:lvl6pPr>
            <a:lvl7pPr>
              <a:defRPr sz="1275" b="0">
                <a:solidFill>
                  <a:srgbClr val="9DACBC"/>
                </a:solidFill>
              </a:defRPr>
            </a:lvl7pPr>
            <a:lvl8pPr>
              <a:defRPr sz="1275" b="0">
                <a:solidFill>
                  <a:srgbClr val="9DACBC"/>
                </a:solidFill>
              </a:defRPr>
            </a:lvl8pPr>
            <a:lvl9pPr>
              <a:defRPr sz="1275" b="0">
                <a:solidFill>
                  <a:srgbClr val="9DACBC"/>
                </a:solidFill>
              </a:defRPr>
            </a:lvl9pPr>
          </a:lstStyle>
          <a:p>
            <a:pPr>
              <a:defRPr sz="1275" b="0">
                <a:solidFill>
                  <a:srgbClr val="9DACBC"/>
                </a:solidFill>
              </a:defRPr>
            </a:pPr>
            <a:r>
              <a:rPr sz="1275" b="0">
                <a:solidFill>
                  <a:srgbClr val="9DACBC"/>
                </a:solidFill>
              </a:rPr>
              <a:t>Test processing cost. Limit rollout exposure. Rehearse recovery without normal tools.</a:t>
            </a:r>
          </a:p>
        </p:txBody>
      </p:sp>
    </p:spTree>
    <p:extLst>
      <p:ext uri="{BB962C8B-B14F-4D97-AF65-F5344CB8AC3E}">
        <p14:creationId xmlns:p14="http://schemas.microsoft.com/office/powerpoint/2010/main" val="11891504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1859</Words>
  <Application>Microsoft Macintosh PowerPoint</Application>
  <DocSecurity>0</DocSecurity>
  <PresentationFormat>On-screen Show (16:9)</PresentationFormat>
  <Paragraphs>152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Eva Li</cp:lastModifiedBy>
  <cp:revision>1</cp:revision>
  <dcterms:created xsi:type="dcterms:W3CDTF">2026-10-27T17:25:38Z</dcterms:created>
  <dcterms:modified xsi:type="dcterms:W3CDTF">2026-10-27T17:36:09Z</dcterms:modified>
</cp:coreProperties>
</file>