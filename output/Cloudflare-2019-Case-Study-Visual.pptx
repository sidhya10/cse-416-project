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524489012d4dec" /><Relationship Type="http://schemas.openxmlformats.org/officeDocument/2006/relationships/extended-properties" Target="/docProps/app.xml" Id="Rf04043c0a9264e95" /><Relationship Type="http://schemas.openxmlformats.org/officeDocument/2006/relationships/officeDocument" Target="/ppt/presentation.xml" Id="R5e55bc0fba704e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6093b3fa324b15"/>
    <p:sldMasterId xmlns:r="http://schemas.openxmlformats.org/officeDocument/2006/relationships" id="2147483660" r:id="R85bfc5ccf38148e8"/>
  </p:sldMasterIdLst>
  <p:notesMasterIdLst>
    <p:notesMasterId xmlns:r="http://schemas.openxmlformats.org/officeDocument/2006/relationships" r:id="R4d4d6c4da7f44d81"/>
  </p:notesMasterIdLst>
  <p:sldIdLst>
    <p:sldId xmlns:r="http://schemas.openxmlformats.org/officeDocument/2006/relationships" id="256" r:id="Ra841aa4e692a4e01"/>
    <p:sldId xmlns:r="http://schemas.openxmlformats.org/officeDocument/2006/relationships" id="257" r:id="Ra232f7592cd040d6"/>
    <p:sldId xmlns:r="http://schemas.openxmlformats.org/officeDocument/2006/relationships" id="258" r:id="R7e18cef6e5c44e09"/>
    <p:sldId xmlns:r="http://schemas.openxmlformats.org/officeDocument/2006/relationships" id="259" r:id="Re96e7553a0b54b95"/>
    <p:sldId xmlns:r="http://schemas.openxmlformats.org/officeDocument/2006/relationships" id="260" r:id="R17d03b8296084a9f"/>
    <p:sldId xmlns:r="http://schemas.openxmlformats.org/officeDocument/2006/relationships" id="261" r:id="R204baf0de7a14920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d04eba8de94f93" /><Relationship Type="http://schemas.openxmlformats.org/officeDocument/2006/relationships/slideMaster" Target="/ppt/slideMasters/slideMaster1.xml" Id="R7c6093b3fa324b15" /><Relationship Type="http://schemas.openxmlformats.org/officeDocument/2006/relationships/slideMaster" Target="/ppt/slideMasters/slideMaster2.xml" Id="R85bfc5ccf38148e8" /><Relationship Type="http://schemas.openxmlformats.org/officeDocument/2006/relationships/notesMaster" Target="/ppt/notesMasters/notesMaster1.xml" Id="R4d4d6c4da7f44d81" /><Relationship Type="http://schemas.openxmlformats.org/officeDocument/2006/relationships/presProps" Target="/ppt/presProps.xml" Id="R818b930842a94906" /><Relationship Type="http://schemas.openxmlformats.org/officeDocument/2006/relationships/viewProps" Target="/ppt/viewProps.xml" Id="R47a91406b0bb4314" /><Relationship Type="http://schemas.openxmlformats.org/officeDocument/2006/relationships/tableStyles" Target="/ppt/tableStyles.xml" Id="R76a74d2868114561" /><Relationship Type="http://schemas.openxmlformats.org/officeDocument/2006/relationships/slide" Target="/ppt/slides/slide1.xml" Id="Ra841aa4e692a4e01" /><Relationship Type="http://schemas.openxmlformats.org/officeDocument/2006/relationships/slide" Target="/ppt/slides/slide2.xml" Id="Ra232f7592cd040d6" /><Relationship Type="http://schemas.openxmlformats.org/officeDocument/2006/relationships/slide" Target="/ppt/slides/slide3.xml" Id="R7e18cef6e5c44e09" /><Relationship Type="http://schemas.openxmlformats.org/officeDocument/2006/relationships/slide" Target="/ppt/slides/slide4.xml" Id="Re96e7553a0b54b95" /><Relationship Type="http://schemas.openxmlformats.org/officeDocument/2006/relationships/slide" Target="/ppt/slides/slide5.xml" Id="R17d03b8296084a9f" /><Relationship Type="http://schemas.openxmlformats.org/officeDocument/2006/relationships/slide" Target="/ppt/slides/slide6.xml" Id="R204baf0de7a149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c2c2c5d48f24b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1b3cc4f6d74259" /><Relationship Type="http://schemas.openxmlformats.org/officeDocument/2006/relationships/notesMaster" Target="/ppt/notesMasters/notesMaster1.xml" Id="R88cb75f600ed48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ee163ef5c04efb" /><Relationship Type="http://schemas.openxmlformats.org/officeDocument/2006/relationships/notesMaster" Target="/ppt/notesMasters/notesMaster1.xml" Id="R1f4c9bfa2e4045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a3895676d34a69" /><Relationship Type="http://schemas.openxmlformats.org/officeDocument/2006/relationships/notesMaster" Target="/ppt/notesMasters/notesMaster1.xml" Id="R945d8c31d50d40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9abdda08374884" /><Relationship Type="http://schemas.openxmlformats.org/officeDocument/2006/relationships/notesMaster" Target="/ppt/notesMasters/notesMaster1.xml" Id="R04cf88e2cc0f45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44e18893694741" /><Relationship Type="http://schemas.openxmlformats.org/officeDocument/2006/relationships/notesMaster" Target="/ppt/notesMasters/notesMaster1.xml" Id="R1e69271bb4bc4b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5aeb7f5a364a1d" /><Relationship Type="http://schemas.openxmlformats.org/officeDocument/2006/relationships/notesMaster" Target="/ppt/notesMasters/notesMaster1.xml" Id="Re25dac3b041d4d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the setup as an intermediary: a visitor’s request passes through Cloudflare before reaching the site. A 502 error means that intermediary could not obtain the response it needed. The 82% figure describes Cloudflare’s traffic drop, not 82% of the Internet.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 everyday example: a visitor may be unable to open a store or complete an online task. This is an illustration of availability impact, not a measured financial-loss claim.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Cloudflare sits between visitors and websites. Its servers deliver content and screen requests before they reach a website’s own server.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 July 2, a firewall rule update overloaded servers worldwide. Visitors saw “502 Bad Gateway” errors instead of web pages.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outage lasted 27 minutes. CPU usage reached 100%, and Cloudflare’s traffic fell 82% at its worst.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Why it mattered: one shared provider’s failure interrupted many customers at once, even when their own websites were otherwise healthy.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Image: Cloudflare, A Tour Inside Cloudflare’s G9 Servers (October 10, 2018). https://blog.cloudflare.com/a-tour-inside-cloudflares-g9-servers/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asset: https://blog.cloudflare.com/_emdash/api/media/file/01KW46RPEYCEAKMS3YKZM20Z6N.png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Read the pattern aloud as: any text, followed by any text, followed by an equals sign, then any text. This is a simplified fragment, not the complete deployed expression.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Illustrative example: when a candidate input lacks an equals sign, a backtracking matcher can repeatedly redistribute characters between the wildcard sections before deciding there is no match. A check can be logically correct yet too expensive to run on every request. Avoid calling this an infinite loop: the problem is excessive repeated work.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web application firewall (WAF) checks requests for suspicious content. This update targeted malicious JavaScript.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regular expression, or regex, is a text-search pattern. The simplified fragment .*.*=.* contains overlapping “match anything” sections.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Backtracking means retrying different ways to match the same text. Here, the repeated work consumed the CPU needed to serve requests.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“Simulate” mode only stopped the rule from blocking visitors. It still ran the expensive check on real traffic.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Case analysis: several defenses failed together. A useful test plan asks both “Does this rule classify traffic correctly?” and “Can we afford to execute it under load?”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staged rollout exposes a small traffic sample first. Teams watch errors and CPU before expanding it. That limits how many customers encounter an undetected defect.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debt connection is the accumulated risk in testing, deployment, and recovery procedures. The new regex triggered the incident, while existing weaknesses increased its severity.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Earlier refactoring accidentally removed a CPU safeguard. The effort to improve performance weakened a protection against costly rules.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Tests checked which requests to allow or block. They did not catch runaway CPU use, so passing tests gave incomplete reassurance.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rollout sent the rule worldwide without a limited trial. A local defect therefore became a global availability problem.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Recovery also depended on affected systems. Engineers struggled to access internal tools, making an emergency change harder.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times refer to July 2, 2019, in UTC. A rollback restores an earlier configuration or version. Disabling the affected component first removes the immediate load, giving the team room to investigate.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Make the two recovery milestones explicit: people could access websites again at 14:09, but the WAF returned at 14:52. Traffic recovery therefore does not mean every protection was already back. The detailed postmortem gives the 14:07 termination time and 14:00 diagnosis.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https://blog.cloudflare.com/cloudflare-outage/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13:42 UTC: the rule goes live. By 14:00, engineers identify the WAF as the source of CPU exhaustion.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14:07 UTC: they disable the WAF globally. By 14:09, CPU usage and traffic return to normal.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They roll back the faulty rule and test the fix. At 14:52 UTC, they restore the WAF worldwide.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tradeoff: websites recover before WAF inspection returns. Other security protections remain active during that interval.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Image: original CPU chart, Cloudflare engineering postmortem. https://blog.cloudflare.com/_emdash/api/media/file/01KW44G5FHMGT7B6C2NGNFWVW7.png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chart shows one location, not a separately measured global average.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first bullet describes work reported complete. The following actions were announced in the July 12 postmortem, so this slide does not claim they had all shipped by that date.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RE2 explanation: for a fixed pattern, work scales proportionally with input length instead of exploding through repeated retries. This does not mean every expression takes the same time. RE2 also restricts syntax: features such as backreferences and look-around are unsupported. A migration therefore needs compatibility tests.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https://github.com/google/re2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Completed by July 12: restored the CPU safeguard and inspected all 3,868 managed rules for similar problems.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Planned testing: profile each rule’s performance. That means measuring its processing cost, beyond whether it gives the right answer.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Planned rollout: release rules in stages. Planned engine change: use RE2 or Rust regex with runtime guarantees.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Why the engine matters: RE2 bounds matching time linearly in input length for a fixed pattern, avoiding unbounded backtracking.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the presentation’s conclusions from the case. Corrective maintenance addresses an existing defect. Preventive maintenance reduces the likelihood of future failures.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Refactoring changes a program’s internal structure while preserving external behavior. The case shows why a team must identify the protections that need to survive a code change. A proposed regression test could run difficult inputs and fail when a rule exceeds an agreed processing budget. This is a recommendation, not a claim about Cloudflare’s exact implementation.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question: If a change returns the same answers but makes the service unavailable under load, has it preserved the behavior users need?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Concept source: https://refactoring.com/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Case evidence: https://blog.cloudflare.com/details-of-the-cloudflare-outage-on-july-2-2019/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Presentation detail: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Maintenance includes keeping changes safe. Fixing the broken rule restores service, while stronger tests help prevent another failure.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Technical debt can live in processes too. Saving time on rollout or testing can create larger debugging and outage costs later.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Refactoring should preserve behavior. Teams also need regression tests for safety limits that ordinary feature tests may miss.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Practical takeaway: test correctness and resource use, expand releases gradually, and rehearse recovery when normal tools are unavailable.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d989e6ef748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d4e45676544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62b2eaa6f4e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5a663ee864eb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17edacc53246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6a11265cb479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7681720d9426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4deaee3cf44a2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82dffb7ea4b4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161fcc11a44a5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9e6af2849468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f4e480a8bc84c4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db09f39ae54c0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f856f1596c4ae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6359597ab9488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69e3fab9624f7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77715a1acf3431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41212db006494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e1e027315048a4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804b2bff8a44d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5cf1ae217d5497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b22e6a88c34e87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1DBF76A6-E7D2-471D-B830-32429652E37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E5A822B7-ECC4-4B1E-A898-FBDD797666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C0D249F6-92AF-4248-A4EF-203EA1122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0CF78C72-9B57-4D6E-B176-B199B80FFD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02D4A4CB-5C1F-4DB5-AFFF-63B0F5E1DE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BC4DEEFE-F3C1-4E2B-8DFF-5A72620384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51F2D044-A6A1-4FD7-AAC5-35464A6C4C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3C219DB9-D6F3-4F19-AE9F-BC7FEC9F78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7C351D77-650D-4C35-BAB4-87F6042CC1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577321CC-D77F-4756-8190-C73A397EF0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886B9A7D-7F51-4659-AC7A-DB03DAC1D8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8BDF4B95-3A2D-46E2-B0C9-497D1B6FE4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8D15B4F0-2F8C-4FDF-8A75-C78C0CB64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7D316778-65A9-4276-9371-442A12D887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54F75451-516A-48D3-B611-98DD27A15A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B21F1E27-CCAF-4BD4-AD23-D3EB5151BB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BF5F9220-160D-45E5-A1DE-F50753520C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9C3C1CEB-15D9-40A8-B6E2-5DF40449E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0A5E59FF-99F7-42DB-8D11-870BF0B373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69FD25FC-8B8F-41D3-A558-C7AE1D58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37FAD47B-205E-42B3-AAC7-39F652F1D8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1765499E-59CE-49F4-BC16-5A4A28602A8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085CC6B3-85BF-4E68-9055-D2FEDF149B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DC3153D5-3CD3-475C-B048-C55CC6CBC9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B1CA9F07-74FA-4B46-A28A-AFB881310F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FE65C115-9003-41EC-92BA-3D9E1EBB81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28C2E02A-7FCD-4805-9EEA-99E10A97C64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09DA680B-21CA-4345-B216-C76042BAF3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D1D66801-7DAF-4EF3-AD86-D017E7876C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D1554BA4-7261-4683-8020-C57E6A1FD5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4">
            <a:extLst xmlns:a="http://schemas.openxmlformats.org/drawingml/2006/main">
              <a:ext uri="{FF2B5EF4-FFF2-40B4-BE49-F238E27FC236}">
                <a16:creationId xmlns:a16="http://schemas.microsoft.com/office/drawing/2014/main" id="{43145B99-D6CF-498D-899E-3D68550B74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8" name="Google Shape;58;p14">
            <a:extLst xmlns:a="http://schemas.openxmlformats.org/drawingml/2006/main">
              <a:ext uri="{FF2B5EF4-FFF2-40B4-BE49-F238E27FC236}">
                <a16:creationId xmlns:a16="http://schemas.microsoft.com/office/drawing/2014/main" id="{1967EECE-ED64-465F-8A12-324B2CA21F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4">
            <a:extLst xmlns:a="http://schemas.openxmlformats.org/drawingml/2006/main">
              <a:ext uri="{FF2B5EF4-FFF2-40B4-BE49-F238E27FC236}">
                <a16:creationId xmlns:a16="http://schemas.microsoft.com/office/drawing/2014/main" id="{DD12850B-30AD-4A2A-AEB7-8F641AD2F4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5">
            <a:extLst xmlns:a="http://schemas.openxmlformats.org/drawingml/2006/main">
              <a:ext uri="{FF2B5EF4-FFF2-40B4-BE49-F238E27FC236}">
                <a16:creationId xmlns:a16="http://schemas.microsoft.com/office/drawing/2014/main" id="{08DB5432-B0B4-4B00-BB52-BC5275C6DE4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14364" y="1597819"/>
            <a:ext cx="5829455" cy="11025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B9CBC5D6-B22F-4715-8398-4BDD2CB329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28727" y="2914650"/>
            <a:ext cx="480072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3" name="Google Shape;63;p15">
            <a:extLst xmlns:a="http://schemas.openxmlformats.org/drawingml/2006/main">
              <a:ext uri="{FF2B5EF4-FFF2-40B4-BE49-F238E27FC236}">
                <a16:creationId xmlns:a16="http://schemas.microsoft.com/office/drawing/2014/main" id="{31826811-9344-412B-9F53-529AAF345A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5">
            <a:extLst xmlns:a="http://schemas.openxmlformats.org/drawingml/2006/main">
              <a:ext uri="{FF2B5EF4-FFF2-40B4-BE49-F238E27FC236}">
                <a16:creationId xmlns:a16="http://schemas.microsoft.com/office/drawing/2014/main" id="{5516ECAF-2EF6-46EF-B5C6-21D535A2CA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5" name="Google Shape;65;p15">
            <a:extLst xmlns:a="http://schemas.openxmlformats.org/drawingml/2006/main">
              <a:ext uri="{FF2B5EF4-FFF2-40B4-BE49-F238E27FC236}">
                <a16:creationId xmlns:a16="http://schemas.microsoft.com/office/drawing/2014/main" id="{B1678455-3D97-43A1-B0F0-C804D57E5A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6">
            <a:extLst xmlns:a="http://schemas.openxmlformats.org/drawingml/2006/main">
              <a:ext uri="{FF2B5EF4-FFF2-40B4-BE49-F238E27FC236}">
                <a16:creationId xmlns:a16="http://schemas.microsoft.com/office/drawing/2014/main" id="{A83B252E-2AE6-41DF-AA77-4C2CC36FB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6D0AA315-7A00-4C09-A9D0-FB5500160A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6172365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3075F3F2-3883-412C-9881-25820CE150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4568A37F-A757-4223-B052-7EAB143352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1" name="Google Shape;71;p16">
            <a:extLst xmlns:a="http://schemas.openxmlformats.org/drawingml/2006/main">
              <a:ext uri="{FF2B5EF4-FFF2-40B4-BE49-F238E27FC236}">
                <a16:creationId xmlns:a16="http://schemas.microsoft.com/office/drawing/2014/main" id="{FCCA3380-B471-4ADA-8899-7BEE733F25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17">
            <a:extLst xmlns:a="http://schemas.openxmlformats.org/drawingml/2006/main">
              <a:ext uri="{FF2B5EF4-FFF2-40B4-BE49-F238E27FC236}">
                <a16:creationId xmlns:a16="http://schemas.microsoft.com/office/drawing/2014/main" id="{F7AFA3AE-B225-4E96-9C80-3D334F97CF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1749" y="3305175"/>
            <a:ext cx="5829455" cy="1021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4" name="Google Shape;74;p17">
            <a:extLst xmlns:a="http://schemas.openxmlformats.org/drawingml/2006/main">
              <a:ext uri="{FF2B5EF4-FFF2-40B4-BE49-F238E27FC236}">
                <a16:creationId xmlns:a16="http://schemas.microsoft.com/office/drawing/2014/main" id="{02AD6477-B245-464B-92EE-D55653B5D9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41749" y="2180035"/>
            <a:ext cx="5829455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5" name="Google Shape;75;p17">
            <a:extLst xmlns:a="http://schemas.openxmlformats.org/drawingml/2006/main">
              <a:ext uri="{FF2B5EF4-FFF2-40B4-BE49-F238E27FC236}">
                <a16:creationId xmlns:a16="http://schemas.microsoft.com/office/drawing/2014/main" id="{9E3BA603-D8D2-4DD4-9518-91C715BBC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7">
            <a:extLst xmlns:a="http://schemas.openxmlformats.org/drawingml/2006/main">
              <a:ext uri="{FF2B5EF4-FFF2-40B4-BE49-F238E27FC236}">
                <a16:creationId xmlns:a16="http://schemas.microsoft.com/office/drawing/2014/main" id="{7B2F198C-F4B0-4BE7-82E7-86A5E02547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7" name="Google Shape;77;p17">
            <a:extLst xmlns:a="http://schemas.openxmlformats.org/drawingml/2006/main">
              <a:ext uri="{FF2B5EF4-FFF2-40B4-BE49-F238E27FC236}">
                <a16:creationId xmlns:a16="http://schemas.microsoft.com/office/drawing/2014/main" id="{9984B88A-8543-4167-BAF7-0FAC1A84BC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18">
            <a:extLst xmlns:a="http://schemas.openxmlformats.org/drawingml/2006/main">
              <a:ext uri="{FF2B5EF4-FFF2-40B4-BE49-F238E27FC236}">
                <a16:creationId xmlns:a16="http://schemas.microsoft.com/office/drawing/2014/main" id="{84F360A3-4E43-4DF4-BEB1-3B200D482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0" name="Google Shape;80;p18">
            <a:extLst xmlns:a="http://schemas.openxmlformats.org/drawingml/2006/main">
              <a:ext uri="{FF2B5EF4-FFF2-40B4-BE49-F238E27FC236}">
                <a16:creationId xmlns:a16="http://schemas.microsoft.com/office/drawing/2014/main" id="{27E3E39E-8C4A-4D32-A0D9-70890466CC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3029031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 xmlns:a="http://schemas.openxmlformats.org/drawingml/2006/main"/>
        </p:txBody>
      </p:sp>
      <p:sp>
        <p:nvSpPr>
          <p:cNvPr id="81" name="Google Shape;81;p18">
            <a:extLst xmlns:a="http://schemas.openxmlformats.org/drawingml/2006/main">
              <a:ext uri="{FF2B5EF4-FFF2-40B4-BE49-F238E27FC236}">
                <a16:creationId xmlns:a16="http://schemas.microsoft.com/office/drawing/2014/main" id="{50636CCF-E785-40B8-BECA-22B8795766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86243" y="1200150"/>
            <a:ext cx="3029031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 xmlns:a="http://schemas.openxmlformats.org/drawingml/2006/main"/>
        </p:txBody>
      </p:sp>
      <p:sp>
        <p:nvSpPr>
          <p:cNvPr id="82" name="Google Shape;82;p18">
            <a:extLst xmlns:a="http://schemas.openxmlformats.org/drawingml/2006/main">
              <a:ext uri="{FF2B5EF4-FFF2-40B4-BE49-F238E27FC236}">
                <a16:creationId xmlns:a16="http://schemas.microsoft.com/office/drawing/2014/main" id="{8206F119-D792-4E9A-99AE-E122FFC3B5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3" name="Google Shape;83;p18">
            <a:extLst xmlns:a="http://schemas.openxmlformats.org/drawingml/2006/main">
              <a:ext uri="{FF2B5EF4-FFF2-40B4-BE49-F238E27FC236}">
                <a16:creationId xmlns:a16="http://schemas.microsoft.com/office/drawing/2014/main" id="{46802ACF-571C-4DD8-BD95-DDB41F0728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4" name="Google Shape;84;p18">
            <a:extLst xmlns:a="http://schemas.openxmlformats.org/drawingml/2006/main">
              <a:ext uri="{FF2B5EF4-FFF2-40B4-BE49-F238E27FC236}">
                <a16:creationId xmlns:a16="http://schemas.microsoft.com/office/drawing/2014/main" id="{1AFD0D8B-284A-4D31-804A-4FFD78B542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Google Shape;86;p19">
            <a:extLst xmlns:a="http://schemas.openxmlformats.org/drawingml/2006/main">
              <a:ext uri="{FF2B5EF4-FFF2-40B4-BE49-F238E27FC236}">
                <a16:creationId xmlns:a16="http://schemas.microsoft.com/office/drawing/2014/main" id="{1F91341F-BBDC-4587-A0A9-FA7C1FAA82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87" name="Google Shape;87;p19">
            <a:extLst xmlns:a="http://schemas.openxmlformats.org/drawingml/2006/main">
              <a:ext uri="{FF2B5EF4-FFF2-40B4-BE49-F238E27FC236}">
                <a16:creationId xmlns:a16="http://schemas.microsoft.com/office/drawing/2014/main" id="{444CDE19-26A4-40CA-8864-3B9D6BF5AC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151335"/>
            <a:ext cx="3030222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88" name="Google Shape;88;p19">
            <a:extLst xmlns:a="http://schemas.openxmlformats.org/drawingml/2006/main">
              <a:ext uri="{FF2B5EF4-FFF2-40B4-BE49-F238E27FC236}">
                <a16:creationId xmlns:a16="http://schemas.microsoft.com/office/drawing/2014/main" id="{7725B640-C6CB-4E7A-BDBF-396F05DDFD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2909" y="1631156"/>
            <a:ext cx="3030222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89" name="Google Shape;89;p19">
            <a:extLst xmlns:a="http://schemas.openxmlformats.org/drawingml/2006/main">
              <a:ext uri="{FF2B5EF4-FFF2-40B4-BE49-F238E27FC236}">
                <a16:creationId xmlns:a16="http://schemas.microsoft.com/office/drawing/2014/main" id="{18DF8F34-830D-4033-8C92-1B243233B87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3483862" y="1151335"/>
            <a:ext cx="3031412" cy="4798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90" name="Google Shape;90;p19">
            <a:extLst xmlns:a="http://schemas.openxmlformats.org/drawingml/2006/main">
              <a:ext uri="{FF2B5EF4-FFF2-40B4-BE49-F238E27FC236}">
                <a16:creationId xmlns:a16="http://schemas.microsoft.com/office/drawing/2014/main" id="{6E8CC8CC-801B-4793-9F90-1D4DE0CA33F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483862" y="1631156"/>
            <a:ext cx="3031412" cy="2963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 xmlns:a="http://schemas.openxmlformats.org/drawingml/2006/main"/>
        </p:txBody>
      </p:sp>
      <p:sp>
        <p:nvSpPr>
          <p:cNvPr id="91" name="Google Shape;91;p19">
            <a:extLst xmlns:a="http://schemas.openxmlformats.org/drawingml/2006/main">
              <a:ext uri="{FF2B5EF4-FFF2-40B4-BE49-F238E27FC236}">
                <a16:creationId xmlns:a16="http://schemas.microsoft.com/office/drawing/2014/main" id="{50BC3EBA-33D7-45DD-A199-D714C8FD4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2" name="Google Shape;92;p19">
            <a:extLst xmlns:a="http://schemas.openxmlformats.org/drawingml/2006/main">
              <a:ext uri="{FF2B5EF4-FFF2-40B4-BE49-F238E27FC236}">
                <a16:creationId xmlns:a16="http://schemas.microsoft.com/office/drawing/2014/main" id="{111C725B-9BDC-4E5B-8D0A-5000A64F54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3" name="Google Shape;93;p19">
            <a:extLst xmlns:a="http://schemas.openxmlformats.org/drawingml/2006/main">
              <a:ext uri="{FF2B5EF4-FFF2-40B4-BE49-F238E27FC236}">
                <a16:creationId xmlns:a16="http://schemas.microsoft.com/office/drawing/2014/main" id="{F67A45EB-8A33-45A8-AD31-7CA0980987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Google Shape;95;p20">
            <a:extLst xmlns:a="http://schemas.openxmlformats.org/drawingml/2006/main">
              <a:ext uri="{FF2B5EF4-FFF2-40B4-BE49-F238E27FC236}">
                <a16:creationId xmlns:a16="http://schemas.microsoft.com/office/drawing/2014/main" id="{DD8A6062-DBF1-479D-A36A-E5AD2FBC6F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6" name="Google Shape;96;p20">
            <a:extLst xmlns:a="http://schemas.openxmlformats.org/drawingml/2006/main">
              <a:ext uri="{FF2B5EF4-FFF2-40B4-BE49-F238E27FC236}">
                <a16:creationId xmlns:a16="http://schemas.microsoft.com/office/drawing/2014/main" id="{4D2095A2-8F8A-4302-AD86-488EE96C55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7" name="Google Shape;97;p20">
            <a:extLst xmlns:a="http://schemas.openxmlformats.org/drawingml/2006/main">
              <a:ext uri="{FF2B5EF4-FFF2-40B4-BE49-F238E27FC236}">
                <a16:creationId xmlns:a16="http://schemas.microsoft.com/office/drawing/2014/main" id="{82662BB3-8881-47D2-AE09-F090E868AA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98" name="Google Shape;98;p20">
            <a:extLst xmlns:a="http://schemas.openxmlformats.org/drawingml/2006/main">
              <a:ext uri="{FF2B5EF4-FFF2-40B4-BE49-F238E27FC236}">
                <a16:creationId xmlns:a16="http://schemas.microsoft.com/office/drawing/2014/main" id="{3EE596EC-DF93-4C93-8E3B-BADD0339C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21">
            <a:extLst xmlns:a="http://schemas.openxmlformats.org/drawingml/2006/main">
              <a:ext uri="{FF2B5EF4-FFF2-40B4-BE49-F238E27FC236}">
                <a16:creationId xmlns:a16="http://schemas.microsoft.com/office/drawing/2014/main" id="{2E75F723-EA7F-4F3B-BB02-7D3660B737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4788"/>
            <a:ext cx="2256295" cy="871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1" name="Google Shape;101;p21">
            <a:extLst xmlns:a="http://schemas.openxmlformats.org/drawingml/2006/main">
              <a:ext uri="{FF2B5EF4-FFF2-40B4-BE49-F238E27FC236}">
                <a16:creationId xmlns:a16="http://schemas.microsoft.com/office/drawing/2014/main" id="{89430275-861B-432F-84FF-4F1C5986A6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81359" y="204788"/>
            <a:ext cx="3833915" cy="43898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102" name="Google Shape;102;p21">
            <a:extLst xmlns:a="http://schemas.openxmlformats.org/drawingml/2006/main">
              <a:ext uri="{FF2B5EF4-FFF2-40B4-BE49-F238E27FC236}">
                <a16:creationId xmlns:a16="http://schemas.microsoft.com/office/drawing/2014/main" id="{91E06565-2718-4A60-A6A1-A6CDE49920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2909" y="1076325"/>
            <a:ext cx="2256295" cy="35182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 xmlns:a="http://schemas.openxmlformats.org/drawingml/2006/main"/>
        </p:txBody>
      </p:sp>
      <p:sp>
        <p:nvSpPr>
          <p:cNvPr id="103" name="Google Shape;103;p21">
            <a:extLst xmlns:a="http://schemas.openxmlformats.org/drawingml/2006/main">
              <a:ext uri="{FF2B5EF4-FFF2-40B4-BE49-F238E27FC236}">
                <a16:creationId xmlns:a16="http://schemas.microsoft.com/office/drawing/2014/main" id="{369EDA4B-08CA-4FA8-B171-F4996BF9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4" name="Google Shape;104;p21">
            <a:extLst xmlns:a="http://schemas.openxmlformats.org/drawingml/2006/main">
              <a:ext uri="{FF2B5EF4-FFF2-40B4-BE49-F238E27FC236}">
                <a16:creationId xmlns:a16="http://schemas.microsoft.com/office/drawing/2014/main" id="{B29CECB4-33CC-4776-8131-00D3C9BBC6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5" name="Google Shape;105;p21">
            <a:extLst xmlns:a="http://schemas.openxmlformats.org/drawingml/2006/main">
              <a:ext uri="{FF2B5EF4-FFF2-40B4-BE49-F238E27FC236}">
                <a16:creationId xmlns:a16="http://schemas.microsoft.com/office/drawing/2014/main" id="{72913679-7AA5-46FA-9830-F9F8B35DB6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22">
            <a:extLst xmlns:a="http://schemas.openxmlformats.org/drawingml/2006/main">
              <a:ext uri="{FF2B5EF4-FFF2-40B4-BE49-F238E27FC236}">
                <a16:creationId xmlns:a16="http://schemas.microsoft.com/office/drawing/2014/main" id="{C6E77CFC-27D5-4253-86A7-73CF776B7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44252" y="3600450"/>
            <a:ext cx="4114910" cy="425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08" name="Google Shape;108;p22">
            <a:extLst xmlns:a="http://schemas.openxmlformats.org/drawingml/2006/main">
              <a:ext uri="{FF2B5EF4-FFF2-40B4-BE49-F238E27FC236}">
                <a16:creationId xmlns:a16="http://schemas.microsoft.com/office/drawing/2014/main" id="{FCDC3D89-F335-49D8-ABD9-7B9264B0D22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344252" y="459581"/>
            <a:ext cx="411491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9" name="Google Shape;109;p22">
            <a:extLst xmlns:a="http://schemas.openxmlformats.org/drawingml/2006/main">
              <a:ext uri="{FF2B5EF4-FFF2-40B4-BE49-F238E27FC236}">
                <a16:creationId xmlns:a16="http://schemas.microsoft.com/office/drawing/2014/main" id="{F674F3FB-592A-4E67-9D07-AD32DB515A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344252" y="4025503"/>
            <a:ext cx="4114910" cy="6036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 xmlns:a="http://schemas.openxmlformats.org/drawingml/2006/main"/>
        </p:txBody>
      </p:sp>
      <p:sp>
        <p:nvSpPr>
          <p:cNvPr id="110" name="Google Shape;110;p22">
            <a:extLst xmlns:a="http://schemas.openxmlformats.org/drawingml/2006/main">
              <a:ext uri="{FF2B5EF4-FFF2-40B4-BE49-F238E27FC236}">
                <a16:creationId xmlns:a16="http://schemas.microsoft.com/office/drawing/2014/main" id="{4DC1E15F-6059-4DB5-A571-41D88635B4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1" name="Google Shape;111;p22">
            <a:extLst xmlns:a="http://schemas.openxmlformats.org/drawingml/2006/main">
              <a:ext uri="{FF2B5EF4-FFF2-40B4-BE49-F238E27FC236}">
                <a16:creationId xmlns:a16="http://schemas.microsoft.com/office/drawing/2014/main" id="{2E774CB5-0221-4061-A7D1-EC71E59C78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2" name="Google Shape;112;p22">
            <a:extLst xmlns:a="http://schemas.openxmlformats.org/drawingml/2006/main">
              <a:ext uri="{FF2B5EF4-FFF2-40B4-BE49-F238E27FC236}">
                <a16:creationId xmlns:a16="http://schemas.microsoft.com/office/drawing/2014/main" id="{C8D50C75-1AB6-4A6A-B3EF-FCBC4AA537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23">
            <a:extLst xmlns:a="http://schemas.openxmlformats.org/drawingml/2006/main">
              <a:ext uri="{FF2B5EF4-FFF2-40B4-BE49-F238E27FC236}">
                <a16:creationId xmlns:a16="http://schemas.microsoft.com/office/drawing/2014/main" id="{EB89D84C-685B-45DE-B178-533F6400D1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5" name="Google Shape;115;p23">
            <a:extLst xmlns:a="http://schemas.openxmlformats.org/drawingml/2006/main">
              <a:ext uri="{FF2B5EF4-FFF2-40B4-BE49-F238E27FC236}">
                <a16:creationId xmlns:a16="http://schemas.microsoft.com/office/drawing/2014/main" id="{A3BDB942-8FF8-4FB8-A4AE-4AF5084D84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31855" y="-188796"/>
            <a:ext cx="3394472" cy="6172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16" name="Google Shape;116;p23">
            <a:extLst xmlns:a="http://schemas.openxmlformats.org/drawingml/2006/main">
              <a:ext uri="{FF2B5EF4-FFF2-40B4-BE49-F238E27FC236}">
                <a16:creationId xmlns:a16="http://schemas.microsoft.com/office/drawing/2014/main" id="{C53E58B4-D9BD-49E7-BA07-5D36DF1267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7" name="Google Shape;117;p23">
            <a:extLst xmlns:a="http://schemas.openxmlformats.org/drawingml/2006/main">
              <a:ext uri="{FF2B5EF4-FFF2-40B4-BE49-F238E27FC236}">
                <a16:creationId xmlns:a16="http://schemas.microsoft.com/office/drawing/2014/main" id="{7C1CE093-86DF-452D-BC36-A908017B11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18" name="Google Shape;118;p23">
            <a:extLst xmlns:a="http://schemas.openxmlformats.org/drawingml/2006/main">
              <a:ext uri="{FF2B5EF4-FFF2-40B4-BE49-F238E27FC236}">
                <a16:creationId xmlns:a16="http://schemas.microsoft.com/office/drawing/2014/main" id="{FC8462B7-6771-4776-85B1-E73D14411E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Google Shape;120;p24">
            <a:extLst xmlns:a="http://schemas.openxmlformats.org/drawingml/2006/main">
              <a:ext uri="{FF2B5EF4-FFF2-40B4-BE49-F238E27FC236}">
                <a16:creationId xmlns:a16="http://schemas.microsoft.com/office/drawing/2014/main" id="{C57C54C2-46B2-48AF-8C6E-249429A845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3549406" y="1628755"/>
            <a:ext cx="4388644" cy="15430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1" name="Google Shape;121;p24">
            <a:extLst xmlns:a="http://schemas.openxmlformats.org/drawingml/2006/main">
              <a:ext uri="{FF2B5EF4-FFF2-40B4-BE49-F238E27FC236}">
                <a16:creationId xmlns:a16="http://schemas.microsoft.com/office/drawing/2014/main" id="{893CA174-3162-47DB-8949-94857F0D66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406072" y="142815"/>
            <a:ext cx="4388644" cy="4514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22" name="Google Shape;122;p24">
            <a:extLst xmlns:a="http://schemas.openxmlformats.org/drawingml/2006/main">
              <a:ext uri="{FF2B5EF4-FFF2-40B4-BE49-F238E27FC236}">
                <a16:creationId xmlns:a16="http://schemas.microsoft.com/office/drawing/2014/main" id="{281A6F0E-DBA4-44D6-8C56-B681052BB6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3" name="Google Shape;123;p24">
            <a:extLst xmlns:a="http://schemas.openxmlformats.org/drawingml/2006/main">
              <a:ext uri="{FF2B5EF4-FFF2-40B4-BE49-F238E27FC236}">
                <a16:creationId xmlns:a16="http://schemas.microsoft.com/office/drawing/2014/main" id="{AADBFD7F-B745-429E-9F37-265648F3A0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24" name="Google Shape;124;p24">
            <a:extLst xmlns:a="http://schemas.openxmlformats.org/drawingml/2006/main">
              <a:ext uri="{FF2B5EF4-FFF2-40B4-BE49-F238E27FC236}">
                <a16:creationId xmlns:a16="http://schemas.microsoft.com/office/drawing/2014/main" id="{07793A97-6C76-4E11-BAF7-CCCC6B1419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2dc925037042cd" /><Relationship Type="http://schemas.openxmlformats.org/officeDocument/2006/relationships/slideLayout" Target="/ppt/slideLayouts/slideLayout1.xml" Id="R1ee4dc59c2d6414a" /><Relationship Type="http://schemas.openxmlformats.org/officeDocument/2006/relationships/slideLayout" Target="/ppt/slideLayouts/slideLayout2.xml" Id="Ra9e1901ae60f4a2a" /><Relationship Type="http://schemas.openxmlformats.org/officeDocument/2006/relationships/slideLayout" Target="/ppt/slideLayouts/slideLayout3.xml" Id="Rabc204077e5c445e" /><Relationship Type="http://schemas.openxmlformats.org/officeDocument/2006/relationships/slideLayout" Target="/ppt/slideLayouts/slideLayout4.xml" Id="R6b4d224c992841f6" /><Relationship Type="http://schemas.openxmlformats.org/officeDocument/2006/relationships/slideLayout" Target="/ppt/slideLayouts/slideLayout5.xml" Id="R0616c8d8f05b4c2f" /><Relationship Type="http://schemas.openxmlformats.org/officeDocument/2006/relationships/slideLayout" Target="/ppt/slideLayouts/slideLayout6.xml" Id="Rc229bee26ecb4e27" /><Relationship Type="http://schemas.openxmlformats.org/officeDocument/2006/relationships/slideLayout" Target="/ppt/slideLayouts/slideLayout7.xml" Id="R52f6e5d6af174225" /><Relationship Type="http://schemas.openxmlformats.org/officeDocument/2006/relationships/slideLayout" Target="/ppt/slideLayouts/slideLayout8.xml" Id="Rc7b588bfa82146a1" /><Relationship Type="http://schemas.openxmlformats.org/officeDocument/2006/relationships/slideLayout" Target="/ppt/slideLayouts/slideLayout9.xml" Id="R587e6e6daf0f47b0" /><Relationship Type="http://schemas.openxmlformats.org/officeDocument/2006/relationships/slideLayout" Target="/ppt/slideLayouts/slideLayout10.xml" Id="Rfbbb8ffedee443c6" /><Relationship Type="http://schemas.openxmlformats.org/officeDocument/2006/relationships/slideLayout" Target="/ppt/slideLayouts/slideLayout11.xml" Id="Rc2638fdff138413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edb9779cd2d446d" /><Relationship Type="http://schemas.openxmlformats.org/officeDocument/2006/relationships/slideLayout" Target="/ppt/slideLayouts/slideLayout12.xml" Id="Ra76beca594ef43ac" /><Relationship Type="http://schemas.openxmlformats.org/officeDocument/2006/relationships/slideLayout" Target="/ppt/slideLayouts/slideLayout13.xml" Id="R7545c212acdf4ad5" /><Relationship Type="http://schemas.openxmlformats.org/officeDocument/2006/relationships/slideLayout" Target="/ppt/slideLayouts/slideLayout14.xml" Id="Rdb89708c0a764db7" /><Relationship Type="http://schemas.openxmlformats.org/officeDocument/2006/relationships/slideLayout" Target="/ppt/slideLayouts/slideLayout15.xml" Id="Rf80a999eeee34383" /><Relationship Type="http://schemas.openxmlformats.org/officeDocument/2006/relationships/slideLayout" Target="/ppt/slideLayouts/slideLayout16.xml" Id="Rf99613fc71f64438" /><Relationship Type="http://schemas.openxmlformats.org/officeDocument/2006/relationships/slideLayout" Target="/ppt/slideLayouts/slideLayout17.xml" Id="R906297b915764c8f" /><Relationship Type="http://schemas.openxmlformats.org/officeDocument/2006/relationships/slideLayout" Target="/ppt/slideLayouts/slideLayout18.xml" Id="R6452970f065348a3" /><Relationship Type="http://schemas.openxmlformats.org/officeDocument/2006/relationships/slideLayout" Target="/ppt/slideLayouts/slideLayout19.xml" Id="R3aebda61a95e45ba" /><Relationship Type="http://schemas.openxmlformats.org/officeDocument/2006/relationships/slideLayout" Target="/ppt/slideLayouts/slideLayout20.xml" Id="Rc35a2df04fe94f59" /><Relationship Type="http://schemas.openxmlformats.org/officeDocument/2006/relationships/slideLayout" Target="/ppt/slideLayouts/slideLayout21.xml" Id="Rf0586cb7949f4c6f" /><Relationship Type="http://schemas.openxmlformats.org/officeDocument/2006/relationships/slideLayout" Target="/ppt/slideLayouts/slideLayout22.xml" Id="Rc00ff74304664e5e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3F00E5AE-AF6C-49EA-A26D-2860C56ED1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204BD63-A697-4A52-AA47-0C7C88FDEA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F25F209E-3CC9-48B5-A9E2-4AE40FEE3D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e4dc59c2d6414a"/>
    <p:sldLayoutId xmlns:r="http://schemas.openxmlformats.org/officeDocument/2006/relationships" id="2147483650" r:id="Ra9e1901ae60f4a2a"/>
    <p:sldLayoutId xmlns:r="http://schemas.openxmlformats.org/officeDocument/2006/relationships" id="2147483651" r:id="Rabc204077e5c445e"/>
    <p:sldLayoutId xmlns:r="http://schemas.openxmlformats.org/officeDocument/2006/relationships" id="2147483652" r:id="R6b4d224c992841f6"/>
    <p:sldLayoutId xmlns:r="http://schemas.openxmlformats.org/officeDocument/2006/relationships" id="2147483653" r:id="R0616c8d8f05b4c2f"/>
    <p:sldLayoutId xmlns:r="http://schemas.openxmlformats.org/officeDocument/2006/relationships" id="2147483654" r:id="Rc229bee26ecb4e27"/>
    <p:sldLayoutId xmlns:r="http://schemas.openxmlformats.org/officeDocument/2006/relationships" id="2147483655" r:id="R52f6e5d6af174225"/>
    <p:sldLayoutId xmlns:r="http://schemas.openxmlformats.org/officeDocument/2006/relationships" id="2147483656" r:id="Rc7b588bfa82146a1"/>
    <p:sldLayoutId xmlns:r="http://schemas.openxmlformats.org/officeDocument/2006/relationships" id="2147483657" r:id="R587e6e6daf0f47b0"/>
    <p:sldLayoutId xmlns:r="http://schemas.openxmlformats.org/officeDocument/2006/relationships" id="2147483658" r:id="Rfbbb8ffedee443c6"/>
    <p:sldLayoutId xmlns:r="http://schemas.openxmlformats.org/officeDocument/2006/relationships" id="2147483659" r:id="Rc2638fdff138413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3">
            <a:extLst xmlns:a="http://schemas.openxmlformats.org/drawingml/2006/main">
              <a:ext uri="{FF2B5EF4-FFF2-40B4-BE49-F238E27FC236}">
                <a16:creationId xmlns:a16="http://schemas.microsoft.com/office/drawing/2014/main" id="{E3C64CE1-FC7D-46E2-ACCF-D88686751F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2909" y="205978"/>
            <a:ext cx="617236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52" name="Google Shape;52;p13">
            <a:extLst xmlns:a="http://schemas.openxmlformats.org/drawingml/2006/main">
              <a:ext uri="{FF2B5EF4-FFF2-40B4-BE49-F238E27FC236}">
                <a16:creationId xmlns:a16="http://schemas.microsoft.com/office/drawing/2014/main" id="{C0FEF5C9-E3EB-4F40-91CA-9D76678EF9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42909" y="1200150"/>
            <a:ext cx="6172365" cy="3394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3" name="Google Shape;53;p13">
            <a:extLst xmlns:a="http://schemas.openxmlformats.org/drawingml/2006/main">
              <a:ext uri="{FF2B5EF4-FFF2-40B4-BE49-F238E27FC236}">
                <a16:creationId xmlns:a16="http://schemas.microsoft.com/office/drawing/2014/main" id="{993BE664-F5AF-4C5A-AA77-9C74B0BCA3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42909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85EAC371-6A0A-4BAB-9270-68841D979D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343212" y="4767263"/>
            <a:ext cx="2171758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E3FADF8E-48ED-4D6D-8A84-92FF045FC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915031" y="4767263"/>
            <a:ext cx="1600243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76beca594ef43ac"/>
    <p:sldLayoutId xmlns:r="http://schemas.openxmlformats.org/officeDocument/2006/relationships" id="2147483662" r:id="R7545c212acdf4ad5"/>
    <p:sldLayoutId xmlns:r="http://schemas.openxmlformats.org/officeDocument/2006/relationships" id="2147483663" r:id="Rdb89708c0a764db7"/>
    <p:sldLayoutId xmlns:r="http://schemas.openxmlformats.org/officeDocument/2006/relationships" id="2147483664" r:id="Rf80a999eeee34383"/>
    <p:sldLayoutId xmlns:r="http://schemas.openxmlformats.org/officeDocument/2006/relationships" id="2147483665" r:id="Rf99613fc71f64438"/>
    <p:sldLayoutId xmlns:r="http://schemas.openxmlformats.org/officeDocument/2006/relationships" id="2147483666" r:id="R906297b915764c8f"/>
    <p:sldLayoutId xmlns:r="http://schemas.openxmlformats.org/officeDocument/2006/relationships" id="2147483667" r:id="R6452970f065348a3"/>
    <p:sldLayoutId xmlns:r="http://schemas.openxmlformats.org/officeDocument/2006/relationships" id="2147483668" r:id="R3aebda61a95e45ba"/>
    <p:sldLayoutId xmlns:r="http://schemas.openxmlformats.org/officeDocument/2006/relationships" id="2147483669" r:id="Rc35a2df04fe94f59"/>
    <p:sldLayoutId xmlns:r="http://schemas.openxmlformats.org/officeDocument/2006/relationships" id="2147483670" r:id="Rf0586cb7949f4c6f"/>
    <p:sldLayoutId xmlns:r="http://schemas.openxmlformats.org/officeDocument/2006/relationships" id="2147483671" r:id="Rc00ff74304664e5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24fa833fd0846d6" /><Relationship Type="http://schemas.openxmlformats.org/officeDocument/2006/relationships/image" Target="/ppt/media/image.png" Id="Rd99de1b872674fbc" /><Relationship Type="http://schemas.openxmlformats.org/officeDocument/2006/relationships/notesSlide" Target="/ppt/notesSlides/notesSlide1.xml" Id="Ree4a4c43527348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497bb472f9e4fdb" /><Relationship Type="http://schemas.openxmlformats.org/officeDocument/2006/relationships/notesSlide" Target="/ppt/notesSlides/notesSlide2.xml" Id="Rec3d393a515743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3ff7c04b7d140f3" /><Relationship Type="http://schemas.openxmlformats.org/officeDocument/2006/relationships/notesSlide" Target="/ppt/notesSlides/notesSlide3.xml" Id="R8dfc93ff7f1d4f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c1a2338950e440b" /><Relationship Type="http://schemas.openxmlformats.org/officeDocument/2006/relationships/image" Target="/ppt/media/image2.png" Id="Rf6393b9debb54d9c" /><Relationship Type="http://schemas.openxmlformats.org/officeDocument/2006/relationships/notesSlide" Target="/ppt/notesSlides/notesSlide4.xml" Id="Rb7bacfd42bb647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cf837dd5e6f4cc4" /><Relationship Type="http://schemas.openxmlformats.org/officeDocument/2006/relationships/notesSlide" Target="/ppt/notesSlides/notesSlide5.xml" Id="Ra509779cd05d4a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9a95bae3f56482a" /><Relationship Type="http://schemas.openxmlformats.org/officeDocument/2006/relationships/notesSlide" Target="/ppt/notesSlides/notesSlide6.xml" Id="R4401c43030154f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5" name="Google Shape;235;p33">
            <a:extLst xmlns:a="http://schemas.openxmlformats.org/drawingml/2006/main">
              <a:ext uri="{FF2B5EF4-FFF2-40B4-BE49-F238E27FC236}">
                <a16:creationId xmlns:a16="http://schemas.microsoft.com/office/drawing/2014/main" id="{77E2C50F-6E02-4636-87FF-37AC4303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8" name="Google Shape;238;p33">
            <a:extLst xmlns:a="http://schemas.openxmlformats.org/drawingml/2006/main">
              <a:ext uri="{FF2B5EF4-FFF2-40B4-BE49-F238E27FC236}">
                <a16:creationId xmlns:a16="http://schemas.microsoft.com/office/drawing/2014/main" id="{85CF1D3A-1160-4DDE-8379-BFF940BA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0" name="Google Shape;240;p33">
            <a:extLst xmlns:a="http://schemas.openxmlformats.org/drawingml/2006/main">
              <a:ext uri="{FF2B5EF4-FFF2-40B4-BE49-F238E27FC236}">
                <a16:creationId xmlns:a16="http://schemas.microsoft.com/office/drawing/2014/main" id="{0A84B2FF-A372-45F1-B030-93DF5C6E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2" name="Google Shape;242;p33">
            <a:extLst xmlns:a="http://schemas.openxmlformats.org/drawingml/2006/main">
              <a:ext uri="{FF2B5EF4-FFF2-40B4-BE49-F238E27FC236}">
                <a16:creationId xmlns:a16="http://schemas.microsoft.com/office/drawing/2014/main" id="{1E27D23E-8DBF-4255-80B8-0F158084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4" name="Google Shape;244;p33">
            <a:extLst xmlns:a="http://schemas.openxmlformats.org/drawingml/2006/main">
              <a:ext uri="{FF2B5EF4-FFF2-40B4-BE49-F238E27FC236}">
                <a16:creationId xmlns:a16="http://schemas.microsoft.com/office/drawing/2014/main" id="{2B8D4940-D484-4E3E-A358-BCD46FE2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1C1DB72B-6CBD-4E37-A858-1D4C0603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One faulty rule. A worldwide outage.</a:t>
            </a:r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B980C90F-A8BF-4CF7-9B67-E908F32D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919AFA3F-0F0A-4E32-A063-CF1984FD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1 / 6</a:t>
            </a:r>
          </a:p>
        </p:txBody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2C4844D2-6313-4116-A743-E379DD87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JULY 2, 2019</a:t>
            </a:r>
          </a:p>
        </p:txBody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50896255-239E-4991-92B0-4E4EBBA6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19225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Cloudflare sits between visitors and websites, delivering content and checking requests for threats.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AE8A631A-A00B-463E-ADEB-5B6F82B1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371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A firewall update overloaded its servers. Visitors saw 502 errors even when the websites behind Cloudflare were healthy.</a:t>
            </a:r>
          </a:p>
        </p:txBody>
      </p:sp>
      <p:pic>
        <p:nvPic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38206AF4-8E15-429E-9999-6F7DDC673E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de1b872674fbc"/>
          <a:stretch xmlns:a="http://schemas.openxmlformats.org/drawingml/2006/main"/>
        </p:blipFill>
        <p:spPr>
          <a:xfrm xmlns:a="http://schemas.openxmlformats.org/drawingml/2006/main">
            <a:off x="4845022" y="1057275"/>
            <a:ext cx="3549706" cy="2667000"/>
          </a:xfrm>
          <a:prstGeom xmlns:a="http://schemas.openxmlformats.org/drawingml/2006/main" prst="rect">
            <a:avLst/>
          </a:prstGeom>
        </p:spPr>
      </p:pic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69C4587C-E6D3-4710-A063-CA66806C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52850"/>
            <a:ext cx="4000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0">
                <a:solidFill>
                  <a:srgbClr val="9DACBC"/>
                </a:solidFill>
              </a:defRPr>
            </a:defPPr>
            <a:lvl1pPr>
              <a:defRPr sz="863" b="0">
                <a:solidFill>
                  <a:srgbClr val="9DACBC"/>
                </a:solidFill>
              </a:defRPr>
            </a:lvl1pPr>
            <a:lvl2pPr>
              <a:defRPr sz="863" b="0">
                <a:solidFill>
                  <a:srgbClr val="9DACBC"/>
                </a:solidFill>
              </a:defRPr>
            </a:lvl2pPr>
            <a:lvl3pPr>
              <a:defRPr sz="863" b="0">
                <a:solidFill>
                  <a:srgbClr val="9DACBC"/>
                </a:solidFill>
              </a:defRPr>
            </a:lvl3pPr>
            <a:lvl4pPr>
              <a:defRPr sz="863" b="0">
                <a:solidFill>
                  <a:srgbClr val="9DACBC"/>
                </a:solidFill>
              </a:defRPr>
            </a:lvl4pPr>
            <a:lvl5pPr>
              <a:defRPr sz="863" b="0">
                <a:solidFill>
                  <a:srgbClr val="9DACBC"/>
                </a:solidFill>
              </a:defRPr>
            </a:lvl5pPr>
            <a:lvl6pPr>
              <a:defRPr sz="863" b="0">
                <a:solidFill>
                  <a:srgbClr val="9DACBC"/>
                </a:solidFill>
              </a:defRPr>
            </a:lvl6pPr>
            <a:lvl7pPr>
              <a:defRPr sz="863" b="0">
                <a:solidFill>
                  <a:srgbClr val="9DACBC"/>
                </a:solidFill>
              </a:defRPr>
            </a:lvl7pPr>
            <a:lvl8pPr>
              <a:defRPr sz="863" b="0">
                <a:solidFill>
                  <a:srgbClr val="9DACBC"/>
                </a:solidFill>
              </a:defRPr>
            </a:lvl8pPr>
            <a:lvl9pPr>
              <a:defRPr sz="863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 b="0">
                <a:solidFill>
                  <a:srgbClr val="9DACBC"/>
                </a:solidFill>
              </a:defRPr>
            </a:pPr>
            <a:r>
              <a:rPr sz="863" b="0">
                <a:solidFill>
                  <a:srgbClr val="9DACBC"/>
                </a:solidFill>
              </a:rPr>
              <a:t>Cloudflare G9 hardware, 2018. Context photo, not the incident.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E45E160F-6FF9-4510-832F-AF52A9CB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9D94"/>
                </a:solidFill>
              </a:defRPr>
            </a:defPPr>
            <a:lvl1pPr>
              <a:defRPr sz="3150" b="1">
                <a:solidFill>
                  <a:srgbClr val="189D94"/>
                </a:solidFill>
              </a:defRPr>
            </a:lvl1pPr>
            <a:lvl2pPr>
              <a:defRPr sz="3150" b="1">
                <a:solidFill>
                  <a:srgbClr val="189D94"/>
                </a:solidFill>
              </a:defRPr>
            </a:lvl2pPr>
            <a:lvl3pPr>
              <a:defRPr sz="3150" b="1">
                <a:solidFill>
                  <a:srgbClr val="189D94"/>
                </a:solidFill>
              </a:defRPr>
            </a:lvl3pPr>
            <a:lvl4pPr>
              <a:defRPr sz="3150" b="1">
                <a:solidFill>
                  <a:srgbClr val="189D94"/>
                </a:solidFill>
              </a:defRPr>
            </a:lvl4pPr>
            <a:lvl5pPr>
              <a:defRPr sz="3150" b="1">
                <a:solidFill>
                  <a:srgbClr val="189D94"/>
                </a:solidFill>
              </a:defRPr>
            </a:lvl5pPr>
            <a:lvl6pPr>
              <a:defRPr sz="3150" b="1">
                <a:solidFill>
                  <a:srgbClr val="189D94"/>
                </a:solidFill>
              </a:defRPr>
            </a:lvl6pPr>
            <a:lvl7pPr>
              <a:defRPr sz="3150" b="1">
                <a:solidFill>
                  <a:srgbClr val="189D94"/>
                </a:solidFill>
              </a:defRPr>
            </a:lvl7pPr>
            <a:lvl8pPr>
              <a:defRPr sz="3150" b="1">
                <a:solidFill>
                  <a:srgbClr val="189D94"/>
                </a:solidFill>
              </a:defRPr>
            </a:lvl8pPr>
            <a:lvl9pPr>
              <a:defRPr sz="31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9D94"/>
                </a:solidFill>
              </a:defRPr>
            </a:pPr>
            <a:r>
              <a:rPr sz="3150" b="1">
                <a:solidFill>
                  <a:srgbClr val="189D94"/>
                </a:solidFill>
              </a:rPr>
              <a:t>27 min</a:t>
            </a:r>
          </a:p>
        </p:txBody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E7AB629B-15C9-422E-BDC9-745D396F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7F9FC"/>
                </a:solidFill>
              </a:defRPr>
            </a:defPPr>
            <a:lvl1pPr>
              <a:defRPr sz="1275" b="0">
                <a:solidFill>
                  <a:srgbClr val="F7F9FC"/>
                </a:solidFill>
              </a:defRPr>
            </a:lvl1pPr>
            <a:lvl2pPr>
              <a:defRPr sz="1275" b="0">
                <a:solidFill>
                  <a:srgbClr val="F7F9FC"/>
                </a:solidFill>
              </a:defRPr>
            </a:lvl2pPr>
            <a:lvl3pPr>
              <a:defRPr sz="1275" b="0">
                <a:solidFill>
                  <a:srgbClr val="F7F9FC"/>
                </a:solidFill>
              </a:defRPr>
            </a:lvl3pPr>
            <a:lvl4pPr>
              <a:defRPr sz="1275" b="0">
                <a:solidFill>
                  <a:srgbClr val="F7F9FC"/>
                </a:solidFill>
              </a:defRPr>
            </a:lvl4pPr>
            <a:lvl5pPr>
              <a:defRPr sz="1275" b="0">
                <a:solidFill>
                  <a:srgbClr val="F7F9FC"/>
                </a:solidFill>
              </a:defRPr>
            </a:lvl5pPr>
            <a:lvl6pPr>
              <a:defRPr sz="1275" b="0">
                <a:solidFill>
                  <a:srgbClr val="F7F9FC"/>
                </a:solidFill>
              </a:defRPr>
            </a:lvl6pPr>
            <a:lvl7pPr>
              <a:defRPr sz="1275" b="0">
                <a:solidFill>
                  <a:srgbClr val="F7F9FC"/>
                </a:solidFill>
              </a:defRPr>
            </a:lvl7pPr>
            <a:lvl8pPr>
              <a:defRPr sz="1275" b="0">
                <a:solidFill>
                  <a:srgbClr val="F7F9FC"/>
                </a:solidFill>
              </a:defRPr>
            </a:lvl8pPr>
            <a:lvl9pPr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service disruption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5AF87416-FEDE-47B8-BC11-07743934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909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9D94"/>
                </a:solidFill>
              </a:defRPr>
            </a:defPPr>
            <a:lvl1pPr>
              <a:defRPr sz="3150" b="1">
                <a:solidFill>
                  <a:srgbClr val="189D94"/>
                </a:solidFill>
              </a:defRPr>
            </a:lvl1pPr>
            <a:lvl2pPr>
              <a:defRPr sz="3150" b="1">
                <a:solidFill>
                  <a:srgbClr val="189D94"/>
                </a:solidFill>
              </a:defRPr>
            </a:lvl2pPr>
            <a:lvl3pPr>
              <a:defRPr sz="3150" b="1">
                <a:solidFill>
                  <a:srgbClr val="189D94"/>
                </a:solidFill>
              </a:defRPr>
            </a:lvl3pPr>
            <a:lvl4pPr>
              <a:defRPr sz="3150" b="1">
                <a:solidFill>
                  <a:srgbClr val="189D94"/>
                </a:solidFill>
              </a:defRPr>
            </a:lvl4pPr>
            <a:lvl5pPr>
              <a:defRPr sz="3150" b="1">
                <a:solidFill>
                  <a:srgbClr val="189D94"/>
                </a:solidFill>
              </a:defRPr>
            </a:lvl5pPr>
            <a:lvl6pPr>
              <a:defRPr sz="3150" b="1">
                <a:solidFill>
                  <a:srgbClr val="189D94"/>
                </a:solidFill>
              </a:defRPr>
            </a:lvl6pPr>
            <a:lvl7pPr>
              <a:defRPr sz="3150" b="1">
                <a:solidFill>
                  <a:srgbClr val="189D94"/>
                </a:solidFill>
              </a:defRPr>
            </a:lvl7pPr>
            <a:lvl8pPr>
              <a:defRPr sz="3150" b="1">
                <a:solidFill>
                  <a:srgbClr val="189D94"/>
                </a:solidFill>
              </a:defRPr>
            </a:lvl8pPr>
            <a:lvl9pPr>
              <a:defRPr sz="31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9D94"/>
                </a:solidFill>
              </a:defRPr>
            </a:pPr>
            <a:r>
              <a:rPr sz="3150" b="1">
                <a:solidFill>
                  <a:srgbClr val="189D94"/>
                </a:solidFill>
              </a:rPr>
              <a:t>82%</a:t>
            </a:r>
          </a:p>
        </p:txBody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5404A3D2-1C28-424A-8EF8-C6C59776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05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7F9FC"/>
                </a:solidFill>
              </a:defRPr>
            </a:defPPr>
            <a:lvl1pPr>
              <a:defRPr sz="1275" b="0">
                <a:solidFill>
                  <a:srgbClr val="F7F9FC"/>
                </a:solidFill>
              </a:defRPr>
            </a:lvl1pPr>
            <a:lvl2pPr>
              <a:defRPr sz="1275" b="0">
                <a:solidFill>
                  <a:srgbClr val="F7F9FC"/>
                </a:solidFill>
              </a:defRPr>
            </a:lvl2pPr>
            <a:lvl3pPr>
              <a:defRPr sz="1275" b="0">
                <a:solidFill>
                  <a:srgbClr val="F7F9FC"/>
                </a:solidFill>
              </a:defRPr>
            </a:lvl3pPr>
            <a:lvl4pPr>
              <a:defRPr sz="1275" b="0">
                <a:solidFill>
                  <a:srgbClr val="F7F9FC"/>
                </a:solidFill>
              </a:defRPr>
            </a:lvl4pPr>
            <a:lvl5pPr>
              <a:defRPr sz="1275" b="0">
                <a:solidFill>
                  <a:srgbClr val="F7F9FC"/>
                </a:solidFill>
              </a:defRPr>
            </a:lvl5pPr>
            <a:lvl6pPr>
              <a:defRPr sz="1275" b="0">
                <a:solidFill>
                  <a:srgbClr val="F7F9FC"/>
                </a:solidFill>
              </a:defRPr>
            </a:lvl6pPr>
            <a:lvl7pPr>
              <a:defRPr sz="1275" b="0">
                <a:solidFill>
                  <a:srgbClr val="F7F9FC"/>
                </a:solidFill>
              </a:defRPr>
            </a:lvl7pPr>
            <a:lvl8pPr>
              <a:defRPr sz="1275" b="0">
                <a:solidFill>
                  <a:srgbClr val="F7F9FC"/>
                </a:solidFill>
              </a:defRPr>
            </a:lvl8pPr>
            <a:lvl9pPr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worst traffic drop</a:t>
            </a:r>
          </a:p>
        </p:txBody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663C41FB-9871-4E0F-B04B-44392821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909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89D94"/>
                </a:solidFill>
              </a:defRPr>
            </a:defPPr>
            <a:lvl1pPr>
              <a:defRPr sz="3150" b="1">
                <a:solidFill>
                  <a:srgbClr val="189D94"/>
                </a:solidFill>
              </a:defRPr>
            </a:lvl1pPr>
            <a:lvl2pPr>
              <a:defRPr sz="3150" b="1">
                <a:solidFill>
                  <a:srgbClr val="189D94"/>
                </a:solidFill>
              </a:defRPr>
            </a:lvl2pPr>
            <a:lvl3pPr>
              <a:defRPr sz="3150" b="1">
                <a:solidFill>
                  <a:srgbClr val="189D94"/>
                </a:solidFill>
              </a:defRPr>
            </a:lvl3pPr>
            <a:lvl4pPr>
              <a:defRPr sz="3150" b="1">
                <a:solidFill>
                  <a:srgbClr val="189D94"/>
                </a:solidFill>
              </a:defRPr>
            </a:lvl4pPr>
            <a:lvl5pPr>
              <a:defRPr sz="3150" b="1">
                <a:solidFill>
                  <a:srgbClr val="189D94"/>
                </a:solidFill>
              </a:defRPr>
            </a:lvl5pPr>
            <a:lvl6pPr>
              <a:defRPr sz="3150" b="1">
                <a:solidFill>
                  <a:srgbClr val="189D94"/>
                </a:solidFill>
              </a:defRPr>
            </a:lvl6pPr>
            <a:lvl7pPr>
              <a:defRPr sz="3150" b="1">
                <a:solidFill>
                  <a:srgbClr val="189D94"/>
                </a:solidFill>
              </a:defRPr>
            </a:lvl7pPr>
            <a:lvl8pPr>
              <a:defRPr sz="3150" b="1">
                <a:solidFill>
                  <a:srgbClr val="189D94"/>
                </a:solidFill>
              </a:defRPr>
            </a:lvl8pPr>
            <a:lvl9pPr>
              <a:defRPr sz="31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9D94"/>
                </a:solidFill>
              </a:defRPr>
            </a:pPr>
            <a:r>
              <a:rPr sz="3150" b="1">
                <a:solidFill>
                  <a:srgbClr val="189D94"/>
                </a:solidFill>
              </a:rPr>
              <a:t>100%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D3CD52BE-E734-4F92-8483-A9674A1C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053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7F9FC"/>
                </a:solidFill>
              </a:defRPr>
            </a:defPPr>
            <a:lvl1pPr>
              <a:defRPr sz="1275" b="0">
                <a:solidFill>
                  <a:srgbClr val="F7F9FC"/>
                </a:solidFill>
              </a:defRPr>
            </a:lvl1pPr>
            <a:lvl2pPr>
              <a:defRPr sz="1275" b="0">
                <a:solidFill>
                  <a:srgbClr val="F7F9FC"/>
                </a:solidFill>
              </a:defRPr>
            </a:lvl2pPr>
            <a:lvl3pPr>
              <a:defRPr sz="1275" b="0">
                <a:solidFill>
                  <a:srgbClr val="F7F9FC"/>
                </a:solidFill>
              </a:defRPr>
            </a:lvl3pPr>
            <a:lvl4pPr>
              <a:defRPr sz="1275" b="0">
                <a:solidFill>
                  <a:srgbClr val="F7F9FC"/>
                </a:solidFill>
              </a:defRPr>
            </a:lvl4pPr>
            <a:lvl5pPr>
              <a:defRPr sz="1275" b="0">
                <a:solidFill>
                  <a:srgbClr val="F7F9FC"/>
                </a:solidFill>
              </a:defRPr>
            </a:lvl5pPr>
            <a:lvl6pPr>
              <a:defRPr sz="1275" b="0">
                <a:solidFill>
                  <a:srgbClr val="F7F9FC"/>
                </a:solidFill>
              </a:defRPr>
            </a:lvl6pPr>
            <a:lvl7pPr>
              <a:defRPr sz="1275" b="0">
                <a:solidFill>
                  <a:srgbClr val="F7F9FC"/>
                </a:solidFill>
              </a:defRPr>
            </a:lvl7pPr>
            <a:lvl8pPr>
              <a:defRPr sz="1275" b="0">
                <a:solidFill>
                  <a:srgbClr val="F7F9FC"/>
                </a:solidFill>
              </a:defRPr>
            </a:lvl8pPr>
            <a:lvl9pPr>
              <a:defRPr sz="12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7F9FC"/>
                </a:solidFill>
              </a:defRPr>
            </a:pPr>
            <a:r>
              <a:rPr sz="1275" b="0">
                <a:solidFill>
                  <a:srgbClr val="F7F9FC"/>
                </a:solidFill>
              </a:rPr>
              <a:t>CPU usage</a:t>
            </a:r>
          </a:p>
        </p:txBody>
      </p:sp>
    </p:spTree>
    <p:extLst>
      <p:ext uri="{BB962C8B-B14F-4D97-AF65-F5344CB8AC3E}">
        <p14:creationId xmlns:p14="http://schemas.microsoft.com/office/powerpoint/2010/main" val="19785616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0" name="Google Shape;250;p34">
            <a:extLst xmlns:a="http://schemas.openxmlformats.org/drawingml/2006/main">
              <a:ext uri="{FF2B5EF4-FFF2-40B4-BE49-F238E27FC236}">
                <a16:creationId xmlns:a16="http://schemas.microsoft.com/office/drawing/2014/main" id="{8553E37F-1DAB-4829-97C2-4F50BEAF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3" name="Google Shape;253;p34">
            <a:extLst xmlns:a="http://schemas.openxmlformats.org/drawingml/2006/main">
              <a:ext uri="{FF2B5EF4-FFF2-40B4-BE49-F238E27FC236}">
                <a16:creationId xmlns:a16="http://schemas.microsoft.com/office/drawing/2014/main" id="{2F422107-CA04-4DBB-A9DD-97985FE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5" name="Google Shape;255;p34">
            <a:extLst xmlns:a="http://schemas.openxmlformats.org/drawingml/2006/main">
              <a:ext uri="{FF2B5EF4-FFF2-40B4-BE49-F238E27FC236}">
                <a16:creationId xmlns:a16="http://schemas.microsoft.com/office/drawing/2014/main" id="{29F409A8-ECD4-4073-96A4-5580480F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7" name="Google Shape;257;p34">
            <a:extLst xmlns:a="http://schemas.openxmlformats.org/drawingml/2006/main">
              <a:ext uri="{FF2B5EF4-FFF2-40B4-BE49-F238E27FC236}">
                <a16:creationId xmlns:a16="http://schemas.microsoft.com/office/drawing/2014/main" id="{9575523D-0A12-463C-9BDA-F9CED34A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9" name="Google Shape;259;p34">
            <a:extLst xmlns:a="http://schemas.openxmlformats.org/drawingml/2006/main">
              <a:ext uri="{FF2B5EF4-FFF2-40B4-BE49-F238E27FC236}">
                <a16:creationId xmlns:a16="http://schemas.microsoft.com/office/drawing/2014/main" id="{0FAF1890-69B8-458D-981B-E85D4574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BFC53C5C-EB4D-467B-86A2-067030D6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Why a text-search rule consumed the CPU</a:t>
            </a:r>
          </a:p>
        </p:txBody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A3EFF9D6-D63E-4268-B1EB-1C66DDDA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EA42366D-996D-42AF-BD6A-4E8E9E01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2 / 6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DA3FE04E-2F25-48DE-8C6F-F188CF06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THE SIMPLIFIED PATTERN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48C96ED8-30FD-4D79-B0B6-60161AE3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189D94"/>
                </a:solidFill>
              </a:defRPr>
            </a:defPPr>
            <a:lvl1pPr>
              <a:defRPr sz="3750" b="1">
                <a:solidFill>
                  <a:srgbClr val="189D94"/>
                </a:solidFill>
              </a:defRPr>
            </a:lvl1pPr>
            <a:lvl2pPr>
              <a:defRPr sz="3750" b="1">
                <a:solidFill>
                  <a:srgbClr val="189D94"/>
                </a:solidFill>
              </a:defRPr>
            </a:lvl2pPr>
            <a:lvl3pPr>
              <a:defRPr sz="3750" b="1">
                <a:solidFill>
                  <a:srgbClr val="189D94"/>
                </a:solidFill>
              </a:defRPr>
            </a:lvl3pPr>
            <a:lvl4pPr>
              <a:defRPr sz="3750" b="1">
                <a:solidFill>
                  <a:srgbClr val="189D94"/>
                </a:solidFill>
              </a:defRPr>
            </a:lvl4pPr>
            <a:lvl5pPr>
              <a:defRPr sz="3750" b="1">
                <a:solidFill>
                  <a:srgbClr val="189D94"/>
                </a:solidFill>
              </a:defRPr>
            </a:lvl5pPr>
            <a:lvl6pPr>
              <a:defRPr sz="3750" b="1">
                <a:solidFill>
                  <a:srgbClr val="189D94"/>
                </a:solidFill>
              </a:defRPr>
            </a:lvl6pPr>
            <a:lvl7pPr>
              <a:defRPr sz="3750" b="1">
                <a:solidFill>
                  <a:srgbClr val="189D94"/>
                </a:solidFill>
              </a:defRPr>
            </a:lvl7pPr>
            <a:lvl8pPr>
              <a:defRPr sz="3750" b="1">
                <a:solidFill>
                  <a:srgbClr val="189D94"/>
                </a:solidFill>
              </a:defRPr>
            </a:lvl8pPr>
            <a:lvl9pPr>
              <a:defRPr sz="37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189D94"/>
                </a:solidFill>
              </a:defRPr>
            </a:pPr>
            <a:r>
              <a:rPr sz="3750" b="1">
                <a:solidFill>
                  <a:srgbClr val="189D94"/>
                </a:solidFill>
              </a:rPr>
              <a:t>.*.*=.*</a:t>
            </a:r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3A0B4DB-E059-43BD-8B3D-CC102DD5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3333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Each .* can match almost any amount of text. The overlapping sections create many possible ways to split the same input.</a:t>
            </a:r>
          </a:p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AB7AD6B-34D3-4577-B669-4A255478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9DACBC"/>
                </a:solidFill>
              </a:defRPr>
            </a:defPPr>
            <a:lvl1pPr>
              <a:defRPr sz="1500" b="0">
                <a:solidFill>
                  <a:srgbClr val="9DACBC"/>
                </a:solidFill>
              </a:defRPr>
            </a:lvl1pPr>
            <a:lvl2pPr>
              <a:defRPr sz="1500" b="0">
                <a:solidFill>
                  <a:srgbClr val="9DACBC"/>
                </a:solidFill>
              </a:defRPr>
            </a:lvl2pPr>
            <a:lvl3pPr>
              <a:defRPr sz="1500" b="0">
                <a:solidFill>
                  <a:srgbClr val="9DACBC"/>
                </a:solidFill>
              </a:defRPr>
            </a:lvl3pPr>
            <a:lvl4pPr>
              <a:defRPr sz="1500" b="0">
                <a:solidFill>
                  <a:srgbClr val="9DACBC"/>
                </a:solidFill>
              </a:defRPr>
            </a:lvl4pPr>
            <a:lvl5pPr>
              <a:defRPr sz="1500" b="0">
                <a:solidFill>
                  <a:srgbClr val="9DACBC"/>
                </a:solidFill>
              </a:defRPr>
            </a:lvl5pPr>
            <a:lvl6pPr>
              <a:defRPr sz="1500" b="0">
                <a:solidFill>
                  <a:srgbClr val="9DACBC"/>
                </a:solidFill>
              </a:defRPr>
            </a:lvl6pPr>
            <a:lvl7pPr>
              <a:defRPr sz="1500" b="0">
                <a:solidFill>
                  <a:srgbClr val="9DACBC"/>
                </a:solidFill>
              </a:defRPr>
            </a:lvl7pPr>
            <a:lvl8pPr>
              <a:defRPr sz="1500" b="0">
                <a:solidFill>
                  <a:srgbClr val="9DACBC"/>
                </a:solidFill>
              </a:defRPr>
            </a:lvl8pPr>
            <a:lvl9pPr>
              <a:defRPr sz="15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9DACBC"/>
                </a:solidFill>
              </a:defRPr>
            </a:pPr>
            <a:r>
              <a:rPr sz="1500" b="0">
                <a:solidFill>
                  <a:srgbClr val="9DACBC"/>
                </a:solidFill>
              </a:rPr>
              <a:t>A regex is a pattern for searching text.</a:t>
            </a:r>
          </a:p>
        </p:txBody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EB2AC019-CE88-4A11-A619-0A64B74A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3347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01  Inspect the request</a:t>
            </a:r>
          </a:p>
        </p:txBody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E859C2AD-C9D8-43BD-AB4A-591C84A7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The web application firewall (WAF) ran this rule to detect malicious JavaScript.</a:t>
            </a:r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0F7FFF18-1994-4BB8-9E65-99539680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02  Retry possible matches</a:t>
            </a:r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765CA358-63E4-41CF-B407-0EDBBF91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Backtracking tries alternative matches. Too many retries use up processing time.</a:t>
            </a:r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E3916DF6-07BA-41AD-BC27-923C5346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7182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03  Crowd out normal work</a:t>
            </a:r>
          </a:p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459A5687-4757-42DF-9515-B4331013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43300"/>
            <a:ext cx="414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The check consumed CPU that servers needed to respond to visitors.</a:t>
            </a:r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4C14DE95-FB96-41B3-97DB-513493C0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57675"/>
            <a:ext cx="4143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9DACBC"/>
                </a:solidFill>
              </a:defRPr>
            </a:defPPr>
            <a:lvl1pPr>
              <a:defRPr sz="1350" b="0">
                <a:solidFill>
                  <a:srgbClr val="9DACBC"/>
                </a:solidFill>
              </a:defRPr>
            </a:lvl1pPr>
            <a:lvl2pPr>
              <a:defRPr sz="1350" b="0">
                <a:solidFill>
                  <a:srgbClr val="9DACBC"/>
                </a:solidFill>
              </a:defRPr>
            </a:lvl2pPr>
            <a:lvl3pPr>
              <a:defRPr sz="1350" b="0">
                <a:solidFill>
                  <a:srgbClr val="9DACBC"/>
                </a:solidFill>
              </a:defRPr>
            </a:lvl3pPr>
            <a:lvl4pPr>
              <a:defRPr sz="1350" b="0">
                <a:solidFill>
                  <a:srgbClr val="9DACBC"/>
                </a:solidFill>
              </a:defRPr>
            </a:lvl4pPr>
            <a:lvl5pPr>
              <a:defRPr sz="1350" b="0">
                <a:solidFill>
                  <a:srgbClr val="9DACBC"/>
                </a:solidFill>
              </a:defRPr>
            </a:lvl5pPr>
            <a:lvl6pPr>
              <a:defRPr sz="1350" b="0">
                <a:solidFill>
                  <a:srgbClr val="9DACBC"/>
                </a:solidFill>
              </a:defRPr>
            </a:lvl6pPr>
            <a:lvl7pPr>
              <a:defRPr sz="1350" b="0">
                <a:solidFill>
                  <a:srgbClr val="9DACBC"/>
                </a:solidFill>
              </a:defRPr>
            </a:lvl7pPr>
            <a:lvl8pPr>
              <a:defRPr sz="1350" b="0">
                <a:solidFill>
                  <a:srgbClr val="9DACBC"/>
                </a:solidFill>
              </a:defRPr>
            </a:lvl8pPr>
            <a:lvl9pPr>
              <a:defRPr sz="135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9DACBC"/>
                </a:solidFill>
              </a:defRPr>
            </a:pPr>
            <a:r>
              <a:rPr sz="1350" b="0">
                <a:solidFill>
                  <a:srgbClr val="9DACBC"/>
                </a:solidFill>
              </a:rPr>
              <a:t>“Simulate” mode still runs the check. It only prevents the rule from blocking visitors.</a:t>
            </a:r>
          </a:p>
        </p:txBody>
      </p:sp>
    </p:spTree>
    <p:extLst>
      <p:ext uri="{BB962C8B-B14F-4D97-AF65-F5344CB8AC3E}">
        <p14:creationId xmlns:p14="http://schemas.microsoft.com/office/powerpoint/2010/main" val="1879359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5" name="Google Shape;265;p35">
            <a:extLst xmlns:a="http://schemas.openxmlformats.org/drawingml/2006/main">
              <a:ext uri="{FF2B5EF4-FFF2-40B4-BE49-F238E27FC236}">
                <a16:creationId xmlns:a16="http://schemas.microsoft.com/office/drawing/2014/main" id="{67E3D8E2-56CD-488A-AE46-97FE5115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8" name="Google Shape;268;p35">
            <a:extLst xmlns:a="http://schemas.openxmlformats.org/drawingml/2006/main">
              <a:ext uri="{FF2B5EF4-FFF2-40B4-BE49-F238E27FC236}">
                <a16:creationId xmlns:a16="http://schemas.microsoft.com/office/drawing/2014/main" id="{1BB716A5-5A59-4F28-9DD1-C6C70C79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0" name="Google Shape;270;p35">
            <a:extLst xmlns:a="http://schemas.openxmlformats.org/drawingml/2006/main">
              <a:ext uri="{FF2B5EF4-FFF2-40B4-BE49-F238E27FC236}">
                <a16:creationId xmlns:a16="http://schemas.microsoft.com/office/drawing/2014/main" id="{AE4ED4D9-7BD5-47E6-8633-DC1F5F78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2" name="Google Shape;272;p35">
            <a:extLst xmlns:a="http://schemas.openxmlformats.org/drawingml/2006/main">
              <a:ext uri="{FF2B5EF4-FFF2-40B4-BE49-F238E27FC236}">
                <a16:creationId xmlns:a16="http://schemas.microsoft.com/office/drawing/2014/main" id="{8E9EA5BC-1305-44F8-BB2C-3C622D54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Google Shape;274;p35">
            <a:extLst xmlns:a="http://schemas.openxmlformats.org/drawingml/2006/main">
              <a:ext uri="{FF2B5EF4-FFF2-40B4-BE49-F238E27FC236}">
                <a16:creationId xmlns:a16="http://schemas.microsoft.com/office/drawing/2014/main" id="{D701CCBD-1CE7-4F70-B577-0D39DD77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8EFDFDDB-904B-47EA-9C2F-590BF26B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Four missing defenses amplified the failure</a:t>
            </a:r>
          </a:p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82A7A6D1-D2E5-450D-94A7-0A210291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29036537-DA90-4A1F-81BC-33B2BA53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3 / 6</a:t>
            </a:r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1BA12630-4356-46E6-A66A-AA3306B6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01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502A14AF-4846-4569-AEDD-1EA80DF7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1620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CPU protection</a:t>
            </a:r>
          </a:p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E35C050-302C-42B2-A5F2-7486BB52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1430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An earlier performance refactor accidentally removed a safeguard against costly regex processing.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B2250857-76EC-4B2F-AA65-14F9067B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02</a:t>
            </a:r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AB196225-36DF-4F9C-B836-96121FED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0002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Performance tests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44C85B4B-3656-4171-B466-F2762C65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Tests checked allow/block decisions, but did not catch runaway CPU use. Correct answers were not enough.</a:t>
            </a:r>
          </a:p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57D9576-F3D6-4A62-AAEF-460A67FC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194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03</a:t>
            </a:r>
          </a:p>
        </p:txBody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A8EABA91-DFD3-4E18-967F-BEFC8812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384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A limited rollout</a:t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809D8F46-950D-4F0E-98ED-54DF3F15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194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The rule reached the world without a small trial first. One defect affected many locations together.</a:t>
            </a:r>
          </a:p>
        </p:txBody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DEEFC981-8914-42A1-98AD-61AFD8AA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600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9D94"/>
                </a:solidFill>
              </a:defRPr>
            </a:defPPr>
            <a:lvl1pPr>
              <a:defRPr sz="2550" b="1">
                <a:solidFill>
                  <a:srgbClr val="189D94"/>
                </a:solidFill>
              </a:defRPr>
            </a:lvl1pPr>
            <a:lvl2pPr>
              <a:defRPr sz="2550" b="1">
                <a:solidFill>
                  <a:srgbClr val="189D94"/>
                </a:solidFill>
              </a:defRPr>
            </a:lvl2pPr>
            <a:lvl3pPr>
              <a:defRPr sz="2550" b="1">
                <a:solidFill>
                  <a:srgbClr val="189D94"/>
                </a:solidFill>
              </a:defRPr>
            </a:lvl3pPr>
            <a:lvl4pPr>
              <a:defRPr sz="2550" b="1">
                <a:solidFill>
                  <a:srgbClr val="189D94"/>
                </a:solidFill>
              </a:defRPr>
            </a:lvl4pPr>
            <a:lvl5pPr>
              <a:defRPr sz="2550" b="1">
                <a:solidFill>
                  <a:srgbClr val="189D94"/>
                </a:solidFill>
              </a:defRPr>
            </a:lvl5pPr>
            <a:lvl6pPr>
              <a:defRPr sz="2550" b="1">
                <a:solidFill>
                  <a:srgbClr val="189D94"/>
                </a:solidFill>
              </a:defRPr>
            </a:lvl6pPr>
            <a:lvl7pPr>
              <a:defRPr sz="2550" b="1">
                <a:solidFill>
                  <a:srgbClr val="189D94"/>
                </a:solidFill>
              </a:defRPr>
            </a:lvl7pPr>
            <a:lvl8pPr>
              <a:defRPr sz="2550" b="1">
                <a:solidFill>
                  <a:srgbClr val="189D94"/>
                </a:solidFill>
              </a:defRPr>
            </a:lvl8pPr>
            <a:lvl9pPr>
              <a:defRPr sz="25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9D94"/>
                </a:solidFill>
              </a:defRPr>
            </a:pPr>
            <a:r>
              <a:rPr sz="2550" b="1">
                <a:solidFill>
                  <a:srgbClr val="189D94"/>
                </a:solidFill>
              </a:rPr>
              <a:t>04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03F6E0E5-DADA-4998-8CA0-1F8768E0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252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Independent recovery</a:t>
            </a:r>
          </a:p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017E5891-ADB2-49E7-847D-6A9A94C9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57600"/>
            <a:ext cx="4524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13" b="0">
                <a:solidFill>
                  <a:srgbClr val="F7F9FC"/>
                </a:solidFill>
              </a:defRPr>
            </a:defPPr>
            <a:lvl1pPr>
              <a:defRPr sz="1613" b="0">
                <a:solidFill>
                  <a:srgbClr val="F7F9FC"/>
                </a:solidFill>
              </a:defRPr>
            </a:lvl1pPr>
            <a:lvl2pPr>
              <a:defRPr sz="1613" b="0">
                <a:solidFill>
                  <a:srgbClr val="F7F9FC"/>
                </a:solidFill>
              </a:defRPr>
            </a:lvl2pPr>
            <a:lvl3pPr>
              <a:defRPr sz="1613" b="0">
                <a:solidFill>
                  <a:srgbClr val="F7F9FC"/>
                </a:solidFill>
              </a:defRPr>
            </a:lvl3pPr>
            <a:lvl4pPr>
              <a:defRPr sz="1613" b="0">
                <a:solidFill>
                  <a:srgbClr val="F7F9FC"/>
                </a:solidFill>
              </a:defRPr>
            </a:lvl4pPr>
            <a:lvl5pPr>
              <a:defRPr sz="1613" b="0">
                <a:solidFill>
                  <a:srgbClr val="F7F9FC"/>
                </a:solidFill>
              </a:defRPr>
            </a:lvl5pPr>
            <a:lvl6pPr>
              <a:defRPr sz="1613" b="0">
                <a:solidFill>
                  <a:srgbClr val="F7F9FC"/>
                </a:solidFill>
              </a:defRPr>
            </a:lvl6pPr>
            <a:lvl7pPr>
              <a:defRPr sz="1613" b="0">
                <a:solidFill>
                  <a:srgbClr val="F7F9FC"/>
                </a:solidFill>
              </a:defRPr>
            </a:lvl7pPr>
            <a:lvl8pPr>
              <a:defRPr sz="1613" b="0">
                <a:solidFill>
                  <a:srgbClr val="F7F9FC"/>
                </a:solidFill>
              </a:defRPr>
            </a:lvl8pPr>
            <a:lvl9pPr>
              <a:defRPr sz="1613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613" b="0">
                <a:solidFill>
                  <a:srgbClr val="F7F9FC"/>
                </a:solidFill>
              </a:defRPr>
            </a:pPr>
            <a:r>
              <a:rPr sz="1613" b="0">
                <a:solidFill>
                  <a:srgbClr val="F7F9FC"/>
                </a:solidFill>
              </a:rPr>
              <a:t>The outage also blocked internal tools, making emergency access and recovery harder.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17EFFAE4-E6B4-4549-BED4-41606FC7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52950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DACBC"/>
                </a:solidFill>
              </a:defRPr>
            </a:defPPr>
            <a:lvl1pPr>
              <a:defRPr sz="1200" b="0">
                <a:solidFill>
                  <a:srgbClr val="9DACBC"/>
                </a:solidFill>
              </a:defRPr>
            </a:lvl1pPr>
            <a:lvl2pPr>
              <a:defRPr sz="1200" b="0">
                <a:solidFill>
                  <a:srgbClr val="9DACBC"/>
                </a:solidFill>
              </a:defRPr>
            </a:lvl2pPr>
            <a:lvl3pPr>
              <a:defRPr sz="1200" b="0">
                <a:solidFill>
                  <a:srgbClr val="9DACBC"/>
                </a:solidFill>
              </a:defRPr>
            </a:lvl3pPr>
            <a:lvl4pPr>
              <a:defRPr sz="1200" b="0">
                <a:solidFill>
                  <a:srgbClr val="9DACBC"/>
                </a:solidFill>
              </a:defRPr>
            </a:lvl4pPr>
            <a:lvl5pPr>
              <a:defRPr sz="1200" b="0">
                <a:solidFill>
                  <a:srgbClr val="9DACBC"/>
                </a:solidFill>
              </a:defRPr>
            </a:lvl5pPr>
            <a:lvl6pPr>
              <a:defRPr sz="1200" b="0">
                <a:solidFill>
                  <a:srgbClr val="9DACBC"/>
                </a:solidFill>
              </a:defRPr>
            </a:lvl6pPr>
            <a:lvl7pPr>
              <a:defRPr sz="1200" b="0">
                <a:solidFill>
                  <a:srgbClr val="9DACBC"/>
                </a:solidFill>
              </a:defRPr>
            </a:lvl7pPr>
            <a:lvl8pPr>
              <a:defRPr sz="1200" b="0">
                <a:solidFill>
                  <a:srgbClr val="9DACBC"/>
                </a:solidFill>
              </a:defRPr>
            </a:lvl8pPr>
            <a:lvl9pPr>
              <a:defRPr sz="12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DACBC"/>
                </a:solidFill>
              </a:defRPr>
            </a:pPr>
            <a:r>
              <a:rPr sz="1200" b="0">
                <a:solidFill>
                  <a:srgbClr val="9DACBC"/>
                </a:solidFill>
              </a:rPr>
              <a:t>The rule triggered the incident. Existing weaknesses made it global and harder to stop.</a:t>
            </a:r>
          </a:p>
        </p:txBody>
      </p:sp>
    </p:spTree>
    <p:extLst>
      <p:ext uri="{BB962C8B-B14F-4D97-AF65-F5344CB8AC3E}">
        <p14:creationId xmlns:p14="http://schemas.microsoft.com/office/powerpoint/2010/main" val="2378040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0" name="Google Shape;280;p36">
            <a:extLst xmlns:a="http://schemas.openxmlformats.org/drawingml/2006/main">
              <a:ext uri="{FF2B5EF4-FFF2-40B4-BE49-F238E27FC236}">
                <a16:creationId xmlns:a16="http://schemas.microsoft.com/office/drawing/2014/main" id="{F5B4E305-C797-456C-A975-A080BAEE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4" name="Google Shape;284;p36">
            <a:extLst xmlns:a="http://schemas.openxmlformats.org/drawingml/2006/main">
              <a:ext uri="{FF2B5EF4-FFF2-40B4-BE49-F238E27FC236}">
                <a16:creationId xmlns:a16="http://schemas.microsoft.com/office/drawing/2014/main" id="{7037BFD8-B88C-465E-8605-8406DF30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6" name="Google Shape;286;p36">
            <a:extLst xmlns:a="http://schemas.openxmlformats.org/drawingml/2006/main">
              <a:ext uri="{FF2B5EF4-FFF2-40B4-BE49-F238E27FC236}">
                <a16:creationId xmlns:a16="http://schemas.microsoft.com/office/drawing/2014/main" id="{045491F7-C784-45AE-8D64-D8D1E0B6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8" name="Google Shape;288;p36">
            <a:extLst xmlns:a="http://schemas.openxmlformats.org/drawingml/2006/main">
              <a:ext uri="{FF2B5EF4-FFF2-40B4-BE49-F238E27FC236}">
                <a16:creationId xmlns:a16="http://schemas.microsoft.com/office/drawing/2014/main" id="{60A4B884-0F16-4567-A2D0-FCEF0396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0" name="Google Shape;290;p36">
            <a:extLst xmlns:a="http://schemas.openxmlformats.org/drawingml/2006/main">
              <a:ext uri="{FF2B5EF4-FFF2-40B4-BE49-F238E27FC236}">
                <a16:creationId xmlns:a16="http://schemas.microsoft.com/office/drawing/2014/main" id="{BCECE08D-17E7-47AB-A364-DF7FA0E6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7FB9F7FF-07A4-496C-98AF-D75371A7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Service recovered before the firewall returned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12A894F5-A556-4650-BA78-81B9FB2E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F7468D79-4CB0-44C8-BF87-BE57FD71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4 / 6</a:t>
            </a: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CFBDF0F4-77CA-48B9-AF73-4742FA4A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521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89D94"/>
                </a:solidFill>
              </a:defRPr>
            </a:defPPr>
            <a:lvl1pPr>
              <a:defRPr sz="975" b="1">
                <a:solidFill>
                  <a:srgbClr val="189D94"/>
                </a:solidFill>
              </a:defRPr>
            </a:lvl1pPr>
            <a:lvl2pPr>
              <a:defRPr sz="975" b="1">
                <a:solidFill>
                  <a:srgbClr val="189D94"/>
                </a:solidFill>
              </a:defRPr>
            </a:lvl2pPr>
            <a:lvl3pPr>
              <a:defRPr sz="975" b="1">
                <a:solidFill>
                  <a:srgbClr val="189D94"/>
                </a:solidFill>
              </a:defRPr>
            </a:lvl3pPr>
            <a:lvl4pPr>
              <a:defRPr sz="975" b="1">
                <a:solidFill>
                  <a:srgbClr val="189D94"/>
                </a:solidFill>
              </a:defRPr>
            </a:lvl4pPr>
            <a:lvl5pPr>
              <a:defRPr sz="975" b="1">
                <a:solidFill>
                  <a:srgbClr val="189D94"/>
                </a:solidFill>
              </a:defRPr>
            </a:lvl5pPr>
            <a:lvl6pPr>
              <a:defRPr sz="975" b="1">
                <a:solidFill>
                  <a:srgbClr val="189D94"/>
                </a:solidFill>
              </a:defRPr>
            </a:lvl6pPr>
            <a:lvl7pPr>
              <a:defRPr sz="975" b="1">
                <a:solidFill>
                  <a:srgbClr val="189D94"/>
                </a:solidFill>
              </a:defRPr>
            </a:lvl7pPr>
            <a:lvl8pPr>
              <a:defRPr sz="975" b="1">
                <a:solidFill>
                  <a:srgbClr val="189D94"/>
                </a:solidFill>
              </a:defRPr>
            </a:lvl8pPr>
            <a:lvl9pPr>
              <a:defRPr sz="97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89D94"/>
                </a:solidFill>
              </a:defRPr>
            </a:pPr>
            <a:r>
              <a:rPr sz="975" b="1">
                <a:solidFill>
                  <a:srgbClr val="189D94"/>
                </a:solidFill>
              </a:rPr>
              <a:t>CPU USAGE AT ONE CLOUDFLARE LOCATION</a:t>
            </a:r>
          </a:p>
        </p:txBody>
      </p:sp>
      <p:pic>
        <p:nvPic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30C96366-A1C4-4C22-86BC-D43E0AC13C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93b9debb54d9c"/>
          <a:stretch xmlns:a="http://schemas.openxmlformats.org/drawingml/2006/main"/>
        </p:blipFill>
        <p:spPr>
          <a:xfrm xmlns:a="http://schemas.openxmlformats.org/drawingml/2006/main">
            <a:off x="533400" y="1495644"/>
            <a:ext cx="5219700" cy="2142687"/>
          </a:xfrm>
          <a:prstGeom xmlns:a="http://schemas.openxmlformats.org/drawingml/2006/main" prst="rect">
            <a:avLst/>
          </a:prstGeom>
        </p:spPr>
      </p:pic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2F8DBB61-73CA-46CC-8F27-A5DB94D0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21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0">
                <a:solidFill>
                  <a:srgbClr val="9DACBC"/>
                </a:solidFill>
              </a:defRPr>
            </a:defPPr>
            <a:lvl1pPr>
              <a:defRPr sz="863" b="0">
                <a:solidFill>
                  <a:srgbClr val="9DACBC"/>
                </a:solidFill>
              </a:defRPr>
            </a:lvl1pPr>
            <a:lvl2pPr>
              <a:defRPr sz="863" b="0">
                <a:solidFill>
                  <a:srgbClr val="9DACBC"/>
                </a:solidFill>
              </a:defRPr>
            </a:lvl2pPr>
            <a:lvl3pPr>
              <a:defRPr sz="863" b="0">
                <a:solidFill>
                  <a:srgbClr val="9DACBC"/>
                </a:solidFill>
              </a:defRPr>
            </a:lvl3pPr>
            <a:lvl4pPr>
              <a:defRPr sz="863" b="0">
                <a:solidFill>
                  <a:srgbClr val="9DACBC"/>
                </a:solidFill>
              </a:defRPr>
            </a:lvl4pPr>
            <a:lvl5pPr>
              <a:defRPr sz="863" b="0">
                <a:solidFill>
                  <a:srgbClr val="9DACBC"/>
                </a:solidFill>
              </a:defRPr>
            </a:lvl5pPr>
            <a:lvl6pPr>
              <a:defRPr sz="863" b="0">
                <a:solidFill>
                  <a:srgbClr val="9DACBC"/>
                </a:solidFill>
              </a:defRPr>
            </a:lvl6pPr>
            <a:lvl7pPr>
              <a:defRPr sz="863" b="0">
                <a:solidFill>
                  <a:srgbClr val="9DACBC"/>
                </a:solidFill>
              </a:defRPr>
            </a:lvl7pPr>
            <a:lvl8pPr>
              <a:defRPr sz="863" b="0">
                <a:solidFill>
                  <a:srgbClr val="9DACBC"/>
                </a:solidFill>
              </a:defRPr>
            </a:lvl8pPr>
            <a:lvl9pPr>
              <a:defRPr sz="863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 b="0">
                <a:solidFill>
                  <a:srgbClr val="9DACBC"/>
                </a:solidFill>
              </a:defRPr>
            </a:pPr>
            <a:r>
              <a:rPr sz="863" b="0">
                <a:solidFill>
                  <a:srgbClr val="9DACBC"/>
                </a:solidFill>
              </a:rPr>
              <a:t>Original monitoring chart from Cloudflare’s postmortem</a:t>
            </a:r>
          </a:p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2A858F72-BA89-4F5A-B61A-75F9C90A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521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Disabling the WAF removed the immediate load. Other security protections stayed active.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4FE4AC9C-A7A3-4DE7-B38B-FC8F05FB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085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13:42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5E9FE124-57E1-4E73-B937-7AC1BBA3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4287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Rule deployed globally</a:t>
            </a:r>
          </a:p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86C95A78-5FB7-484F-AC35-EB99D108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90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14:00</a:t>
            </a:r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46B7F928-DEED-4A58-BB3F-F7FD3DA8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33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WAF identified as cause</a:t>
            </a:r>
          </a:p>
        </p:txBody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D7500CC6-FFBB-4F4D-BEFC-1C08B092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95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14:07</a:t>
            </a: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8359021C-4BBD-4CBA-80DF-ED602CD9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384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WAF disabled globally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E3929E07-AD0A-4616-8B36-9D2EB992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004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14:09</a:t>
            </a:r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72604DA9-F785-4D0B-9403-76C8B9AC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543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Traffic and CPU recover</a:t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5BC4615A-DDF0-4E3B-A554-7340CC7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905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89D94"/>
                </a:solidFill>
              </a:defRPr>
            </a:defPPr>
            <a:lvl1pPr>
              <a:defRPr sz="2025" b="1">
                <a:solidFill>
                  <a:srgbClr val="189D94"/>
                </a:solidFill>
              </a:defRPr>
            </a:lvl1pPr>
            <a:lvl2pPr>
              <a:defRPr sz="2025" b="1">
                <a:solidFill>
                  <a:srgbClr val="189D94"/>
                </a:solidFill>
              </a:defRPr>
            </a:lvl2pPr>
            <a:lvl3pPr>
              <a:defRPr sz="2025" b="1">
                <a:solidFill>
                  <a:srgbClr val="189D94"/>
                </a:solidFill>
              </a:defRPr>
            </a:lvl3pPr>
            <a:lvl4pPr>
              <a:defRPr sz="2025" b="1">
                <a:solidFill>
                  <a:srgbClr val="189D94"/>
                </a:solidFill>
              </a:defRPr>
            </a:lvl4pPr>
            <a:lvl5pPr>
              <a:defRPr sz="2025" b="1">
                <a:solidFill>
                  <a:srgbClr val="189D94"/>
                </a:solidFill>
              </a:defRPr>
            </a:lvl5pPr>
            <a:lvl6pPr>
              <a:defRPr sz="2025" b="1">
                <a:solidFill>
                  <a:srgbClr val="189D94"/>
                </a:solidFill>
              </a:defRPr>
            </a:lvl6pPr>
            <a:lvl7pPr>
              <a:defRPr sz="2025" b="1">
                <a:solidFill>
                  <a:srgbClr val="189D94"/>
                </a:solidFill>
              </a:defRPr>
            </a:lvl7pPr>
            <a:lvl8pPr>
              <a:defRPr sz="2025" b="1">
                <a:solidFill>
                  <a:srgbClr val="189D94"/>
                </a:solidFill>
              </a:defRPr>
            </a:lvl8pPr>
            <a:lvl9pPr>
              <a:defRPr sz="202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89D94"/>
                </a:solidFill>
              </a:defRPr>
            </a:pPr>
            <a:r>
              <a:rPr sz="2025" b="1">
                <a:solidFill>
                  <a:srgbClr val="189D94"/>
                </a:solidFill>
              </a:rPr>
              <a:t>14:52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D25349EC-DF35-4DC7-966E-89800359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2481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88" b="0">
                <a:solidFill>
                  <a:srgbClr val="F7F9FC"/>
                </a:solidFill>
              </a:defRPr>
            </a:defPPr>
            <a:lvl1pPr>
              <a:defRPr sz="1388" b="0">
                <a:solidFill>
                  <a:srgbClr val="F7F9FC"/>
                </a:solidFill>
              </a:defRPr>
            </a:lvl1pPr>
            <a:lvl2pPr>
              <a:defRPr sz="1388" b="0">
                <a:solidFill>
                  <a:srgbClr val="F7F9FC"/>
                </a:solidFill>
              </a:defRPr>
            </a:lvl2pPr>
            <a:lvl3pPr>
              <a:defRPr sz="1388" b="0">
                <a:solidFill>
                  <a:srgbClr val="F7F9FC"/>
                </a:solidFill>
              </a:defRPr>
            </a:lvl3pPr>
            <a:lvl4pPr>
              <a:defRPr sz="1388" b="0">
                <a:solidFill>
                  <a:srgbClr val="F7F9FC"/>
                </a:solidFill>
              </a:defRPr>
            </a:lvl4pPr>
            <a:lvl5pPr>
              <a:defRPr sz="1388" b="0">
                <a:solidFill>
                  <a:srgbClr val="F7F9FC"/>
                </a:solidFill>
              </a:defRPr>
            </a:lvl5pPr>
            <a:lvl6pPr>
              <a:defRPr sz="1388" b="0">
                <a:solidFill>
                  <a:srgbClr val="F7F9FC"/>
                </a:solidFill>
              </a:defRPr>
            </a:lvl6pPr>
            <a:lvl7pPr>
              <a:defRPr sz="1388" b="0">
                <a:solidFill>
                  <a:srgbClr val="F7F9FC"/>
                </a:solidFill>
              </a:defRPr>
            </a:lvl7pPr>
            <a:lvl8pPr>
              <a:defRPr sz="1388" b="0">
                <a:solidFill>
                  <a:srgbClr val="F7F9FC"/>
                </a:solidFill>
              </a:defRPr>
            </a:lvl8pPr>
            <a:lvl9pPr>
              <a:defRPr sz="1388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388" b="0">
                <a:solidFill>
                  <a:srgbClr val="F7F9FC"/>
                </a:solidFill>
              </a:defRPr>
            </a:pPr>
            <a:r>
              <a:rPr sz="1388" b="0">
                <a:solidFill>
                  <a:srgbClr val="F7F9FC"/>
                </a:solidFill>
              </a:rPr>
              <a:t>WAF restored after testing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DB1519EB-378A-4DFA-B015-5809E138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695825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0">
                <a:solidFill>
                  <a:srgbClr val="9DACBC"/>
                </a:solidFill>
              </a:defRPr>
            </a:defPPr>
            <a:lvl1pPr>
              <a:defRPr sz="863" b="0">
                <a:solidFill>
                  <a:srgbClr val="9DACBC"/>
                </a:solidFill>
              </a:defRPr>
            </a:lvl1pPr>
            <a:lvl2pPr>
              <a:defRPr sz="863" b="0">
                <a:solidFill>
                  <a:srgbClr val="9DACBC"/>
                </a:solidFill>
              </a:defRPr>
            </a:lvl2pPr>
            <a:lvl3pPr>
              <a:defRPr sz="863" b="0">
                <a:solidFill>
                  <a:srgbClr val="9DACBC"/>
                </a:solidFill>
              </a:defRPr>
            </a:lvl3pPr>
            <a:lvl4pPr>
              <a:defRPr sz="863" b="0">
                <a:solidFill>
                  <a:srgbClr val="9DACBC"/>
                </a:solidFill>
              </a:defRPr>
            </a:lvl4pPr>
            <a:lvl5pPr>
              <a:defRPr sz="863" b="0">
                <a:solidFill>
                  <a:srgbClr val="9DACBC"/>
                </a:solidFill>
              </a:defRPr>
            </a:lvl5pPr>
            <a:lvl6pPr>
              <a:defRPr sz="863" b="0">
                <a:solidFill>
                  <a:srgbClr val="9DACBC"/>
                </a:solidFill>
              </a:defRPr>
            </a:lvl6pPr>
            <a:lvl7pPr>
              <a:defRPr sz="863" b="0">
                <a:solidFill>
                  <a:srgbClr val="9DACBC"/>
                </a:solidFill>
              </a:defRPr>
            </a:lvl7pPr>
            <a:lvl8pPr>
              <a:defRPr sz="863" b="0">
                <a:solidFill>
                  <a:srgbClr val="9DACBC"/>
                </a:solidFill>
              </a:defRPr>
            </a:lvl8pPr>
            <a:lvl9pPr>
              <a:defRPr sz="863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63" b="0">
                <a:solidFill>
                  <a:srgbClr val="9DACBC"/>
                </a:solidFill>
              </a:defRPr>
            </a:pPr>
            <a:r>
              <a:rPr sz="863" b="0">
                <a:solidFill>
                  <a:srgbClr val="9DACBC"/>
                </a:solidFill>
              </a:rPr>
              <a:t>All times UTC, July 2, 2019</a:t>
            </a:r>
          </a:p>
        </p:txBody>
      </p:sp>
    </p:spTree>
    <p:extLst>
      <p:ext uri="{BB962C8B-B14F-4D97-AF65-F5344CB8AC3E}">
        <p14:creationId xmlns:p14="http://schemas.microsoft.com/office/powerpoint/2010/main" val="1360811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6" name="Google Shape;296;p37">
            <a:extLst xmlns:a="http://schemas.openxmlformats.org/drawingml/2006/main">
              <a:ext uri="{FF2B5EF4-FFF2-40B4-BE49-F238E27FC236}">
                <a16:creationId xmlns:a16="http://schemas.microsoft.com/office/drawing/2014/main" id="{A3D8C215-FBFF-485C-8EB1-8122445D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0" name="Google Shape;300;p37">
            <a:extLst xmlns:a="http://schemas.openxmlformats.org/drawingml/2006/main">
              <a:ext uri="{FF2B5EF4-FFF2-40B4-BE49-F238E27FC236}">
                <a16:creationId xmlns:a16="http://schemas.microsoft.com/office/drawing/2014/main" id="{92DFD011-C643-41CA-AF2F-7861BFEA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2" name="Google Shape;302;p37">
            <a:extLst xmlns:a="http://schemas.openxmlformats.org/drawingml/2006/main">
              <a:ext uri="{FF2B5EF4-FFF2-40B4-BE49-F238E27FC236}">
                <a16:creationId xmlns:a16="http://schemas.microsoft.com/office/drawing/2014/main" id="{3474F068-05A4-4F11-BBC5-9430D0EF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4" name="Google Shape;304;p37">
            <a:extLst xmlns:a="http://schemas.openxmlformats.org/drawingml/2006/main">
              <a:ext uri="{FF2B5EF4-FFF2-40B4-BE49-F238E27FC236}">
                <a16:creationId xmlns:a16="http://schemas.microsoft.com/office/drawing/2014/main" id="{2AD3B6FA-8C90-485A-BA91-DDFA954D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6" name="Google Shape;306;p37">
            <a:extLst xmlns:a="http://schemas.openxmlformats.org/drawingml/2006/main">
              <a:ext uri="{FF2B5EF4-FFF2-40B4-BE49-F238E27FC236}">
                <a16:creationId xmlns:a16="http://schemas.microsoft.com/office/drawing/2014/main" id="{4EA46B74-E5FC-401B-8198-5F5C4D70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CDA89118-FE0D-499A-9BFB-A86C6472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The response addressed code and release process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C8D1B3F3-38B3-45D4-B66A-1184FB04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36F54185-DF67-4C70-8227-55CF7FB9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5 / 6</a:t>
            </a:r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7B106FB-E6C7-45F0-841D-D45D0EC2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239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COMPLETED BY JULY 12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D2130577-62C9-42C4-B32D-FBE04D12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F7F9FC"/>
                </a:solidFill>
              </a:defRPr>
            </a:defPPr>
            <a:lvl1pPr>
              <a:defRPr sz="3900" b="1">
                <a:solidFill>
                  <a:srgbClr val="F7F9FC"/>
                </a:solidFill>
              </a:defRPr>
            </a:lvl1pPr>
            <a:lvl2pPr>
              <a:defRPr sz="3900" b="1">
                <a:solidFill>
                  <a:srgbClr val="F7F9FC"/>
                </a:solidFill>
              </a:defRPr>
            </a:lvl2pPr>
            <a:lvl3pPr>
              <a:defRPr sz="3900" b="1">
                <a:solidFill>
                  <a:srgbClr val="F7F9FC"/>
                </a:solidFill>
              </a:defRPr>
            </a:lvl3pPr>
            <a:lvl4pPr>
              <a:defRPr sz="3900" b="1">
                <a:solidFill>
                  <a:srgbClr val="F7F9FC"/>
                </a:solidFill>
              </a:defRPr>
            </a:lvl4pPr>
            <a:lvl5pPr>
              <a:defRPr sz="3900" b="1">
                <a:solidFill>
                  <a:srgbClr val="F7F9FC"/>
                </a:solidFill>
              </a:defRPr>
            </a:lvl5pPr>
            <a:lvl6pPr>
              <a:defRPr sz="3900" b="1">
                <a:solidFill>
                  <a:srgbClr val="F7F9FC"/>
                </a:solidFill>
              </a:defRPr>
            </a:lvl6pPr>
            <a:lvl7pPr>
              <a:defRPr sz="3900" b="1">
                <a:solidFill>
                  <a:srgbClr val="F7F9FC"/>
                </a:solidFill>
              </a:defRPr>
            </a:lvl7pPr>
            <a:lvl8pPr>
              <a:defRPr sz="3900" b="1">
                <a:solidFill>
                  <a:srgbClr val="F7F9FC"/>
                </a:solidFill>
              </a:defRPr>
            </a:lvl8pPr>
            <a:lvl9pPr>
              <a:defRPr sz="39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F7F9FC"/>
                </a:solidFill>
              </a:defRPr>
            </a:pPr>
            <a:r>
              <a:rPr sz="3900" b="1">
                <a:solidFill>
                  <a:srgbClr val="F7F9FC"/>
                </a:solidFill>
              </a:rPr>
              <a:t>3,868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912A9CC9-35A2-4FAE-95B7-04FB4380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managed rules inspected</a:t>
            </a:r>
          </a:p>
        </p:txBody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5ADB15D1-2675-455F-87AA-CE46B1D2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3333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Cloudflare also restored the CPU safeguard removed during refactoring.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759D6CB3-9921-40EC-AE3C-E42ED60F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23950"/>
            <a:ext cx="4143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89D94"/>
                </a:solidFill>
              </a:defRPr>
            </a:defPPr>
            <a:lvl1pPr>
              <a:defRPr sz="1050" b="1">
                <a:solidFill>
                  <a:srgbClr val="189D94"/>
                </a:solidFill>
              </a:defRPr>
            </a:lvl1pPr>
            <a:lvl2pPr>
              <a:defRPr sz="1050" b="1">
                <a:solidFill>
                  <a:srgbClr val="189D94"/>
                </a:solidFill>
              </a:defRPr>
            </a:lvl2pPr>
            <a:lvl3pPr>
              <a:defRPr sz="1050" b="1">
                <a:solidFill>
                  <a:srgbClr val="189D94"/>
                </a:solidFill>
              </a:defRPr>
            </a:lvl3pPr>
            <a:lvl4pPr>
              <a:defRPr sz="1050" b="1">
                <a:solidFill>
                  <a:srgbClr val="189D94"/>
                </a:solidFill>
              </a:defRPr>
            </a:lvl4pPr>
            <a:lvl5pPr>
              <a:defRPr sz="1050" b="1">
                <a:solidFill>
                  <a:srgbClr val="189D94"/>
                </a:solidFill>
              </a:defRPr>
            </a:lvl5pPr>
            <a:lvl6pPr>
              <a:defRPr sz="1050" b="1">
                <a:solidFill>
                  <a:srgbClr val="189D94"/>
                </a:solidFill>
              </a:defRPr>
            </a:lvl6pPr>
            <a:lvl7pPr>
              <a:defRPr sz="1050" b="1">
                <a:solidFill>
                  <a:srgbClr val="189D94"/>
                </a:solidFill>
              </a:defRPr>
            </a:lvl7pPr>
            <a:lvl8pPr>
              <a:defRPr sz="1050" b="1">
                <a:solidFill>
                  <a:srgbClr val="189D94"/>
                </a:solidFill>
              </a:defRPr>
            </a:lvl8pPr>
            <a:lvl9pPr>
              <a:defRPr sz="1050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89D94"/>
                </a:solidFill>
              </a:defRPr>
            </a:pPr>
            <a:r>
              <a:rPr sz="1050" b="1">
                <a:solidFill>
                  <a:srgbClr val="189D94"/>
                </a:solidFill>
              </a:rPr>
              <a:t>ANNOUNCED NEXT STEPS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967A2233-475C-4109-AF93-BDE0FEC3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5257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Measure processing cost</a:t>
            </a:r>
          </a:p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92EBBA85-2CF4-48D6-B599-A84538BF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14525"/>
            <a:ext cx="4143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Profile rules for excessive CPU use, as well as checking whether they detect attacks.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129DD675-EBC2-4DCC-8E78-85184EFF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6222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Expand releases gradually</a:t>
            </a:r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D43D7A2C-0E11-45B8-AE57-DD68351E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24175"/>
            <a:ext cx="4143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Start with limited traffic and inspect results before deploying worldwide.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4ECE2835-9241-49E5-BE5D-91CB94EA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71875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7F9FC"/>
                </a:solidFill>
              </a:defRPr>
            </a:defPPr>
            <a:lvl1pPr>
              <a:defRPr sz="1800" b="1">
                <a:solidFill>
                  <a:srgbClr val="F7F9FC"/>
                </a:solidFill>
              </a:defRPr>
            </a:lvl1pPr>
            <a:lvl2pPr>
              <a:defRPr sz="1800" b="1">
                <a:solidFill>
                  <a:srgbClr val="F7F9FC"/>
                </a:solidFill>
              </a:defRPr>
            </a:lvl2pPr>
            <a:lvl3pPr>
              <a:defRPr sz="1800" b="1">
                <a:solidFill>
                  <a:srgbClr val="F7F9FC"/>
                </a:solidFill>
              </a:defRPr>
            </a:lvl3pPr>
            <a:lvl4pPr>
              <a:defRPr sz="1800" b="1">
                <a:solidFill>
                  <a:srgbClr val="F7F9FC"/>
                </a:solidFill>
              </a:defRPr>
            </a:lvl4pPr>
            <a:lvl5pPr>
              <a:defRPr sz="1800" b="1">
                <a:solidFill>
                  <a:srgbClr val="F7F9FC"/>
                </a:solidFill>
              </a:defRPr>
            </a:lvl5pPr>
            <a:lvl6pPr>
              <a:defRPr sz="1800" b="1">
                <a:solidFill>
                  <a:srgbClr val="F7F9FC"/>
                </a:solidFill>
              </a:defRPr>
            </a:lvl6pPr>
            <a:lvl7pPr>
              <a:defRPr sz="1800" b="1">
                <a:solidFill>
                  <a:srgbClr val="F7F9FC"/>
                </a:solidFill>
              </a:defRPr>
            </a:lvl7pPr>
            <a:lvl8pPr>
              <a:defRPr sz="1800" b="1">
                <a:solidFill>
                  <a:srgbClr val="F7F9FC"/>
                </a:solidFill>
              </a:defRPr>
            </a:lvl8pPr>
            <a:lvl9pPr>
              <a:defRPr sz="18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7F9FC"/>
                </a:solidFill>
              </a:defRPr>
            </a:pPr>
            <a:r>
              <a:rPr sz="1800" b="1">
                <a:solidFill>
                  <a:srgbClr val="F7F9FC"/>
                </a:solidFill>
              </a:rPr>
              <a:t>Use a safer regex engine</a:t>
            </a:r>
          </a:p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7B78E2EE-40C0-4BB4-A991-FFF1BF9C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33825"/>
            <a:ext cx="4143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7F9FC"/>
                </a:solidFill>
              </a:defRPr>
            </a:defPPr>
            <a:lvl1pPr>
              <a:defRPr sz="1575" b="0">
                <a:solidFill>
                  <a:srgbClr val="F7F9FC"/>
                </a:solidFill>
              </a:defRPr>
            </a:lvl1pPr>
            <a:lvl2pPr>
              <a:defRPr sz="1575" b="0">
                <a:solidFill>
                  <a:srgbClr val="F7F9FC"/>
                </a:solidFill>
              </a:defRPr>
            </a:lvl2pPr>
            <a:lvl3pPr>
              <a:defRPr sz="1575" b="0">
                <a:solidFill>
                  <a:srgbClr val="F7F9FC"/>
                </a:solidFill>
              </a:defRPr>
            </a:lvl3pPr>
            <a:lvl4pPr>
              <a:defRPr sz="1575" b="0">
                <a:solidFill>
                  <a:srgbClr val="F7F9FC"/>
                </a:solidFill>
              </a:defRPr>
            </a:lvl4pPr>
            <a:lvl5pPr>
              <a:defRPr sz="1575" b="0">
                <a:solidFill>
                  <a:srgbClr val="F7F9FC"/>
                </a:solidFill>
              </a:defRPr>
            </a:lvl5pPr>
            <a:lvl6pPr>
              <a:defRPr sz="1575" b="0">
                <a:solidFill>
                  <a:srgbClr val="F7F9FC"/>
                </a:solidFill>
              </a:defRPr>
            </a:lvl6pPr>
            <a:lvl7pPr>
              <a:defRPr sz="1575" b="0">
                <a:solidFill>
                  <a:srgbClr val="F7F9FC"/>
                </a:solidFill>
              </a:defRPr>
            </a:lvl7pPr>
            <a:lvl8pPr>
              <a:defRPr sz="1575" b="0">
                <a:solidFill>
                  <a:srgbClr val="F7F9FC"/>
                </a:solidFill>
              </a:defRPr>
            </a:lvl8pPr>
            <a:lvl9pPr>
              <a:defRPr sz="1575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7F9FC"/>
                </a:solidFill>
              </a:defRPr>
            </a:pPr>
            <a:r>
              <a:rPr sz="1575" b="0">
                <a:solidFill>
                  <a:srgbClr val="F7F9FC"/>
                </a:solidFill>
              </a:rPr>
              <a:t>RE2 or Rust regex can provide runtime guarantees. Compatibility still needs testing.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8A012252-9533-4092-AA46-C9CD8432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48175"/>
            <a:ext cx="8086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DACBC"/>
                </a:solidFill>
              </a:defRPr>
            </a:defPPr>
            <a:lvl1pPr>
              <a:defRPr sz="1275" b="0">
                <a:solidFill>
                  <a:srgbClr val="9DACBC"/>
                </a:solidFill>
              </a:defRPr>
            </a:lvl1pPr>
            <a:lvl2pPr>
              <a:defRPr sz="1275" b="0">
                <a:solidFill>
                  <a:srgbClr val="9DACBC"/>
                </a:solidFill>
              </a:defRPr>
            </a:lvl2pPr>
            <a:lvl3pPr>
              <a:defRPr sz="1275" b="0">
                <a:solidFill>
                  <a:srgbClr val="9DACBC"/>
                </a:solidFill>
              </a:defRPr>
            </a:lvl3pPr>
            <a:lvl4pPr>
              <a:defRPr sz="1275" b="0">
                <a:solidFill>
                  <a:srgbClr val="9DACBC"/>
                </a:solidFill>
              </a:defRPr>
            </a:lvl4pPr>
            <a:lvl5pPr>
              <a:defRPr sz="1275" b="0">
                <a:solidFill>
                  <a:srgbClr val="9DACBC"/>
                </a:solidFill>
              </a:defRPr>
            </a:lvl5pPr>
            <a:lvl6pPr>
              <a:defRPr sz="1275" b="0">
                <a:solidFill>
                  <a:srgbClr val="9DACBC"/>
                </a:solidFill>
              </a:defRPr>
            </a:lvl6pPr>
            <a:lvl7pPr>
              <a:defRPr sz="1275" b="0">
                <a:solidFill>
                  <a:srgbClr val="9DACBC"/>
                </a:solidFill>
              </a:defRPr>
            </a:lvl7pPr>
            <a:lvl8pPr>
              <a:defRPr sz="1275" b="0">
                <a:solidFill>
                  <a:srgbClr val="9DACBC"/>
                </a:solidFill>
              </a:defRPr>
            </a:lvl8pPr>
            <a:lvl9pPr>
              <a:defRPr sz="1275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DACBC"/>
                </a:solidFill>
              </a:defRPr>
            </a:pPr>
            <a:r>
              <a:rPr sz="1275" b="0">
                <a:solidFill>
                  <a:srgbClr val="9DACBC"/>
                </a:solidFill>
              </a:rPr>
              <a:t>RE2: for a fixed pattern, matching time scales linearly with input length.</a:t>
            </a:r>
          </a:p>
        </p:txBody>
      </p:sp>
    </p:spTree>
    <p:extLst>
      <p:ext uri="{BB962C8B-B14F-4D97-AF65-F5344CB8AC3E}">
        <p14:creationId xmlns:p14="http://schemas.microsoft.com/office/powerpoint/2010/main" val="5272881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2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Google Shape;312;p38">
            <a:extLst xmlns:a="http://schemas.openxmlformats.org/drawingml/2006/main">
              <a:ext uri="{FF2B5EF4-FFF2-40B4-BE49-F238E27FC236}">
                <a16:creationId xmlns:a16="http://schemas.microsoft.com/office/drawing/2014/main" id="{83D0D9FB-36B8-44F5-8A5C-7A982B60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9156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6" name="Google Shape;316;p38">
            <a:extLst xmlns:a="http://schemas.openxmlformats.org/drawingml/2006/main">
              <a:ext uri="{FF2B5EF4-FFF2-40B4-BE49-F238E27FC236}">
                <a16:creationId xmlns:a16="http://schemas.microsoft.com/office/drawing/2014/main" id="{337FCEED-6268-4871-82F9-DE8BCFAA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234440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8" name="Google Shape;318;p38">
            <a:extLst xmlns:a="http://schemas.openxmlformats.org/drawingml/2006/main">
              <a:ext uri="{FF2B5EF4-FFF2-40B4-BE49-F238E27FC236}">
                <a16:creationId xmlns:a16="http://schemas.microsoft.com/office/drawing/2014/main" id="{9425D057-79DA-46BB-A393-25B47A1F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1933956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0" name="Google Shape;320;p38">
            <a:extLst xmlns:a="http://schemas.openxmlformats.org/drawingml/2006/main">
              <a:ext uri="{FF2B5EF4-FFF2-40B4-BE49-F238E27FC236}">
                <a16:creationId xmlns:a16="http://schemas.microsoft.com/office/drawing/2014/main" id="{EBF6AAC2-04D1-43F9-BAB3-5DE49C58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2633472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2" name="Google Shape;322;p38">
            <a:extLst xmlns:a="http://schemas.openxmlformats.org/drawingml/2006/main">
              <a:ext uri="{FF2B5EF4-FFF2-40B4-BE49-F238E27FC236}">
                <a16:creationId xmlns:a16="http://schemas.microsoft.com/office/drawing/2014/main" id="{53C86581-2A26-41AD-A2D3-B6DFFA4D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36" y="3332988"/>
            <a:ext cx="75440" cy="7543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9D94"/>
          </a:solidFill>
          <a:ln xmlns:a="http://schemas.openxmlformats.org/drawingml/2006/main">
            <a:noFill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06A3B85D-93D8-4A93-98C9-BF4BE1B4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00" b="1">
                <a:solidFill>
                  <a:srgbClr val="F7F9FC"/>
                </a:solidFill>
              </a:defRPr>
            </a:defPPr>
            <a:lvl1pPr>
              <a:defRPr sz="2300" b="1">
                <a:solidFill>
                  <a:srgbClr val="F7F9FC"/>
                </a:solidFill>
              </a:defRPr>
            </a:lvl1pPr>
            <a:lvl2pPr>
              <a:defRPr sz="2300" b="1">
                <a:solidFill>
                  <a:srgbClr val="F7F9FC"/>
                </a:solidFill>
              </a:defRPr>
            </a:lvl2pPr>
            <a:lvl3pPr>
              <a:defRPr sz="2300" b="1">
                <a:solidFill>
                  <a:srgbClr val="F7F9FC"/>
                </a:solidFill>
              </a:defRPr>
            </a:lvl3pPr>
            <a:lvl4pPr>
              <a:defRPr sz="2300" b="1">
                <a:solidFill>
                  <a:srgbClr val="F7F9FC"/>
                </a:solidFill>
              </a:defRPr>
            </a:lvl4pPr>
            <a:lvl5pPr>
              <a:defRPr sz="2300" b="1">
                <a:solidFill>
                  <a:srgbClr val="F7F9FC"/>
                </a:solidFill>
              </a:defRPr>
            </a:lvl5pPr>
            <a:lvl6pPr>
              <a:defRPr sz="2300" b="1">
                <a:solidFill>
                  <a:srgbClr val="F7F9FC"/>
                </a:solidFill>
              </a:defRPr>
            </a:lvl6pPr>
            <a:lvl7pPr>
              <a:defRPr sz="2300" b="1">
                <a:solidFill>
                  <a:srgbClr val="F7F9FC"/>
                </a:solidFill>
              </a:defRPr>
            </a:lvl7pPr>
            <a:lvl8pPr>
              <a:defRPr sz="2300" b="1">
                <a:solidFill>
                  <a:srgbClr val="F7F9FC"/>
                </a:solidFill>
              </a:defRPr>
            </a:lvl8pPr>
            <a:lvl9pPr>
              <a:defRPr sz="230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300" b="1">
                <a:solidFill>
                  <a:srgbClr val="F7F9FC"/>
                </a:solidFill>
              </a:defRPr>
            </a:pPr>
            <a:r>
              <a:rPr sz="2300" b="1">
                <a:solidFill>
                  <a:srgbClr val="F7F9FC"/>
                </a:solidFill>
              </a:rPr>
              <a:t>What this case teaches engineering teams</a:t>
            </a:r>
          </a:p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5116D1C1-F6ED-4AEB-A0C4-3BF5319A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CLOUDFLARE 2019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D5074439-8AF7-4F70-919A-92969BA7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82917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0" b="0">
                <a:solidFill>
                  <a:srgbClr val="9DACBC"/>
                </a:solidFill>
              </a:defRPr>
            </a:defPPr>
            <a:lvl1pPr>
              <a:defRPr sz="800" b="0">
                <a:solidFill>
                  <a:srgbClr val="9DACBC"/>
                </a:solidFill>
              </a:defRPr>
            </a:lvl1pPr>
            <a:lvl2pPr>
              <a:defRPr sz="800" b="0">
                <a:solidFill>
                  <a:srgbClr val="9DACBC"/>
                </a:solidFill>
              </a:defRPr>
            </a:lvl2pPr>
            <a:lvl3pPr>
              <a:defRPr sz="800" b="0">
                <a:solidFill>
                  <a:srgbClr val="9DACBC"/>
                </a:solidFill>
              </a:defRPr>
            </a:lvl3pPr>
            <a:lvl4pPr>
              <a:defRPr sz="800" b="0">
                <a:solidFill>
                  <a:srgbClr val="9DACBC"/>
                </a:solidFill>
              </a:defRPr>
            </a:lvl4pPr>
            <a:lvl5pPr>
              <a:defRPr sz="800" b="0">
                <a:solidFill>
                  <a:srgbClr val="9DACBC"/>
                </a:solidFill>
              </a:defRPr>
            </a:lvl5pPr>
            <a:lvl6pPr>
              <a:defRPr sz="800" b="0">
                <a:solidFill>
                  <a:srgbClr val="9DACBC"/>
                </a:solidFill>
              </a:defRPr>
            </a:lvl6pPr>
            <a:lvl7pPr>
              <a:defRPr sz="800" b="0">
                <a:solidFill>
                  <a:srgbClr val="9DACBC"/>
                </a:solidFill>
              </a:defRPr>
            </a:lvl7pPr>
            <a:lvl8pPr>
              <a:defRPr sz="800" b="0">
                <a:solidFill>
                  <a:srgbClr val="9DACBC"/>
                </a:solidFill>
              </a:defRPr>
            </a:lvl8pPr>
            <a:lvl9pPr>
              <a:defRPr sz="800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800" b="0">
                <a:solidFill>
                  <a:srgbClr val="9DACBC"/>
                </a:solidFill>
              </a:defRPr>
            </a:pPr>
            <a:r>
              <a:rPr sz="800" b="0">
                <a:solidFill>
                  <a:srgbClr val="9DACBC"/>
                </a:solidFill>
              </a:rPr>
              <a:t>6 / 6</a:t>
            </a: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3E7027FB-D7E8-4316-B1CF-7A743972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9D94"/>
                </a:solidFill>
              </a:defRPr>
            </a:defPPr>
            <a:lvl1pPr>
              <a:defRPr sz="1875" b="1">
                <a:solidFill>
                  <a:srgbClr val="189D94"/>
                </a:solidFill>
              </a:defRPr>
            </a:lvl1pPr>
            <a:lvl2pPr>
              <a:defRPr sz="1875" b="1">
                <a:solidFill>
                  <a:srgbClr val="189D94"/>
                </a:solidFill>
              </a:defRPr>
            </a:lvl2pPr>
            <a:lvl3pPr>
              <a:defRPr sz="1875" b="1">
                <a:solidFill>
                  <a:srgbClr val="189D94"/>
                </a:solidFill>
              </a:defRPr>
            </a:lvl3pPr>
            <a:lvl4pPr>
              <a:defRPr sz="1875" b="1">
                <a:solidFill>
                  <a:srgbClr val="189D94"/>
                </a:solidFill>
              </a:defRPr>
            </a:lvl4pPr>
            <a:lvl5pPr>
              <a:defRPr sz="1875" b="1">
                <a:solidFill>
                  <a:srgbClr val="189D94"/>
                </a:solidFill>
              </a:defRPr>
            </a:lvl5pPr>
            <a:lvl6pPr>
              <a:defRPr sz="1875" b="1">
                <a:solidFill>
                  <a:srgbClr val="189D94"/>
                </a:solidFill>
              </a:defRPr>
            </a:lvl6pPr>
            <a:lvl7pPr>
              <a:defRPr sz="1875" b="1">
                <a:solidFill>
                  <a:srgbClr val="189D94"/>
                </a:solidFill>
              </a:defRPr>
            </a:lvl7pPr>
            <a:lvl8pPr>
              <a:defRPr sz="1875" b="1">
                <a:solidFill>
                  <a:srgbClr val="189D94"/>
                </a:solidFill>
              </a:defRPr>
            </a:lvl8pPr>
            <a:lvl9pPr>
              <a:defRPr sz="187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9D94"/>
                </a:solidFill>
              </a:defRPr>
            </a:pPr>
            <a:r>
              <a:rPr sz="1875" b="1">
                <a:solidFill>
                  <a:srgbClr val="189D94"/>
                </a:solidFill>
              </a:rPr>
              <a:t>Maintenance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B1940B46-7E9C-44B4-8BD7-D3C625A8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Restore service first. Then improve the controls that keep the same failure from recurring.</a:t>
            </a:r>
          </a:p>
        </p:txBody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6C660836-7833-4136-BC5E-10873671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200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9D94"/>
                </a:solidFill>
              </a:defRPr>
            </a:defPPr>
            <a:lvl1pPr>
              <a:defRPr sz="1875" b="1">
                <a:solidFill>
                  <a:srgbClr val="189D94"/>
                </a:solidFill>
              </a:defRPr>
            </a:lvl1pPr>
            <a:lvl2pPr>
              <a:defRPr sz="1875" b="1">
                <a:solidFill>
                  <a:srgbClr val="189D94"/>
                </a:solidFill>
              </a:defRPr>
            </a:lvl2pPr>
            <a:lvl3pPr>
              <a:defRPr sz="1875" b="1">
                <a:solidFill>
                  <a:srgbClr val="189D94"/>
                </a:solidFill>
              </a:defRPr>
            </a:lvl3pPr>
            <a:lvl4pPr>
              <a:defRPr sz="1875" b="1">
                <a:solidFill>
                  <a:srgbClr val="189D94"/>
                </a:solidFill>
              </a:defRPr>
            </a:lvl4pPr>
            <a:lvl5pPr>
              <a:defRPr sz="1875" b="1">
                <a:solidFill>
                  <a:srgbClr val="189D94"/>
                </a:solidFill>
              </a:defRPr>
            </a:lvl5pPr>
            <a:lvl6pPr>
              <a:defRPr sz="1875" b="1">
                <a:solidFill>
                  <a:srgbClr val="189D94"/>
                </a:solidFill>
              </a:defRPr>
            </a:lvl6pPr>
            <a:lvl7pPr>
              <a:defRPr sz="1875" b="1">
                <a:solidFill>
                  <a:srgbClr val="189D94"/>
                </a:solidFill>
              </a:defRPr>
            </a:lvl7pPr>
            <a:lvl8pPr>
              <a:defRPr sz="1875" b="1">
                <a:solidFill>
                  <a:srgbClr val="189D94"/>
                </a:solidFill>
              </a:defRPr>
            </a:lvl8pPr>
            <a:lvl9pPr>
              <a:defRPr sz="187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9D94"/>
                </a:solidFill>
              </a:defRPr>
            </a:pPr>
            <a:r>
              <a:rPr sz="1875" b="1">
                <a:solidFill>
                  <a:srgbClr val="189D94"/>
                </a:solidFill>
              </a:rPr>
              <a:t>Technical debt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6A52D3F7-6CE0-4E78-A2EB-A3238F09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62125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Shortcuts in testing and deployment can turn today’s speed into tomorrow’s outage costs.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3CB44D28-DE97-4F07-A1A5-575F237D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200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89D94"/>
                </a:solidFill>
              </a:defRPr>
            </a:defPPr>
            <a:lvl1pPr>
              <a:defRPr sz="1875" b="1">
                <a:solidFill>
                  <a:srgbClr val="189D94"/>
                </a:solidFill>
              </a:defRPr>
            </a:lvl1pPr>
            <a:lvl2pPr>
              <a:defRPr sz="1875" b="1">
                <a:solidFill>
                  <a:srgbClr val="189D94"/>
                </a:solidFill>
              </a:defRPr>
            </a:lvl2pPr>
            <a:lvl3pPr>
              <a:defRPr sz="1875" b="1">
                <a:solidFill>
                  <a:srgbClr val="189D94"/>
                </a:solidFill>
              </a:defRPr>
            </a:lvl3pPr>
            <a:lvl4pPr>
              <a:defRPr sz="1875" b="1">
                <a:solidFill>
                  <a:srgbClr val="189D94"/>
                </a:solidFill>
              </a:defRPr>
            </a:lvl4pPr>
            <a:lvl5pPr>
              <a:defRPr sz="1875" b="1">
                <a:solidFill>
                  <a:srgbClr val="189D94"/>
                </a:solidFill>
              </a:defRPr>
            </a:lvl5pPr>
            <a:lvl6pPr>
              <a:defRPr sz="1875" b="1">
                <a:solidFill>
                  <a:srgbClr val="189D94"/>
                </a:solidFill>
              </a:defRPr>
            </a:lvl6pPr>
            <a:lvl7pPr>
              <a:defRPr sz="1875" b="1">
                <a:solidFill>
                  <a:srgbClr val="189D94"/>
                </a:solidFill>
              </a:defRPr>
            </a:lvl7pPr>
            <a:lvl8pPr>
              <a:defRPr sz="1875" b="1">
                <a:solidFill>
                  <a:srgbClr val="189D94"/>
                </a:solidFill>
              </a:defRPr>
            </a:lvl8pPr>
            <a:lvl9pPr>
              <a:defRPr sz="1875" b="1">
                <a:solidFill>
                  <a:srgbClr val="189D94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9D94"/>
                </a:solidFill>
              </a:defRPr>
            </a:pPr>
            <a:r>
              <a:rPr sz="1875" b="1">
                <a:solidFill>
                  <a:srgbClr val="189D94"/>
                </a:solidFill>
              </a:rPr>
              <a:t>Refactoring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2B236E01-03F8-4943-A1E0-40EC8851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62125"/>
            <a:ext cx="247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00" b="0">
                <a:solidFill>
                  <a:srgbClr val="F7F9FC"/>
                </a:solidFill>
              </a:defRPr>
            </a:defPPr>
            <a:lvl1pPr>
              <a:defRPr sz="1700" b="0">
                <a:solidFill>
                  <a:srgbClr val="F7F9FC"/>
                </a:solidFill>
              </a:defRPr>
            </a:lvl1pPr>
            <a:lvl2pPr>
              <a:defRPr sz="1700" b="0">
                <a:solidFill>
                  <a:srgbClr val="F7F9FC"/>
                </a:solidFill>
              </a:defRPr>
            </a:lvl2pPr>
            <a:lvl3pPr>
              <a:defRPr sz="1700" b="0">
                <a:solidFill>
                  <a:srgbClr val="F7F9FC"/>
                </a:solidFill>
              </a:defRPr>
            </a:lvl3pPr>
            <a:lvl4pPr>
              <a:defRPr sz="1700" b="0">
                <a:solidFill>
                  <a:srgbClr val="F7F9FC"/>
                </a:solidFill>
              </a:defRPr>
            </a:lvl4pPr>
            <a:lvl5pPr>
              <a:defRPr sz="1700" b="0">
                <a:solidFill>
                  <a:srgbClr val="F7F9FC"/>
                </a:solidFill>
              </a:defRPr>
            </a:lvl5pPr>
            <a:lvl6pPr>
              <a:defRPr sz="1700" b="0">
                <a:solidFill>
                  <a:srgbClr val="F7F9FC"/>
                </a:solidFill>
              </a:defRPr>
            </a:lvl6pPr>
            <a:lvl7pPr>
              <a:defRPr sz="1700" b="0">
                <a:solidFill>
                  <a:srgbClr val="F7F9FC"/>
                </a:solidFill>
              </a:defRPr>
            </a:lvl7pPr>
            <a:lvl8pPr>
              <a:defRPr sz="1700" b="0">
                <a:solidFill>
                  <a:srgbClr val="F7F9FC"/>
                </a:solidFill>
              </a:defRPr>
            </a:lvl8pPr>
            <a:lvl9pPr>
              <a:defRPr sz="1700" b="0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1700" b="0">
                <a:solidFill>
                  <a:srgbClr val="F7F9FC"/>
                </a:solidFill>
              </a:defRPr>
            </a:pPr>
            <a:r>
              <a:rPr sz="1700" b="0">
                <a:solidFill>
                  <a:srgbClr val="F7F9FC"/>
                </a:solidFill>
              </a:rPr>
              <a:t>Preserve safety limits as well as feature behavior. Test resource use, not only correct answers.</a:t>
            </a:r>
          </a:p>
        </p:txBody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F2E7F836-2622-4DC4-AD3D-FB1A1CE5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5675"/>
            <a:ext cx="80867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F7F9FC"/>
                </a:solidFill>
              </a:defRPr>
            </a:defPPr>
            <a:lvl1pPr>
              <a:defRPr sz="2550" b="1">
                <a:solidFill>
                  <a:srgbClr val="F7F9FC"/>
                </a:solidFill>
              </a:defRPr>
            </a:lvl1pPr>
            <a:lvl2pPr>
              <a:defRPr sz="2550" b="1">
                <a:solidFill>
                  <a:srgbClr val="F7F9FC"/>
                </a:solidFill>
              </a:defRPr>
            </a:lvl2pPr>
            <a:lvl3pPr>
              <a:defRPr sz="2550" b="1">
                <a:solidFill>
                  <a:srgbClr val="F7F9FC"/>
                </a:solidFill>
              </a:defRPr>
            </a:lvl3pPr>
            <a:lvl4pPr>
              <a:defRPr sz="2550" b="1">
                <a:solidFill>
                  <a:srgbClr val="F7F9FC"/>
                </a:solidFill>
              </a:defRPr>
            </a:lvl4pPr>
            <a:lvl5pPr>
              <a:defRPr sz="2550" b="1">
                <a:solidFill>
                  <a:srgbClr val="F7F9FC"/>
                </a:solidFill>
              </a:defRPr>
            </a:lvl5pPr>
            <a:lvl6pPr>
              <a:defRPr sz="2550" b="1">
                <a:solidFill>
                  <a:srgbClr val="F7F9FC"/>
                </a:solidFill>
              </a:defRPr>
            </a:lvl6pPr>
            <a:lvl7pPr>
              <a:defRPr sz="2550" b="1">
                <a:solidFill>
                  <a:srgbClr val="F7F9FC"/>
                </a:solidFill>
              </a:defRPr>
            </a:lvl7pPr>
            <a:lvl8pPr>
              <a:defRPr sz="2550" b="1">
                <a:solidFill>
                  <a:srgbClr val="F7F9FC"/>
                </a:solidFill>
              </a:defRPr>
            </a:lvl8pPr>
            <a:lvl9pPr>
              <a:defRPr sz="2550" b="1">
                <a:solidFill>
                  <a:srgbClr val="F7F9FC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7F9FC"/>
                </a:solidFill>
              </a:defRPr>
            </a:pPr>
            <a:r>
              <a:rPr sz="2550" b="1">
                <a:solidFill>
                  <a:srgbClr val="F7F9FC"/>
                </a:solidFill>
              </a:rPr>
              <a:t>Does “the same output” mean</a:t>
            </a:r>
          </a:p>
          <a:p xmlns:a="http://schemas.openxmlformats.org/drawingml/2006/main">
            <a:pPr>
              <a:defRPr sz="2550" b="1">
                <a:solidFill>
                  <a:srgbClr val="F7F9FC"/>
                </a:solidFill>
              </a:defRPr>
            </a:pPr>
            <a:r>
              <a:rPr sz="2550" b="1">
                <a:solidFill>
                  <a:srgbClr val="F7F9FC"/>
                </a:solidFill>
              </a:rPr>
              <a:t>“the same behavior” under load?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26E8F95A-33C0-492A-8D4E-4B2AF070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80867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9DACBC"/>
                </a:solidFill>
              </a:defRPr>
            </a:defPPr>
            <a:lvl1pPr>
              <a:defRPr sz="1275" b="0">
                <a:solidFill>
                  <a:srgbClr val="9DACBC"/>
                </a:solidFill>
              </a:defRPr>
            </a:lvl1pPr>
            <a:lvl2pPr>
              <a:defRPr sz="1275" b="0">
                <a:solidFill>
                  <a:srgbClr val="9DACBC"/>
                </a:solidFill>
              </a:defRPr>
            </a:lvl2pPr>
            <a:lvl3pPr>
              <a:defRPr sz="1275" b="0">
                <a:solidFill>
                  <a:srgbClr val="9DACBC"/>
                </a:solidFill>
              </a:defRPr>
            </a:lvl3pPr>
            <a:lvl4pPr>
              <a:defRPr sz="1275" b="0">
                <a:solidFill>
                  <a:srgbClr val="9DACBC"/>
                </a:solidFill>
              </a:defRPr>
            </a:lvl4pPr>
            <a:lvl5pPr>
              <a:defRPr sz="1275" b="0">
                <a:solidFill>
                  <a:srgbClr val="9DACBC"/>
                </a:solidFill>
              </a:defRPr>
            </a:lvl5pPr>
            <a:lvl6pPr>
              <a:defRPr sz="1275" b="0">
                <a:solidFill>
                  <a:srgbClr val="9DACBC"/>
                </a:solidFill>
              </a:defRPr>
            </a:lvl6pPr>
            <a:lvl7pPr>
              <a:defRPr sz="1275" b="0">
                <a:solidFill>
                  <a:srgbClr val="9DACBC"/>
                </a:solidFill>
              </a:defRPr>
            </a:lvl7pPr>
            <a:lvl8pPr>
              <a:defRPr sz="1275" b="0">
                <a:solidFill>
                  <a:srgbClr val="9DACBC"/>
                </a:solidFill>
              </a:defRPr>
            </a:lvl8pPr>
            <a:lvl9pPr>
              <a:defRPr sz="1275" b="0">
                <a:solidFill>
                  <a:srgbClr val="9DACB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9DACBC"/>
                </a:solidFill>
              </a:defRPr>
            </a:pPr>
            <a:r>
              <a:rPr sz="1275" b="0">
                <a:solidFill>
                  <a:srgbClr val="9DACBC"/>
                </a:solidFill>
              </a:rPr>
              <a:t>Test processing cost. Limit rollout exposure. Rehearse recovery without normal tools.</a:t>
            </a:r>
          </a:p>
        </p:txBody>
      </p:sp>
    </p:spTree>
    <p:extLst>
      <p:ext uri="{BB962C8B-B14F-4D97-AF65-F5344CB8AC3E}">
        <p14:creationId xmlns:p14="http://schemas.microsoft.com/office/powerpoint/2010/main" val="1189150480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2026-10-27T17:25:06.9240000Z</dcterms:created>
  <dcterms:modified xsi:type="dcterms:W3CDTF">2026-10-27T17:25:06.9240000Z</dcterms:modified>
</coreProperties>
</file>