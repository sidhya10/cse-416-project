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88f07e4e1349db" /><Relationship Type="http://schemas.openxmlformats.org/officeDocument/2006/relationships/extended-properties" Target="/docProps/app.xml" Id="Rb6a617008fda4409" /><Relationship Type="http://schemas.openxmlformats.org/officeDocument/2006/relationships/officeDocument" Target="/ppt/presentation.xml" Id="R311e5c9180bd4d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c2e68a7b7c415e"/>
    <p:sldMasterId xmlns:r="http://schemas.openxmlformats.org/officeDocument/2006/relationships" id="2147483660" r:id="R0de231e1bc63484c"/>
  </p:sldMasterIdLst>
  <p:notesMasterIdLst>
    <p:notesMasterId xmlns:r="http://schemas.openxmlformats.org/officeDocument/2006/relationships" r:id="Ra31ec3a1eb6d4f15"/>
  </p:notesMasterIdLst>
  <p:sldIdLst>
    <p:sldId xmlns:r="http://schemas.openxmlformats.org/officeDocument/2006/relationships" id="256" r:id="R8996bcdd476a4c36"/>
    <p:sldId xmlns:r="http://schemas.openxmlformats.org/officeDocument/2006/relationships" id="257" r:id="R5a30c649fb3e4ac4"/>
    <p:sldId xmlns:r="http://schemas.openxmlformats.org/officeDocument/2006/relationships" id="258" r:id="R32b620f168094360"/>
    <p:sldId xmlns:r="http://schemas.openxmlformats.org/officeDocument/2006/relationships" id="259" r:id="Rb13374b2007e4c6d"/>
    <p:sldId xmlns:r="http://schemas.openxmlformats.org/officeDocument/2006/relationships" id="260" r:id="R2bdec344f8cd4a7c"/>
  </p:sldIdLst>
  <p:sldSz cx="9144000" cy="51435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99f6a2e8ec4f5e" /><Relationship Type="http://schemas.openxmlformats.org/officeDocument/2006/relationships/slideMaster" Target="/ppt/slideMasters/slideMaster1.xml" Id="R86c2e68a7b7c415e" /><Relationship Type="http://schemas.openxmlformats.org/officeDocument/2006/relationships/slideMaster" Target="/ppt/slideMasters/slideMaster2.xml" Id="R0de231e1bc63484c" /><Relationship Type="http://schemas.openxmlformats.org/officeDocument/2006/relationships/notesMaster" Target="/ppt/notesMasters/notesMaster1.xml" Id="Ra31ec3a1eb6d4f15" /><Relationship Type="http://schemas.openxmlformats.org/officeDocument/2006/relationships/presProps" Target="/ppt/presProps.xml" Id="R90cb6fcf1c08486f" /><Relationship Type="http://schemas.openxmlformats.org/officeDocument/2006/relationships/viewProps" Target="/ppt/viewProps.xml" Id="Rd7e481e302124519" /><Relationship Type="http://schemas.openxmlformats.org/officeDocument/2006/relationships/tableStyles" Target="/ppt/tableStyles.xml" Id="R2681afe3000c4eee" /><Relationship Type="http://schemas.openxmlformats.org/officeDocument/2006/relationships/slide" Target="/ppt/slides/slide1.xml" Id="R8996bcdd476a4c36" /><Relationship Type="http://schemas.openxmlformats.org/officeDocument/2006/relationships/slide" Target="/ppt/slides/slide2.xml" Id="R5a30c649fb3e4ac4" /><Relationship Type="http://schemas.openxmlformats.org/officeDocument/2006/relationships/slide" Target="/ppt/slides/slide3.xml" Id="R32b620f168094360" /><Relationship Type="http://schemas.openxmlformats.org/officeDocument/2006/relationships/slide" Target="/ppt/slides/slide4.xml" Id="Rb13374b2007e4c6d" /><Relationship Type="http://schemas.openxmlformats.org/officeDocument/2006/relationships/slide" Target="/ppt/slides/slide5.xml" Id="R2bdec344f8cd4a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48b08828bd0344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5d7e773e7e46c3" /><Relationship Type="http://schemas.openxmlformats.org/officeDocument/2006/relationships/notesMaster" Target="/ppt/notesMasters/notesMaster1.xml" Id="R435eea739d1143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787fc9b9dc4d85" /><Relationship Type="http://schemas.openxmlformats.org/officeDocument/2006/relationships/notesMaster" Target="/ppt/notesMasters/notesMaster1.xml" Id="Rafa14ca7f17c4b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1a0ff2a17b4b3f" /><Relationship Type="http://schemas.openxmlformats.org/officeDocument/2006/relationships/notesMaster" Target="/ppt/notesMasters/notesMaster1.xml" Id="R338337b193014b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0014fb05724335" /><Relationship Type="http://schemas.openxmlformats.org/officeDocument/2006/relationships/notesMaster" Target="/ppt/notesMasters/notesMaster1.xml" Id="Ra5a59f27a85a44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b9879e71ca4237" /><Relationship Type="http://schemas.openxmlformats.org/officeDocument/2006/relationships/notesMaster" Target="/ppt/notesMasters/notesMaster1.xml" Id="R5d8b6d9b4d9e40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Explain the setup as an intermediary: a visitor’s request passes through Cloudflare before reaching the site. A 502 error means that intermediary could not obtain the response it needed. The 82% figure describes Cloudflare’s traffic drop, not 82% of the Internet.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An everyday example: a visitor may be unable to open a store or complete an online task. This is an illustration of availability impact, not a measured financial-loss claim.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https://blog.cloudflare.com/cloudflare-outage/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Presentation detail: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Cloudflare sits between visitors and websites. Its servers deliver content and screen requests before they reach a website’s own server.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 July 2, a firewall rule update overloaded servers worldwide. Visitors saw “502 Bad Gateway” errors instead of web pages.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outage lasted 27 minutes. CPU usage reached 100%, and Cloudflare’s traffic fell 82% at its worst.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Why it mattered: one shared provider’s failure interrupted many customers at once, even when their own websites were otherwise healthy.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Read the pattern aloud as: any text, followed by any text, followed by an equals sign, then any text. This is a simplified fragment, not the complete deployed expression.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Illustrative example: when a candidate input lacks an equals sign, a backtracking matcher can repeatedly redistribute characters between the wildcard sections before deciding there is no match. A check can be logically correct yet too expensive to run on every request. Avoid calling this an infinite loop: the problem is excessive repeated work.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https://blog.cloudflare.com/cloudflare-outage/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Presentation detail: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web application firewall (WAF) checks requests for suspicious content. This update targeted malicious JavaScript.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regular expression, or regex, is a text-search pattern. The simplified fragment .*.*=.* contains overlapping “match anything” sections.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Backtracking means retrying different ways to match the same text. Here, the repeated work consumed the CPU needed to serve requests.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“Simulate” mode only stopped the rule from blocking visitors. It still ran the expensive check on real traffic.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Case analysis: several defenses failed together. A useful test plan asks both “Does this rule classify traffic correctly?” and “Can we afford to execute it under load?”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staged rollout exposes a small traffic sample first. Teams watch errors and CPU before expanding it. That limits how many customers encounter an undetected defect.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debt connection is the accumulated risk in testing, deployment, and recovery procedures. The new regex triggered the incident, while existing weaknesses increased its severity.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Presentation detail: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Earlier refactoring accidentally removed a CPU safeguard. The effort to improve performance weakened a protection against costly rules.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Tests checked which requests to allow or block. They did not catch runaway CPU use, so passing tests gave incomplete reassurance.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rollout sent the rule worldwide without a limited trial. A local defect therefore became a global availability problem.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Recovery also depended on affected systems. Engineers struggled to access internal tools, making an emergency change harder.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All times refer to July 2, 2019, in UTC. A rollback restores an earlier configuration or version. Disabling the affected component first removes the immediate load, giving the team room to investigate.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Make the two recovery milestones explicit: people could access websites again at 14:09, but the WAF returned at 14:52. Traffic recovery therefore does not mean every protection was already back. The detailed postmortem gives the 14:07 termination time and 14:00 diagnosis.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https://blog.cloudflare.com/cloudflare-outage/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Presentation detail: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13:42 UTC: the rule goes live. By 14:00, engineers identify the WAF as the source of CPU exhaustion.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14:07 UTC: they disable the WAF globally. By 14:09, CPU usage and traffic return to normal.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They roll back the faulty rule and test the fix. At 14:52 UTC, they restore the WAF worldwide.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tradeoff: websites recover before WAF inspection returns. Other security protections remain active during that interval.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Image: original CPU chart, Cloudflare engineering postmortem. https://blog.cloudflare.com/_emdash/api/media/file/01KW44G5FHMGT7B6C2NGNFWVW7.png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chart shows one location, not a separately measured global average.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first bullet describes work reported complete. The following actions were announced in the July 12 postmortem, so this slide does not claim they had all shipped by that date.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RE2 explanation: for a fixed pattern, work scales proportionally with input length instead of exploding through repeated retries. This does not mean every expression takes the same time. RE2 also restricts syntax: features such as backreferences and look-around are unsupported. A migration therefore needs compatibility tests.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https://github.com/google/re2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Presentation detail: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Completed by July 12: restored the CPU safeguard and inspected all 3,868 managed rules for similar problems.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Planned testing: profile each rule’s performance. That means measuring its processing cost, beyond whether it gives the right answer.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Planned rollout: release rules in stages. Planned engine change: use RE2 or Rust regex with runtime guarantees.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Why the engine matters: RE2 bounds matching time linearly in input length for a fixed pattern, avoiding unbounded backtracking.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Additional lessons and discussion: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These are the presentation’s conclusions from the case. Corrective maintenance addresses an existing defect. Preventive maintenance reduces the likelihood of future failures.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Refactoring changes a program’s internal structure while preserving external behavior. The case shows why a team must identify the protections that need to survive a code change. A proposed regression test could run difficult inputs and fail when a rule exceeds an agreed processing budget. This is a recommendation, not a claim about Cloudflare’s exact implementation.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question: If a change returns the same answers but makes the service unavailable under load, has it preserved the behavior users need?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Concept source: https://refactoring.com/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Case evidence: 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Maintenance includes keeping changes safe. Fixing the broken rule restores service, while stronger tests help prevent another failure.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Technical debt can live in processes too. Saving time on rollout or testing can create larger debugging and outage costs later.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Refactoring should preserve behavior. Teams also need regression tests for safety limits that ordinary feature tests may miss.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Practical takeaway: test correctness and resource use, expand releases gradually, and rehearse recovery when normal tools are unavailable.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94aabdb8e24c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70abc49d0847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0d5264536845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b2025dd95341a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a029161a8d42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32d7564e4c4e0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ae144d85d54a8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d5c5d7b448496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fbb43348d849d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e015db539f4c5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81ab5cc90f45d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68c1f5ec6cb47f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da310bf549d430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89ef8da069e48e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52534dffb6a46c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6cb248a11ba4908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3992f961ca84bf9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365ba077610455b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1ac20667011413f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fab56bddce94b08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a744102c6a24fca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129d8930bc345f8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1DBF76A6-E7D2-471D-B830-32429652E37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E5A822B7-ECC4-4B1E-A898-FBDD797666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C0D249F6-92AF-4248-A4EF-203EA11223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0CF78C72-9B57-4D6E-B176-B199B80FFD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02D4A4CB-5C1F-4DB5-AFFF-63B0F5E1DE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BC4DEEFE-F3C1-4E2B-8DFF-5A72620384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51F2D044-A6A1-4FD7-AAC5-35464A6C4C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3C219DB9-D6F3-4F19-AE9F-BC7FEC9F78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7C351D77-650D-4C35-BAB4-87F6042CC1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577321CC-D77F-4756-8190-C73A397EF0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886B9A7D-7F51-4659-AC7A-DB03DAC1D8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8BDF4B95-3A2D-46E2-B0C9-497D1B6FE4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8D15B4F0-2F8C-4FDF-8A75-C78C0CB64A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7D316778-65A9-4276-9371-442A12D887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54F75451-516A-48D3-B611-98DD27A15A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B21F1E27-CCAF-4BD4-AD23-D3EB5151BB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BF5F9220-160D-45E5-A1DE-F50753520C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9C3C1CEB-15D9-40A8-B6E2-5DF40449E2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0A5E59FF-99F7-42DB-8D11-870BF0B373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69FD25FC-8B8F-41D3-A558-C7AE1D58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37FAD47B-205E-42B3-AAC7-39F652F1D8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1765499E-59CE-49F4-BC16-5A4A28602A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085CC6B3-85BF-4E68-9055-D2FEDF149B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DC3153D5-3CD3-475C-B048-C55CC6CBC9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B1CA9F07-74FA-4B46-A28A-AFB881310F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FE65C115-9003-41EC-92BA-3D9E1EBB81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28C2E02A-7FCD-4805-9EEA-99E10A97C64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09DA680B-21CA-4345-B216-C76042BAF3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D1D66801-7DAF-4EF3-AD86-D017E7876C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D1554BA4-7261-4683-8020-C57E6A1FD5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14">
            <a:extLst xmlns:a="http://schemas.openxmlformats.org/drawingml/2006/main">
              <a:ext uri="{FF2B5EF4-FFF2-40B4-BE49-F238E27FC236}">
                <a16:creationId xmlns:a16="http://schemas.microsoft.com/office/drawing/2014/main" id="{43145B99-D6CF-498D-899E-3D68550B74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8" name="Google Shape;58;p14">
            <a:extLst xmlns:a="http://schemas.openxmlformats.org/drawingml/2006/main">
              <a:ext uri="{FF2B5EF4-FFF2-40B4-BE49-F238E27FC236}">
                <a16:creationId xmlns:a16="http://schemas.microsoft.com/office/drawing/2014/main" id="{1967EECE-ED64-465F-8A12-324B2CA21F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14">
            <a:extLst xmlns:a="http://schemas.openxmlformats.org/drawingml/2006/main">
              <a:ext uri="{FF2B5EF4-FFF2-40B4-BE49-F238E27FC236}">
                <a16:creationId xmlns:a16="http://schemas.microsoft.com/office/drawing/2014/main" id="{DD12850B-30AD-4A2A-AEB7-8F641AD2F4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Google Shape;61;p15">
            <a:extLst xmlns:a="http://schemas.openxmlformats.org/drawingml/2006/main">
              <a:ext uri="{FF2B5EF4-FFF2-40B4-BE49-F238E27FC236}">
                <a16:creationId xmlns:a16="http://schemas.microsoft.com/office/drawing/2014/main" id="{08DB5432-B0B4-4B00-BB52-BC5275C6DE4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14364" y="1597819"/>
            <a:ext cx="5829455" cy="110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2" name="Google Shape;62;p15">
            <a:extLst xmlns:a="http://schemas.openxmlformats.org/drawingml/2006/main">
              <a:ext uri="{FF2B5EF4-FFF2-40B4-BE49-F238E27FC236}">
                <a16:creationId xmlns:a16="http://schemas.microsoft.com/office/drawing/2014/main" id="{B9CBC5D6-B22F-4715-8398-4BDD2CB329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28727" y="2914650"/>
            <a:ext cx="480072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3" name="Google Shape;63;p15">
            <a:extLst xmlns:a="http://schemas.openxmlformats.org/drawingml/2006/main">
              <a:ext uri="{FF2B5EF4-FFF2-40B4-BE49-F238E27FC236}">
                <a16:creationId xmlns:a16="http://schemas.microsoft.com/office/drawing/2014/main" id="{31826811-9344-412B-9F53-529AAF345A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4" name="Google Shape;64;p15">
            <a:extLst xmlns:a="http://schemas.openxmlformats.org/drawingml/2006/main">
              <a:ext uri="{FF2B5EF4-FFF2-40B4-BE49-F238E27FC236}">
                <a16:creationId xmlns:a16="http://schemas.microsoft.com/office/drawing/2014/main" id="{5516ECAF-2EF6-46EF-B5C6-21D535A2CA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5" name="Google Shape;65;p15">
            <a:extLst xmlns:a="http://schemas.openxmlformats.org/drawingml/2006/main">
              <a:ext uri="{FF2B5EF4-FFF2-40B4-BE49-F238E27FC236}">
                <a16:creationId xmlns:a16="http://schemas.microsoft.com/office/drawing/2014/main" id="{B1678455-3D97-43A1-B0F0-C804D57E5A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6">
            <a:extLst xmlns:a="http://schemas.openxmlformats.org/drawingml/2006/main">
              <a:ext uri="{FF2B5EF4-FFF2-40B4-BE49-F238E27FC236}">
                <a16:creationId xmlns:a16="http://schemas.microsoft.com/office/drawing/2014/main" id="{A83B252E-2AE6-41DF-AA77-4C2CC36FB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8" name="Google Shape;68;p16">
            <a:extLst xmlns:a="http://schemas.openxmlformats.org/drawingml/2006/main">
              <a:ext uri="{FF2B5EF4-FFF2-40B4-BE49-F238E27FC236}">
                <a16:creationId xmlns:a16="http://schemas.microsoft.com/office/drawing/2014/main" id="{6D0AA315-7A00-4C09-A9D0-FB5500160A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9" y="1200150"/>
            <a:ext cx="6172365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9" name="Google Shape;69;p16">
            <a:extLst xmlns:a="http://schemas.openxmlformats.org/drawingml/2006/main">
              <a:ext uri="{FF2B5EF4-FFF2-40B4-BE49-F238E27FC236}">
                <a16:creationId xmlns:a16="http://schemas.microsoft.com/office/drawing/2014/main" id="{3075F3F2-3883-412C-9881-25820CE150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16">
            <a:extLst xmlns:a="http://schemas.openxmlformats.org/drawingml/2006/main">
              <a:ext uri="{FF2B5EF4-FFF2-40B4-BE49-F238E27FC236}">
                <a16:creationId xmlns:a16="http://schemas.microsoft.com/office/drawing/2014/main" id="{4568A37F-A757-4223-B052-7EAB143352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1" name="Google Shape;71;p16">
            <a:extLst xmlns:a="http://schemas.openxmlformats.org/drawingml/2006/main">
              <a:ext uri="{FF2B5EF4-FFF2-40B4-BE49-F238E27FC236}">
                <a16:creationId xmlns:a16="http://schemas.microsoft.com/office/drawing/2014/main" id="{FCCA3380-B471-4ADA-8899-7BEE733F25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Google Shape;73;p17">
            <a:extLst xmlns:a="http://schemas.openxmlformats.org/drawingml/2006/main">
              <a:ext uri="{FF2B5EF4-FFF2-40B4-BE49-F238E27FC236}">
                <a16:creationId xmlns:a16="http://schemas.microsoft.com/office/drawing/2014/main" id="{F7AFA3AE-B225-4E96-9C80-3D334F97CF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1749" y="3305175"/>
            <a:ext cx="5829455" cy="1021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 cap="none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4" name="Google Shape;74;p17">
            <a:extLst xmlns:a="http://schemas.openxmlformats.org/drawingml/2006/main">
              <a:ext uri="{FF2B5EF4-FFF2-40B4-BE49-F238E27FC236}">
                <a16:creationId xmlns:a16="http://schemas.microsoft.com/office/drawing/2014/main" id="{02AD6477-B245-464B-92EE-D55653B5D9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1749" y="2180035"/>
            <a:ext cx="5829455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5" name="Google Shape;75;p17">
            <a:extLst xmlns:a="http://schemas.openxmlformats.org/drawingml/2006/main">
              <a:ext uri="{FF2B5EF4-FFF2-40B4-BE49-F238E27FC236}">
                <a16:creationId xmlns:a16="http://schemas.microsoft.com/office/drawing/2014/main" id="{9E3BA603-D8D2-4DD4-9518-91C715BBCA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17">
            <a:extLst xmlns:a="http://schemas.openxmlformats.org/drawingml/2006/main">
              <a:ext uri="{FF2B5EF4-FFF2-40B4-BE49-F238E27FC236}">
                <a16:creationId xmlns:a16="http://schemas.microsoft.com/office/drawing/2014/main" id="{7B2F198C-F4B0-4BE7-82E7-86A5E02547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7" name="Google Shape;77;p17">
            <a:extLst xmlns:a="http://schemas.openxmlformats.org/drawingml/2006/main">
              <a:ext uri="{FF2B5EF4-FFF2-40B4-BE49-F238E27FC236}">
                <a16:creationId xmlns:a16="http://schemas.microsoft.com/office/drawing/2014/main" id="{9984B88A-8543-4167-BAF7-0FAC1A84BC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18">
            <a:extLst xmlns:a="http://schemas.openxmlformats.org/drawingml/2006/main">
              <a:ext uri="{FF2B5EF4-FFF2-40B4-BE49-F238E27FC236}">
                <a16:creationId xmlns:a16="http://schemas.microsoft.com/office/drawing/2014/main" id="{84F360A3-4E43-4DF4-BEB1-3B200D482C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80" name="Google Shape;80;p18">
            <a:extLst xmlns:a="http://schemas.openxmlformats.org/drawingml/2006/main">
              <a:ext uri="{FF2B5EF4-FFF2-40B4-BE49-F238E27FC236}">
                <a16:creationId xmlns:a16="http://schemas.microsoft.com/office/drawing/2014/main" id="{27E3E39E-8C4A-4D32-A0D9-70890466CC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9" y="1200150"/>
            <a:ext cx="3029031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 xmlns:a="http://schemas.openxmlformats.org/drawingml/2006/main"/>
        </p:txBody>
      </p:sp>
      <p:sp>
        <p:nvSpPr>
          <p:cNvPr id="81" name="Google Shape;81;p18">
            <a:extLst xmlns:a="http://schemas.openxmlformats.org/drawingml/2006/main">
              <a:ext uri="{FF2B5EF4-FFF2-40B4-BE49-F238E27FC236}">
                <a16:creationId xmlns:a16="http://schemas.microsoft.com/office/drawing/2014/main" id="{50636CCF-E785-40B8-BECA-22B8795766B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86243" y="1200150"/>
            <a:ext cx="3029031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 xmlns:a="http://schemas.openxmlformats.org/drawingml/2006/main"/>
        </p:txBody>
      </p:sp>
      <p:sp>
        <p:nvSpPr>
          <p:cNvPr id="82" name="Google Shape;82;p18">
            <a:extLst xmlns:a="http://schemas.openxmlformats.org/drawingml/2006/main">
              <a:ext uri="{FF2B5EF4-FFF2-40B4-BE49-F238E27FC236}">
                <a16:creationId xmlns:a16="http://schemas.microsoft.com/office/drawing/2014/main" id="{8206F119-D792-4E9A-99AE-E122FFC3B5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83" name="Google Shape;83;p18">
            <a:extLst xmlns:a="http://schemas.openxmlformats.org/drawingml/2006/main">
              <a:ext uri="{FF2B5EF4-FFF2-40B4-BE49-F238E27FC236}">
                <a16:creationId xmlns:a16="http://schemas.microsoft.com/office/drawing/2014/main" id="{46802ACF-571C-4DD8-BD95-DDB41F0728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84" name="Google Shape;84;p18">
            <a:extLst xmlns:a="http://schemas.openxmlformats.org/drawingml/2006/main">
              <a:ext uri="{FF2B5EF4-FFF2-40B4-BE49-F238E27FC236}">
                <a16:creationId xmlns:a16="http://schemas.microsoft.com/office/drawing/2014/main" id="{1AFD0D8B-284A-4D31-804A-4FFD78B542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Google Shape;86;p19">
            <a:extLst xmlns:a="http://schemas.openxmlformats.org/drawingml/2006/main">
              <a:ext uri="{FF2B5EF4-FFF2-40B4-BE49-F238E27FC236}">
                <a16:creationId xmlns:a16="http://schemas.microsoft.com/office/drawing/2014/main" id="{1F91341F-BBDC-4587-A0A9-FA7C1FAA82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87" name="Google Shape;87;p19">
            <a:extLst xmlns:a="http://schemas.openxmlformats.org/drawingml/2006/main">
              <a:ext uri="{FF2B5EF4-FFF2-40B4-BE49-F238E27FC236}">
                <a16:creationId xmlns:a16="http://schemas.microsoft.com/office/drawing/2014/main" id="{444CDE19-26A4-40CA-8864-3B9D6BF5AC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9" y="1151335"/>
            <a:ext cx="3030222" cy="479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88" name="Google Shape;88;p19">
            <a:extLst xmlns:a="http://schemas.openxmlformats.org/drawingml/2006/main">
              <a:ext uri="{FF2B5EF4-FFF2-40B4-BE49-F238E27FC236}">
                <a16:creationId xmlns:a16="http://schemas.microsoft.com/office/drawing/2014/main" id="{7725B640-C6CB-4E7A-BDBF-396F05DDFD3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2909" y="1631156"/>
            <a:ext cx="3030222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 xmlns:a="http://schemas.openxmlformats.org/drawingml/2006/main"/>
        </p:txBody>
      </p:sp>
      <p:sp>
        <p:nvSpPr>
          <p:cNvPr id="89" name="Google Shape;89;p19">
            <a:extLst xmlns:a="http://schemas.openxmlformats.org/drawingml/2006/main">
              <a:ext uri="{FF2B5EF4-FFF2-40B4-BE49-F238E27FC236}">
                <a16:creationId xmlns:a16="http://schemas.microsoft.com/office/drawing/2014/main" id="{18DF8F34-830D-4033-8C92-1B243233B87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3483862" y="1151335"/>
            <a:ext cx="3031412" cy="479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90" name="Google Shape;90;p19">
            <a:extLst xmlns:a="http://schemas.openxmlformats.org/drawingml/2006/main">
              <a:ext uri="{FF2B5EF4-FFF2-40B4-BE49-F238E27FC236}">
                <a16:creationId xmlns:a16="http://schemas.microsoft.com/office/drawing/2014/main" id="{6E8CC8CC-801B-4793-9F90-1D4DE0CA33F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3483862" y="1631156"/>
            <a:ext cx="3031412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 xmlns:a="http://schemas.openxmlformats.org/drawingml/2006/main"/>
        </p:txBody>
      </p:sp>
      <p:sp>
        <p:nvSpPr>
          <p:cNvPr id="91" name="Google Shape;91;p19">
            <a:extLst xmlns:a="http://schemas.openxmlformats.org/drawingml/2006/main">
              <a:ext uri="{FF2B5EF4-FFF2-40B4-BE49-F238E27FC236}">
                <a16:creationId xmlns:a16="http://schemas.microsoft.com/office/drawing/2014/main" id="{50BC3EBA-33D7-45DD-A199-D714C8FD41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2" name="Google Shape;92;p19">
            <a:extLst xmlns:a="http://schemas.openxmlformats.org/drawingml/2006/main">
              <a:ext uri="{FF2B5EF4-FFF2-40B4-BE49-F238E27FC236}">
                <a16:creationId xmlns:a16="http://schemas.microsoft.com/office/drawing/2014/main" id="{111C725B-9BDC-4E5B-8D0A-5000A64F54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3" name="Google Shape;93;p19">
            <a:extLst xmlns:a="http://schemas.openxmlformats.org/drawingml/2006/main">
              <a:ext uri="{FF2B5EF4-FFF2-40B4-BE49-F238E27FC236}">
                <a16:creationId xmlns:a16="http://schemas.microsoft.com/office/drawing/2014/main" id="{F67A45EB-8A33-45A8-AD31-7CA0980987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Google Shape;95;p20">
            <a:extLst xmlns:a="http://schemas.openxmlformats.org/drawingml/2006/main">
              <a:ext uri="{FF2B5EF4-FFF2-40B4-BE49-F238E27FC236}">
                <a16:creationId xmlns:a16="http://schemas.microsoft.com/office/drawing/2014/main" id="{DD8A6062-DBF1-479D-A36A-E5AD2FBC6F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6" name="Google Shape;96;p20">
            <a:extLst xmlns:a="http://schemas.openxmlformats.org/drawingml/2006/main">
              <a:ext uri="{FF2B5EF4-FFF2-40B4-BE49-F238E27FC236}">
                <a16:creationId xmlns:a16="http://schemas.microsoft.com/office/drawing/2014/main" id="{4D2095A2-8F8A-4302-AD86-488EE96C55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7" name="Google Shape;97;p20">
            <a:extLst xmlns:a="http://schemas.openxmlformats.org/drawingml/2006/main">
              <a:ext uri="{FF2B5EF4-FFF2-40B4-BE49-F238E27FC236}">
                <a16:creationId xmlns:a16="http://schemas.microsoft.com/office/drawing/2014/main" id="{82662BB3-8881-47D2-AE09-F090E868AA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8" name="Google Shape;98;p20">
            <a:extLst xmlns:a="http://schemas.openxmlformats.org/drawingml/2006/main">
              <a:ext uri="{FF2B5EF4-FFF2-40B4-BE49-F238E27FC236}">
                <a16:creationId xmlns:a16="http://schemas.microsoft.com/office/drawing/2014/main" id="{3EE596EC-DF93-4C93-8E3B-BADD0339C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Google Shape;100;p21">
            <a:extLst xmlns:a="http://schemas.openxmlformats.org/drawingml/2006/main">
              <a:ext uri="{FF2B5EF4-FFF2-40B4-BE49-F238E27FC236}">
                <a16:creationId xmlns:a16="http://schemas.microsoft.com/office/drawing/2014/main" id="{2E75F723-EA7F-4F3B-BB02-7D3660B737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4788"/>
            <a:ext cx="2256295" cy="871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01" name="Google Shape;101;p21">
            <a:extLst xmlns:a="http://schemas.openxmlformats.org/drawingml/2006/main">
              <a:ext uri="{FF2B5EF4-FFF2-40B4-BE49-F238E27FC236}">
                <a16:creationId xmlns:a16="http://schemas.microsoft.com/office/drawing/2014/main" id="{89430275-861B-432F-84FF-4F1C5986A6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81359" y="204788"/>
            <a:ext cx="3833915" cy="4389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102" name="Google Shape;102;p21">
            <a:extLst xmlns:a="http://schemas.openxmlformats.org/drawingml/2006/main">
              <a:ext uri="{FF2B5EF4-FFF2-40B4-BE49-F238E27FC236}">
                <a16:creationId xmlns:a16="http://schemas.microsoft.com/office/drawing/2014/main" id="{91E06565-2718-4A60-A6A1-A6CDE49920F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2909" y="1076325"/>
            <a:ext cx="2256295" cy="3518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 xmlns:a="http://schemas.openxmlformats.org/drawingml/2006/main"/>
        </p:txBody>
      </p:sp>
      <p:sp>
        <p:nvSpPr>
          <p:cNvPr id="103" name="Google Shape;103;p21">
            <a:extLst xmlns:a="http://schemas.openxmlformats.org/drawingml/2006/main">
              <a:ext uri="{FF2B5EF4-FFF2-40B4-BE49-F238E27FC236}">
                <a16:creationId xmlns:a16="http://schemas.microsoft.com/office/drawing/2014/main" id="{369EDA4B-08CA-4FA8-B171-F4996BF9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" name="Google Shape;104;p21">
            <a:extLst xmlns:a="http://schemas.openxmlformats.org/drawingml/2006/main">
              <a:ext uri="{FF2B5EF4-FFF2-40B4-BE49-F238E27FC236}">
                <a16:creationId xmlns:a16="http://schemas.microsoft.com/office/drawing/2014/main" id="{B29CECB4-33CC-4776-8131-00D3C9BBC6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05" name="Google Shape;105;p21">
            <a:extLst xmlns:a="http://schemas.openxmlformats.org/drawingml/2006/main">
              <a:ext uri="{FF2B5EF4-FFF2-40B4-BE49-F238E27FC236}">
                <a16:creationId xmlns:a16="http://schemas.microsoft.com/office/drawing/2014/main" id="{72913679-7AA5-46FA-9830-F9F8B35DB6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oogle Shape;107;p22">
            <a:extLst xmlns:a="http://schemas.openxmlformats.org/drawingml/2006/main">
              <a:ext uri="{FF2B5EF4-FFF2-40B4-BE49-F238E27FC236}">
                <a16:creationId xmlns:a16="http://schemas.microsoft.com/office/drawing/2014/main" id="{C6E77CFC-27D5-4253-86A7-73CF776B72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44252" y="3600450"/>
            <a:ext cx="4114910" cy="425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08" name="Google Shape;108;p22">
            <a:extLst xmlns:a="http://schemas.openxmlformats.org/drawingml/2006/main">
              <a:ext uri="{FF2B5EF4-FFF2-40B4-BE49-F238E27FC236}">
                <a16:creationId xmlns:a16="http://schemas.microsoft.com/office/drawing/2014/main" id="{FCDC3D89-F335-49D8-ABD9-7B9264B0D222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344252" y="459581"/>
            <a:ext cx="411491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09" name="Google Shape;109;p22">
            <a:extLst xmlns:a="http://schemas.openxmlformats.org/drawingml/2006/main">
              <a:ext uri="{FF2B5EF4-FFF2-40B4-BE49-F238E27FC236}">
                <a16:creationId xmlns:a16="http://schemas.microsoft.com/office/drawing/2014/main" id="{F674F3FB-592A-4E67-9D07-AD32DB515A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344252" y="4025503"/>
            <a:ext cx="4114910" cy="603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 xmlns:a="http://schemas.openxmlformats.org/drawingml/2006/main"/>
        </p:txBody>
      </p:sp>
      <p:sp>
        <p:nvSpPr>
          <p:cNvPr id="110" name="Google Shape;110;p22">
            <a:extLst xmlns:a="http://schemas.openxmlformats.org/drawingml/2006/main">
              <a:ext uri="{FF2B5EF4-FFF2-40B4-BE49-F238E27FC236}">
                <a16:creationId xmlns:a16="http://schemas.microsoft.com/office/drawing/2014/main" id="{4DC1E15F-6059-4DB5-A571-41D88635B4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1" name="Google Shape;111;p22">
            <a:extLst xmlns:a="http://schemas.openxmlformats.org/drawingml/2006/main">
              <a:ext uri="{FF2B5EF4-FFF2-40B4-BE49-F238E27FC236}">
                <a16:creationId xmlns:a16="http://schemas.microsoft.com/office/drawing/2014/main" id="{2E774CB5-0221-4061-A7D1-EC71E59C78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2" name="Google Shape;112;p22">
            <a:extLst xmlns:a="http://schemas.openxmlformats.org/drawingml/2006/main">
              <a:ext uri="{FF2B5EF4-FFF2-40B4-BE49-F238E27FC236}">
                <a16:creationId xmlns:a16="http://schemas.microsoft.com/office/drawing/2014/main" id="{C8D50C75-1AB6-4A6A-B3EF-FCBC4AA537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Google Shape;114;p23">
            <a:extLst xmlns:a="http://schemas.openxmlformats.org/drawingml/2006/main">
              <a:ext uri="{FF2B5EF4-FFF2-40B4-BE49-F238E27FC236}">
                <a16:creationId xmlns:a16="http://schemas.microsoft.com/office/drawing/2014/main" id="{EB89D84C-685B-45DE-B178-533F6400D1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5" name="Google Shape;115;p23">
            <a:extLst xmlns:a="http://schemas.openxmlformats.org/drawingml/2006/main">
              <a:ext uri="{FF2B5EF4-FFF2-40B4-BE49-F238E27FC236}">
                <a16:creationId xmlns:a16="http://schemas.microsoft.com/office/drawing/2014/main" id="{A3BDB942-8FF8-4FB8-A4AE-4AF5084D84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31855" y="-188796"/>
            <a:ext cx="3394472" cy="6172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16" name="Google Shape;116;p23">
            <a:extLst xmlns:a="http://schemas.openxmlformats.org/drawingml/2006/main">
              <a:ext uri="{FF2B5EF4-FFF2-40B4-BE49-F238E27FC236}">
                <a16:creationId xmlns:a16="http://schemas.microsoft.com/office/drawing/2014/main" id="{C53E58B4-D9BD-49E7-BA07-5D36DF1267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7" name="Google Shape;117;p23">
            <a:extLst xmlns:a="http://schemas.openxmlformats.org/drawingml/2006/main">
              <a:ext uri="{FF2B5EF4-FFF2-40B4-BE49-F238E27FC236}">
                <a16:creationId xmlns:a16="http://schemas.microsoft.com/office/drawing/2014/main" id="{7C1CE093-86DF-452D-BC36-A908017B11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8" name="Google Shape;118;p23">
            <a:extLst xmlns:a="http://schemas.openxmlformats.org/drawingml/2006/main">
              <a:ext uri="{FF2B5EF4-FFF2-40B4-BE49-F238E27FC236}">
                <a16:creationId xmlns:a16="http://schemas.microsoft.com/office/drawing/2014/main" id="{FC8462B7-6771-4776-85B1-E73D14411E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Google Shape;120;p24">
            <a:extLst xmlns:a="http://schemas.openxmlformats.org/drawingml/2006/main">
              <a:ext uri="{FF2B5EF4-FFF2-40B4-BE49-F238E27FC236}">
                <a16:creationId xmlns:a16="http://schemas.microsoft.com/office/drawing/2014/main" id="{C57C54C2-46B2-48AF-8C6E-249429A845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3549406" y="1628755"/>
            <a:ext cx="4388644" cy="1543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21" name="Google Shape;121;p24">
            <a:extLst xmlns:a="http://schemas.openxmlformats.org/drawingml/2006/main">
              <a:ext uri="{FF2B5EF4-FFF2-40B4-BE49-F238E27FC236}">
                <a16:creationId xmlns:a16="http://schemas.microsoft.com/office/drawing/2014/main" id="{893CA174-3162-47DB-8949-94857F0D66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406072" y="142815"/>
            <a:ext cx="4388644" cy="4514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22" name="Google Shape;122;p24">
            <a:extLst xmlns:a="http://schemas.openxmlformats.org/drawingml/2006/main">
              <a:ext uri="{FF2B5EF4-FFF2-40B4-BE49-F238E27FC236}">
                <a16:creationId xmlns:a16="http://schemas.microsoft.com/office/drawing/2014/main" id="{281A6F0E-DBA4-44D6-8C56-B681052BB6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23" name="Google Shape;123;p24">
            <a:extLst xmlns:a="http://schemas.openxmlformats.org/drawingml/2006/main">
              <a:ext uri="{FF2B5EF4-FFF2-40B4-BE49-F238E27FC236}">
                <a16:creationId xmlns:a16="http://schemas.microsoft.com/office/drawing/2014/main" id="{AADBFD7F-B745-429E-9F37-265648F3A0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24" name="Google Shape;124;p24">
            <a:extLst xmlns:a="http://schemas.openxmlformats.org/drawingml/2006/main">
              <a:ext uri="{FF2B5EF4-FFF2-40B4-BE49-F238E27FC236}">
                <a16:creationId xmlns:a16="http://schemas.microsoft.com/office/drawing/2014/main" id="{07793A97-6C76-4E11-BAF7-CCCC6B1419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5bf55ad1be471b" /><Relationship Type="http://schemas.openxmlformats.org/officeDocument/2006/relationships/slideLayout" Target="/ppt/slideLayouts/slideLayout1.xml" Id="Rb90617d101b740db" /><Relationship Type="http://schemas.openxmlformats.org/officeDocument/2006/relationships/slideLayout" Target="/ppt/slideLayouts/slideLayout2.xml" Id="R4bd52aff836443e1" /><Relationship Type="http://schemas.openxmlformats.org/officeDocument/2006/relationships/slideLayout" Target="/ppt/slideLayouts/slideLayout3.xml" Id="R19140f4a742e4005" /><Relationship Type="http://schemas.openxmlformats.org/officeDocument/2006/relationships/slideLayout" Target="/ppt/slideLayouts/slideLayout4.xml" Id="Rdc2ee1c072bf4c5c" /><Relationship Type="http://schemas.openxmlformats.org/officeDocument/2006/relationships/slideLayout" Target="/ppt/slideLayouts/slideLayout5.xml" Id="Rb89fb1606ffc49d9" /><Relationship Type="http://schemas.openxmlformats.org/officeDocument/2006/relationships/slideLayout" Target="/ppt/slideLayouts/slideLayout6.xml" Id="R3986a2c4083e44e7" /><Relationship Type="http://schemas.openxmlformats.org/officeDocument/2006/relationships/slideLayout" Target="/ppt/slideLayouts/slideLayout7.xml" Id="Rd0d5bbbc61914e39" /><Relationship Type="http://schemas.openxmlformats.org/officeDocument/2006/relationships/slideLayout" Target="/ppt/slideLayouts/slideLayout8.xml" Id="R0ec3da0d79bc4fb7" /><Relationship Type="http://schemas.openxmlformats.org/officeDocument/2006/relationships/slideLayout" Target="/ppt/slideLayouts/slideLayout9.xml" Id="R56b13c5a43bd452f" /><Relationship Type="http://schemas.openxmlformats.org/officeDocument/2006/relationships/slideLayout" Target="/ppt/slideLayouts/slideLayout10.xml" Id="Rd50814da716e47f5" /><Relationship Type="http://schemas.openxmlformats.org/officeDocument/2006/relationships/slideLayout" Target="/ppt/slideLayouts/slideLayout11.xml" Id="R1aa250b9e4b4479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a684a914997452f" /><Relationship Type="http://schemas.openxmlformats.org/officeDocument/2006/relationships/slideLayout" Target="/ppt/slideLayouts/slideLayout12.xml" Id="R3e5fce4a4f0d49dd" /><Relationship Type="http://schemas.openxmlformats.org/officeDocument/2006/relationships/slideLayout" Target="/ppt/slideLayouts/slideLayout13.xml" Id="Rc47b832742124538" /><Relationship Type="http://schemas.openxmlformats.org/officeDocument/2006/relationships/slideLayout" Target="/ppt/slideLayouts/slideLayout14.xml" Id="R14e9915f05ed44b4" /><Relationship Type="http://schemas.openxmlformats.org/officeDocument/2006/relationships/slideLayout" Target="/ppt/slideLayouts/slideLayout15.xml" Id="Re7dfc8f08bf549f3" /><Relationship Type="http://schemas.openxmlformats.org/officeDocument/2006/relationships/slideLayout" Target="/ppt/slideLayouts/slideLayout16.xml" Id="R71c59f3bb44d4fcd" /><Relationship Type="http://schemas.openxmlformats.org/officeDocument/2006/relationships/slideLayout" Target="/ppt/slideLayouts/slideLayout17.xml" Id="R1e9564978c994abb" /><Relationship Type="http://schemas.openxmlformats.org/officeDocument/2006/relationships/slideLayout" Target="/ppt/slideLayouts/slideLayout18.xml" Id="Rc2c2a3444c954ad0" /><Relationship Type="http://schemas.openxmlformats.org/officeDocument/2006/relationships/slideLayout" Target="/ppt/slideLayouts/slideLayout19.xml" Id="R56e0d9fad3544f26" /><Relationship Type="http://schemas.openxmlformats.org/officeDocument/2006/relationships/slideLayout" Target="/ppt/slideLayouts/slideLayout20.xml" Id="R583255a20e9f433c" /><Relationship Type="http://schemas.openxmlformats.org/officeDocument/2006/relationships/slideLayout" Target="/ppt/slideLayouts/slideLayout21.xml" Id="R3daa8fc87bb14f5d" /><Relationship Type="http://schemas.openxmlformats.org/officeDocument/2006/relationships/slideLayout" Target="/ppt/slideLayouts/slideLayout22.xml" Id="R42dceddbdf61411d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3F00E5AE-AF6C-49EA-A26D-2860C56ED1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3204BD63-A697-4A52-AA47-0C7C88FDEA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F25F209E-3CC9-48B5-A9E2-4AE40FEE3D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0617d101b740db"/>
    <p:sldLayoutId xmlns:r="http://schemas.openxmlformats.org/officeDocument/2006/relationships" id="2147483650" r:id="R4bd52aff836443e1"/>
    <p:sldLayoutId xmlns:r="http://schemas.openxmlformats.org/officeDocument/2006/relationships" id="2147483651" r:id="R19140f4a742e4005"/>
    <p:sldLayoutId xmlns:r="http://schemas.openxmlformats.org/officeDocument/2006/relationships" id="2147483652" r:id="Rdc2ee1c072bf4c5c"/>
    <p:sldLayoutId xmlns:r="http://schemas.openxmlformats.org/officeDocument/2006/relationships" id="2147483653" r:id="Rb89fb1606ffc49d9"/>
    <p:sldLayoutId xmlns:r="http://schemas.openxmlformats.org/officeDocument/2006/relationships" id="2147483654" r:id="R3986a2c4083e44e7"/>
    <p:sldLayoutId xmlns:r="http://schemas.openxmlformats.org/officeDocument/2006/relationships" id="2147483655" r:id="Rd0d5bbbc61914e39"/>
    <p:sldLayoutId xmlns:r="http://schemas.openxmlformats.org/officeDocument/2006/relationships" id="2147483656" r:id="R0ec3da0d79bc4fb7"/>
    <p:sldLayoutId xmlns:r="http://schemas.openxmlformats.org/officeDocument/2006/relationships" id="2147483657" r:id="R56b13c5a43bd452f"/>
    <p:sldLayoutId xmlns:r="http://schemas.openxmlformats.org/officeDocument/2006/relationships" id="2147483658" r:id="Rd50814da716e47f5"/>
    <p:sldLayoutId xmlns:r="http://schemas.openxmlformats.org/officeDocument/2006/relationships" id="2147483659" r:id="R1aa250b9e4b4479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13">
            <a:extLst xmlns:a="http://schemas.openxmlformats.org/drawingml/2006/main">
              <a:ext uri="{FF2B5EF4-FFF2-40B4-BE49-F238E27FC236}">
                <a16:creationId xmlns:a16="http://schemas.microsoft.com/office/drawing/2014/main" id="{E3C64CE1-FC7D-46E2-ACCF-D88686751F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52" name="Google Shape;52;p13">
            <a:extLst xmlns:a="http://schemas.openxmlformats.org/drawingml/2006/main">
              <a:ext uri="{FF2B5EF4-FFF2-40B4-BE49-F238E27FC236}">
                <a16:creationId xmlns:a16="http://schemas.microsoft.com/office/drawing/2014/main" id="{C0FEF5C9-E3EB-4F40-91CA-9D76678EF9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9" y="1200150"/>
            <a:ext cx="6172365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53" name="Google Shape;53;p13">
            <a:extLst xmlns:a="http://schemas.openxmlformats.org/drawingml/2006/main">
              <a:ext uri="{FF2B5EF4-FFF2-40B4-BE49-F238E27FC236}">
                <a16:creationId xmlns:a16="http://schemas.microsoft.com/office/drawing/2014/main" id="{993BE664-F5AF-4C5A-AA77-9C74B0BCA3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85EAC371-6A0A-4BAB-9270-68841D979D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E3FADF8E-48ED-4D6D-8A84-92FF045FCC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3e5fce4a4f0d49dd"/>
    <p:sldLayoutId xmlns:r="http://schemas.openxmlformats.org/officeDocument/2006/relationships" id="2147483662" r:id="Rc47b832742124538"/>
    <p:sldLayoutId xmlns:r="http://schemas.openxmlformats.org/officeDocument/2006/relationships" id="2147483663" r:id="R14e9915f05ed44b4"/>
    <p:sldLayoutId xmlns:r="http://schemas.openxmlformats.org/officeDocument/2006/relationships" id="2147483664" r:id="Re7dfc8f08bf549f3"/>
    <p:sldLayoutId xmlns:r="http://schemas.openxmlformats.org/officeDocument/2006/relationships" id="2147483665" r:id="R71c59f3bb44d4fcd"/>
    <p:sldLayoutId xmlns:r="http://schemas.openxmlformats.org/officeDocument/2006/relationships" id="2147483666" r:id="R1e9564978c994abb"/>
    <p:sldLayoutId xmlns:r="http://schemas.openxmlformats.org/officeDocument/2006/relationships" id="2147483667" r:id="Rc2c2a3444c954ad0"/>
    <p:sldLayoutId xmlns:r="http://schemas.openxmlformats.org/officeDocument/2006/relationships" id="2147483668" r:id="R56e0d9fad3544f26"/>
    <p:sldLayoutId xmlns:r="http://schemas.openxmlformats.org/officeDocument/2006/relationships" id="2147483669" r:id="R583255a20e9f433c"/>
    <p:sldLayoutId xmlns:r="http://schemas.openxmlformats.org/officeDocument/2006/relationships" id="2147483670" r:id="R3daa8fc87bb14f5d"/>
    <p:sldLayoutId xmlns:r="http://schemas.openxmlformats.org/officeDocument/2006/relationships" id="2147483671" r:id="R42dceddbdf61411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e9dbbcb610d4e7b" /><Relationship Type="http://schemas.openxmlformats.org/officeDocument/2006/relationships/notesSlide" Target="/ppt/notesSlides/notesSlide1.xml" Id="R561e58c36f524e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4e156d38d374a07" /><Relationship Type="http://schemas.openxmlformats.org/officeDocument/2006/relationships/notesSlide" Target="/ppt/notesSlides/notesSlide2.xml" Id="R74a18245fef645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5d14f8322f84901" /><Relationship Type="http://schemas.openxmlformats.org/officeDocument/2006/relationships/notesSlide" Target="/ppt/notesSlides/notesSlide3.xml" Id="R251a467119a348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97de16a1ccc4d28" /><Relationship Type="http://schemas.openxmlformats.org/officeDocument/2006/relationships/image" Target="/ppt/media/image.png" Id="R05c5d1cc49104058" /><Relationship Type="http://schemas.openxmlformats.org/officeDocument/2006/relationships/notesSlide" Target="/ppt/notesSlides/notesSlide4.xml" Id="Rdbffb14f16864f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fc809d33863428f" /><Relationship Type="http://schemas.openxmlformats.org/officeDocument/2006/relationships/notesSlide" Target="/ppt/notesSlides/notesSlide5.xml" Id="R8ae25a964f384a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5" name="Google Shape;235;p33">
            <a:extLst xmlns:a="http://schemas.openxmlformats.org/drawingml/2006/main">
              <a:ext uri="{FF2B5EF4-FFF2-40B4-BE49-F238E27FC236}">
                <a16:creationId xmlns:a16="http://schemas.microsoft.com/office/drawing/2014/main" id="{77E2C50F-6E02-4636-87FF-37AC4303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2A6D9822-E91C-4C04-B2DB-2830BE7C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One faulty rule. A worldwide outage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7A4B3818-3E6C-4C88-B8C0-EC39D4AD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CLOUDFLARE 2019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8BE2C99B-FD46-43A1-BF35-2280E075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291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1 / 5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1EFAE58A-7623-42F8-8FD5-129406B1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89D94"/>
                </a:solidFill>
              </a:defRPr>
            </a:defPPr>
            <a:lvl1pPr>
              <a:defRPr sz="1050" b="1">
                <a:solidFill>
                  <a:srgbClr val="189D94"/>
                </a:solidFill>
              </a:defRPr>
            </a:lvl1pPr>
            <a:lvl2pPr>
              <a:defRPr sz="1050" b="1">
                <a:solidFill>
                  <a:srgbClr val="189D94"/>
                </a:solidFill>
              </a:defRPr>
            </a:lvl2pPr>
            <a:lvl3pPr>
              <a:defRPr sz="1050" b="1">
                <a:solidFill>
                  <a:srgbClr val="189D94"/>
                </a:solidFill>
              </a:defRPr>
            </a:lvl3pPr>
            <a:lvl4pPr>
              <a:defRPr sz="1050" b="1">
                <a:solidFill>
                  <a:srgbClr val="189D94"/>
                </a:solidFill>
              </a:defRPr>
            </a:lvl4pPr>
            <a:lvl5pPr>
              <a:defRPr sz="1050" b="1">
                <a:solidFill>
                  <a:srgbClr val="189D94"/>
                </a:solidFill>
              </a:defRPr>
            </a:lvl5pPr>
            <a:lvl6pPr>
              <a:defRPr sz="1050" b="1">
                <a:solidFill>
                  <a:srgbClr val="189D94"/>
                </a:solidFill>
              </a:defRPr>
            </a:lvl6pPr>
            <a:lvl7pPr>
              <a:defRPr sz="1050" b="1">
                <a:solidFill>
                  <a:srgbClr val="189D94"/>
                </a:solidFill>
              </a:defRPr>
            </a:lvl7pPr>
            <a:lvl8pPr>
              <a:defRPr sz="1050" b="1">
                <a:solidFill>
                  <a:srgbClr val="189D94"/>
                </a:solidFill>
              </a:defRPr>
            </a:lvl8pPr>
            <a:lvl9pPr>
              <a:defRPr sz="10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89D94"/>
                </a:solidFill>
              </a:defRPr>
            </a:pPr>
            <a:r>
              <a:rPr sz="1050" b="1">
                <a:solidFill>
                  <a:srgbClr val="189D94"/>
                </a:solidFill>
              </a:rPr>
              <a:t>JULY 2, 2019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1E4BB692-EF68-4B34-B7EE-51EE9C75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7F9FC"/>
                </a:solidFill>
              </a:defRPr>
            </a:defPPr>
            <a:lvl1pPr>
              <a:defRPr sz="1875" b="1">
                <a:solidFill>
                  <a:srgbClr val="F7F9FC"/>
                </a:solidFill>
              </a:defRPr>
            </a:lvl1pPr>
            <a:lvl2pPr>
              <a:defRPr sz="1875" b="1">
                <a:solidFill>
                  <a:srgbClr val="F7F9FC"/>
                </a:solidFill>
              </a:defRPr>
            </a:lvl2pPr>
            <a:lvl3pPr>
              <a:defRPr sz="1875" b="1">
                <a:solidFill>
                  <a:srgbClr val="F7F9FC"/>
                </a:solidFill>
              </a:defRPr>
            </a:lvl3pPr>
            <a:lvl4pPr>
              <a:defRPr sz="1875" b="1">
                <a:solidFill>
                  <a:srgbClr val="F7F9FC"/>
                </a:solidFill>
              </a:defRPr>
            </a:lvl4pPr>
            <a:lvl5pPr>
              <a:defRPr sz="1875" b="1">
                <a:solidFill>
                  <a:srgbClr val="F7F9FC"/>
                </a:solidFill>
              </a:defRPr>
            </a:lvl5pPr>
            <a:lvl6pPr>
              <a:defRPr sz="1875" b="1">
                <a:solidFill>
                  <a:srgbClr val="F7F9FC"/>
                </a:solidFill>
              </a:defRPr>
            </a:lvl6pPr>
            <a:lvl7pPr>
              <a:defRPr sz="1875" b="1">
                <a:solidFill>
                  <a:srgbClr val="F7F9FC"/>
                </a:solidFill>
              </a:defRPr>
            </a:lvl7pPr>
            <a:lvl8pPr>
              <a:defRPr sz="1875" b="1">
                <a:solidFill>
                  <a:srgbClr val="F7F9FC"/>
                </a:solidFill>
              </a:defRPr>
            </a:lvl8pPr>
            <a:lvl9pPr>
              <a:defRPr sz="187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7F9FC"/>
                </a:solidFill>
              </a:defRPr>
            </a:pPr>
            <a:r>
              <a:rPr sz="1875" b="1">
                <a:solidFill>
                  <a:srgbClr val="F7F9FC"/>
                </a:solidFill>
              </a:rPr>
              <a:t>Cloudflare’s role</a:t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C0149690-83EB-438C-8026-81BDDD03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3714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7F9FC"/>
                </a:solidFill>
              </a:defRPr>
            </a:defPPr>
            <a:lvl1pPr>
              <a:defRPr sz="1725" b="0">
                <a:solidFill>
                  <a:srgbClr val="F7F9FC"/>
                </a:solidFill>
              </a:defRPr>
            </a:lvl1pPr>
            <a:lvl2pPr>
              <a:defRPr sz="1725" b="0">
                <a:solidFill>
                  <a:srgbClr val="F7F9FC"/>
                </a:solidFill>
              </a:defRPr>
            </a:lvl2pPr>
            <a:lvl3pPr>
              <a:defRPr sz="1725" b="0">
                <a:solidFill>
                  <a:srgbClr val="F7F9FC"/>
                </a:solidFill>
              </a:defRPr>
            </a:lvl3pPr>
            <a:lvl4pPr>
              <a:defRPr sz="1725" b="0">
                <a:solidFill>
                  <a:srgbClr val="F7F9FC"/>
                </a:solidFill>
              </a:defRPr>
            </a:lvl4pPr>
            <a:lvl5pPr>
              <a:defRPr sz="1725" b="0">
                <a:solidFill>
                  <a:srgbClr val="F7F9FC"/>
                </a:solidFill>
              </a:defRPr>
            </a:lvl5pPr>
            <a:lvl6pPr>
              <a:defRPr sz="1725" b="0">
                <a:solidFill>
                  <a:srgbClr val="F7F9FC"/>
                </a:solidFill>
              </a:defRPr>
            </a:lvl6pPr>
            <a:lvl7pPr>
              <a:defRPr sz="1725" b="0">
                <a:solidFill>
                  <a:srgbClr val="F7F9FC"/>
                </a:solidFill>
              </a:defRPr>
            </a:lvl7pPr>
            <a:lvl8pPr>
              <a:defRPr sz="1725" b="0">
                <a:solidFill>
                  <a:srgbClr val="F7F9FC"/>
                </a:solidFill>
              </a:defRPr>
            </a:lvl8pPr>
            <a:lvl9pPr>
              <a:defRPr sz="172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7F9FC"/>
                </a:solidFill>
              </a:defRPr>
            </a:pPr>
            <a:r>
              <a:rPr sz="1725" b="0">
                <a:solidFill>
                  <a:srgbClr val="F7F9FC"/>
                </a:solidFill>
              </a:rPr>
              <a:t>Cloudflare sits between visitors and websites, delivering content and checking requests for threats.</a:t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8E77D8E9-FACE-44FD-BEC9-519E12AF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52575"/>
            <a:ext cx="3933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7F9FC"/>
                </a:solidFill>
              </a:defRPr>
            </a:defPPr>
            <a:lvl1pPr>
              <a:defRPr sz="1875" b="1">
                <a:solidFill>
                  <a:srgbClr val="F7F9FC"/>
                </a:solidFill>
              </a:defRPr>
            </a:lvl1pPr>
            <a:lvl2pPr>
              <a:defRPr sz="1875" b="1">
                <a:solidFill>
                  <a:srgbClr val="F7F9FC"/>
                </a:solidFill>
              </a:defRPr>
            </a:lvl2pPr>
            <a:lvl3pPr>
              <a:defRPr sz="1875" b="1">
                <a:solidFill>
                  <a:srgbClr val="F7F9FC"/>
                </a:solidFill>
              </a:defRPr>
            </a:lvl3pPr>
            <a:lvl4pPr>
              <a:defRPr sz="1875" b="1">
                <a:solidFill>
                  <a:srgbClr val="F7F9FC"/>
                </a:solidFill>
              </a:defRPr>
            </a:lvl4pPr>
            <a:lvl5pPr>
              <a:defRPr sz="1875" b="1">
                <a:solidFill>
                  <a:srgbClr val="F7F9FC"/>
                </a:solidFill>
              </a:defRPr>
            </a:lvl5pPr>
            <a:lvl6pPr>
              <a:defRPr sz="1875" b="1">
                <a:solidFill>
                  <a:srgbClr val="F7F9FC"/>
                </a:solidFill>
              </a:defRPr>
            </a:lvl6pPr>
            <a:lvl7pPr>
              <a:defRPr sz="1875" b="1">
                <a:solidFill>
                  <a:srgbClr val="F7F9FC"/>
                </a:solidFill>
              </a:defRPr>
            </a:lvl7pPr>
            <a:lvl8pPr>
              <a:defRPr sz="1875" b="1">
                <a:solidFill>
                  <a:srgbClr val="F7F9FC"/>
                </a:solidFill>
              </a:defRPr>
            </a:lvl8pPr>
            <a:lvl9pPr>
              <a:defRPr sz="187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7F9FC"/>
                </a:solidFill>
              </a:defRPr>
            </a:pPr>
            <a:r>
              <a:rPr sz="1875" b="1">
                <a:solidFill>
                  <a:srgbClr val="F7F9FC"/>
                </a:solidFill>
              </a:rPr>
              <a:t>What visitors experienced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C235613E-267E-4D2C-B07C-F5841B9C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57400"/>
            <a:ext cx="39338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7F9FC"/>
                </a:solidFill>
              </a:defRPr>
            </a:defPPr>
            <a:lvl1pPr>
              <a:defRPr sz="1725" b="0">
                <a:solidFill>
                  <a:srgbClr val="F7F9FC"/>
                </a:solidFill>
              </a:defRPr>
            </a:lvl1pPr>
            <a:lvl2pPr>
              <a:defRPr sz="1725" b="0">
                <a:solidFill>
                  <a:srgbClr val="F7F9FC"/>
                </a:solidFill>
              </a:defRPr>
            </a:lvl2pPr>
            <a:lvl3pPr>
              <a:defRPr sz="1725" b="0">
                <a:solidFill>
                  <a:srgbClr val="F7F9FC"/>
                </a:solidFill>
              </a:defRPr>
            </a:lvl3pPr>
            <a:lvl4pPr>
              <a:defRPr sz="1725" b="0">
                <a:solidFill>
                  <a:srgbClr val="F7F9FC"/>
                </a:solidFill>
              </a:defRPr>
            </a:lvl4pPr>
            <a:lvl5pPr>
              <a:defRPr sz="1725" b="0">
                <a:solidFill>
                  <a:srgbClr val="F7F9FC"/>
                </a:solidFill>
              </a:defRPr>
            </a:lvl5pPr>
            <a:lvl6pPr>
              <a:defRPr sz="1725" b="0">
                <a:solidFill>
                  <a:srgbClr val="F7F9FC"/>
                </a:solidFill>
              </a:defRPr>
            </a:lvl6pPr>
            <a:lvl7pPr>
              <a:defRPr sz="1725" b="0">
                <a:solidFill>
                  <a:srgbClr val="F7F9FC"/>
                </a:solidFill>
              </a:defRPr>
            </a:lvl7pPr>
            <a:lvl8pPr>
              <a:defRPr sz="1725" b="0">
                <a:solidFill>
                  <a:srgbClr val="F7F9FC"/>
                </a:solidFill>
              </a:defRPr>
            </a:lvl8pPr>
            <a:lvl9pPr>
              <a:defRPr sz="172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7F9FC"/>
                </a:solidFill>
              </a:defRPr>
            </a:pPr>
            <a:r>
              <a:rPr sz="1725" b="0">
                <a:solidFill>
                  <a:srgbClr val="F7F9FC"/>
                </a:solidFill>
              </a:rPr>
              <a:t>A firewall update overloaded its servers. Visitors saw 502 errors even when the websites behind Cloudflare were healthy.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A47A4289-B84B-45CF-A570-898058C6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766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9D94"/>
                </a:solidFill>
              </a:defRPr>
            </a:defPPr>
            <a:lvl1pPr>
              <a:defRPr sz="3450" b="1">
                <a:solidFill>
                  <a:srgbClr val="189D94"/>
                </a:solidFill>
              </a:defRPr>
            </a:lvl1pPr>
            <a:lvl2pPr>
              <a:defRPr sz="3450" b="1">
                <a:solidFill>
                  <a:srgbClr val="189D94"/>
                </a:solidFill>
              </a:defRPr>
            </a:lvl2pPr>
            <a:lvl3pPr>
              <a:defRPr sz="3450" b="1">
                <a:solidFill>
                  <a:srgbClr val="189D94"/>
                </a:solidFill>
              </a:defRPr>
            </a:lvl3pPr>
            <a:lvl4pPr>
              <a:defRPr sz="3450" b="1">
                <a:solidFill>
                  <a:srgbClr val="189D94"/>
                </a:solidFill>
              </a:defRPr>
            </a:lvl4pPr>
            <a:lvl5pPr>
              <a:defRPr sz="3450" b="1">
                <a:solidFill>
                  <a:srgbClr val="189D94"/>
                </a:solidFill>
              </a:defRPr>
            </a:lvl5pPr>
            <a:lvl6pPr>
              <a:defRPr sz="3450" b="1">
                <a:solidFill>
                  <a:srgbClr val="189D94"/>
                </a:solidFill>
              </a:defRPr>
            </a:lvl6pPr>
            <a:lvl7pPr>
              <a:defRPr sz="3450" b="1">
                <a:solidFill>
                  <a:srgbClr val="189D94"/>
                </a:solidFill>
              </a:defRPr>
            </a:lvl7pPr>
            <a:lvl8pPr>
              <a:defRPr sz="3450" b="1">
                <a:solidFill>
                  <a:srgbClr val="189D94"/>
                </a:solidFill>
              </a:defRPr>
            </a:lvl8pPr>
            <a:lvl9pPr>
              <a:defRPr sz="34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9D94"/>
                </a:solidFill>
              </a:defRPr>
            </a:pPr>
            <a:r>
              <a:rPr sz="3450" b="1">
                <a:solidFill>
                  <a:srgbClr val="189D94"/>
                </a:solidFill>
              </a:rPr>
              <a:t>27 min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8D9ED64E-D794-4AB0-83A7-52C64730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7F9FC"/>
                </a:solidFill>
              </a:defRPr>
            </a:defPPr>
            <a:lvl1pPr>
              <a:defRPr sz="1275" b="0">
                <a:solidFill>
                  <a:srgbClr val="F7F9FC"/>
                </a:solidFill>
              </a:defRPr>
            </a:lvl1pPr>
            <a:lvl2pPr>
              <a:defRPr sz="1275" b="0">
                <a:solidFill>
                  <a:srgbClr val="F7F9FC"/>
                </a:solidFill>
              </a:defRPr>
            </a:lvl2pPr>
            <a:lvl3pPr>
              <a:defRPr sz="1275" b="0">
                <a:solidFill>
                  <a:srgbClr val="F7F9FC"/>
                </a:solidFill>
              </a:defRPr>
            </a:lvl3pPr>
            <a:lvl4pPr>
              <a:defRPr sz="1275" b="0">
                <a:solidFill>
                  <a:srgbClr val="F7F9FC"/>
                </a:solidFill>
              </a:defRPr>
            </a:lvl4pPr>
            <a:lvl5pPr>
              <a:defRPr sz="1275" b="0">
                <a:solidFill>
                  <a:srgbClr val="F7F9FC"/>
                </a:solidFill>
              </a:defRPr>
            </a:lvl5pPr>
            <a:lvl6pPr>
              <a:defRPr sz="1275" b="0">
                <a:solidFill>
                  <a:srgbClr val="F7F9FC"/>
                </a:solidFill>
              </a:defRPr>
            </a:lvl6pPr>
            <a:lvl7pPr>
              <a:defRPr sz="1275" b="0">
                <a:solidFill>
                  <a:srgbClr val="F7F9FC"/>
                </a:solidFill>
              </a:defRPr>
            </a:lvl7pPr>
            <a:lvl8pPr>
              <a:defRPr sz="1275" b="0">
                <a:solidFill>
                  <a:srgbClr val="F7F9FC"/>
                </a:solidFill>
              </a:defRPr>
            </a:lvl8pPr>
            <a:lvl9pPr>
              <a:defRPr sz="12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7F9FC"/>
                </a:solidFill>
              </a:defRPr>
            </a:pPr>
            <a:r>
              <a:rPr sz="1275" b="0">
                <a:solidFill>
                  <a:srgbClr val="F7F9FC"/>
                </a:solidFill>
              </a:rPr>
              <a:t>service disruption</a:t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FE638579-6CD3-422F-9962-E8846171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766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9D94"/>
                </a:solidFill>
              </a:defRPr>
            </a:defPPr>
            <a:lvl1pPr>
              <a:defRPr sz="3450" b="1">
                <a:solidFill>
                  <a:srgbClr val="189D94"/>
                </a:solidFill>
              </a:defRPr>
            </a:lvl1pPr>
            <a:lvl2pPr>
              <a:defRPr sz="3450" b="1">
                <a:solidFill>
                  <a:srgbClr val="189D94"/>
                </a:solidFill>
              </a:defRPr>
            </a:lvl2pPr>
            <a:lvl3pPr>
              <a:defRPr sz="3450" b="1">
                <a:solidFill>
                  <a:srgbClr val="189D94"/>
                </a:solidFill>
              </a:defRPr>
            </a:lvl3pPr>
            <a:lvl4pPr>
              <a:defRPr sz="3450" b="1">
                <a:solidFill>
                  <a:srgbClr val="189D94"/>
                </a:solidFill>
              </a:defRPr>
            </a:lvl4pPr>
            <a:lvl5pPr>
              <a:defRPr sz="3450" b="1">
                <a:solidFill>
                  <a:srgbClr val="189D94"/>
                </a:solidFill>
              </a:defRPr>
            </a:lvl5pPr>
            <a:lvl6pPr>
              <a:defRPr sz="3450" b="1">
                <a:solidFill>
                  <a:srgbClr val="189D94"/>
                </a:solidFill>
              </a:defRPr>
            </a:lvl6pPr>
            <a:lvl7pPr>
              <a:defRPr sz="3450" b="1">
                <a:solidFill>
                  <a:srgbClr val="189D94"/>
                </a:solidFill>
              </a:defRPr>
            </a:lvl7pPr>
            <a:lvl8pPr>
              <a:defRPr sz="3450" b="1">
                <a:solidFill>
                  <a:srgbClr val="189D94"/>
                </a:solidFill>
              </a:defRPr>
            </a:lvl8pPr>
            <a:lvl9pPr>
              <a:defRPr sz="34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9D94"/>
                </a:solidFill>
              </a:defRPr>
            </a:pPr>
            <a:r>
              <a:rPr sz="3450" b="1">
                <a:solidFill>
                  <a:srgbClr val="189D94"/>
                </a:solidFill>
              </a:rPr>
              <a:t>82%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33127CF1-32A5-4C60-8734-777FD693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05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7F9FC"/>
                </a:solidFill>
              </a:defRPr>
            </a:defPPr>
            <a:lvl1pPr>
              <a:defRPr sz="1275" b="0">
                <a:solidFill>
                  <a:srgbClr val="F7F9FC"/>
                </a:solidFill>
              </a:defRPr>
            </a:lvl1pPr>
            <a:lvl2pPr>
              <a:defRPr sz="1275" b="0">
                <a:solidFill>
                  <a:srgbClr val="F7F9FC"/>
                </a:solidFill>
              </a:defRPr>
            </a:lvl2pPr>
            <a:lvl3pPr>
              <a:defRPr sz="1275" b="0">
                <a:solidFill>
                  <a:srgbClr val="F7F9FC"/>
                </a:solidFill>
              </a:defRPr>
            </a:lvl3pPr>
            <a:lvl4pPr>
              <a:defRPr sz="1275" b="0">
                <a:solidFill>
                  <a:srgbClr val="F7F9FC"/>
                </a:solidFill>
              </a:defRPr>
            </a:lvl4pPr>
            <a:lvl5pPr>
              <a:defRPr sz="1275" b="0">
                <a:solidFill>
                  <a:srgbClr val="F7F9FC"/>
                </a:solidFill>
              </a:defRPr>
            </a:lvl5pPr>
            <a:lvl6pPr>
              <a:defRPr sz="1275" b="0">
                <a:solidFill>
                  <a:srgbClr val="F7F9FC"/>
                </a:solidFill>
              </a:defRPr>
            </a:lvl6pPr>
            <a:lvl7pPr>
              <a:defRPr sz="1275" b="0">
                <a:solidFill>
                  <a:srgbClr val="F7F9FC"/>
                </a:solidFill>
              </a:defRPr>
            </a:lvl7pPr>
            <a:lvl8pPr>
              <a:defRPr sz="1275" b="0">
                <a:solidFill>
                  <a:srgbClr val="F7F9FC"/>
                </a:solidFill>
              </a:defRPr>
            </a:lvl8pPr>
            <a:lvl9pPr>
              <a:defRPr sz="12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7F9FC"/>
                </a:solidFill>
              </a:defRPr>
            </a:pPr>
            <a:r>
              <a:rPr sz="1275" b="0">
                <a:solidFill>
                  <a:srgbClr val="F7F9FC"/>
                </a:solidFill>
              </a:rPr>
              <a:t>worst traffic drop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73DE19D3-9FA0-45FD-AC57-2A820BBF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766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9D94"/>
                </a:solidFill>
              </a:defRPr>
            </a:defPPr>
            <a:lvl1pPr>
              <a:defRPr sz="3450" b="1">
                <a:solidFill>
                  <a:srgbClr val="189D94"/>
                </a:solidFill>
              </a:defRPr>
            </a:lvl1pPr>
            <a:lvl2pPr>
              <a:defRPr sz="3450" b="1">
                <a:solidFill>
                  <a:srgbClr val="189D94"/>
                </a:solidFill>
              </a:defRPr>
            </a:lvl2pPr>
            <a:lvl3pPr>
              <a:defRPr sz="3450" b="1">
                <a:solidFill>
                  <a:srgbClr val="189D94"/>
                </a:solidFill>
              </a:defRPr>
            </a:lvl3pPr>
            <a:lvl4pPr>
              <a:defRPr sz="3450" b="1">
                <a:solidFill>
                  <a:srgbClr val="189D94"/>
                </a:solidFill>
              </a:defRPr>
            </a:lvl4pPr>
            <a:lvl5pPr>
              <a:defRPr sz="3450" b="1">
                <a:solidFill>
                  <a:srgbClr val="189D94"/>
                </a:solidFill>
              </a:defRPr>
            </a:lvl5pPr>
            <a:lvl6pPr>
              <a:defRPr sz="3450" b="1">
                <a:solidFill>
                  <a:srgbClr val="189D94"/>
                </a:solidFill>
              </a:defRPr>
            </a:lvl6pPr>
            <a:lvl7pPr>
              <a:defRPr sz="3450" b="1">
                <a:solidFill>
                  <a:srgbClr val="189D94"/>
                </a:solidFill>
              </a:defRPr>
            </a:lvl7pPr>
            <a:lvl8pPr>
              <a:defRPr sz="3450" b="1">
                <a:solidFill>
                  <a:srgbClr val="189D94"/>
                </a:solidFill>
              </a:defRPr>
            </a:lvl8pPr>
            <a:lvl9pPr>
              <a:defRPr sz="34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9D94"/>
                </a:solidFill>
              </a:defRPr>
            </a:pPr>
            <a:r>
              <a:rPr sz="3450" b="1">
                <a:solidFill>
                  <a:srgbClr val="189D94"/>
                </a:solidFill>
              </a:rPr>
              <a:t>100%</a:t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E5818F61-280A-4BD5-885C-8F17B560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05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7F9FC"/>
                </a:solidFill>
              </a:defRPr>
            </a:defPPr>
            <a:lvl1pPr>
              <a:defRPr sz="1275" b="0">
                <a:solidFill>
                  <a:srgbClr val="F7F9FC"/>
                </a:solidFill>
              </a:defRPr>
            </a:lvl1pPr>
            <a:lvl2pPr>
              <a:defRPr sz="1275" b="0">
                <a:solidFill>
                  <a:srgbClr val="F7F9FC"/>
                </a:solidFill>
              </a:defRPr>
            </a:lvl2pPr>
            <a:lvl3pPr>
              <a:defRPr sz="1275" b="0">
                <a:solidFill>
                  <a:srgbClr val="F7F9FC"/>
                </a:solidFill>
              </a:defRPr>
            </a:lvl3pPr>
            <a:lvl4pPr>
              <a:defRPr sz="1275" b="0">
                <a:solidFill>
                  <a:srgbClr val="F7F9FC"/>
                </a:solidFill>
              </a:defRPr>
            </a:lvl4pPr>
            <a:lvl5pPr>
              <a:defRPr sz="1275" b="0">
                <a:solidFill>
                  <a:srgbClr val="F7F9FC"/>
                </a:solidFill>
              </a:defRPr>
            </a:lvl5pPr>
            <a:lvl6pPr>
              <a:defRPr sz="1275" b="0">
                <a:solidFill>
                  <a:srgbClr val="F7F9FC"/>
                </a:solidFill>
              </a:defRPr>
            </a:lvl6pPr>
            <a:lvl7pPr>
              <a:defRPr sz="1275" b="0">
                <a:solidFill>
                  <a:srgbClr val="F7F9FC"/>
                </a:solidFill>
              </a:defRPr>
            </a:lvl7pPr>
            <a:lvl8pPr>
              <a:defRPr sz="1275" b="0">
                <a:solidFill>
                  <a:srgbClr val="F7F9FC"/>
                </a:solidFill>
              </a:defRPr>
            </a:lvl8pPr>
            <a:lvl9pPr>
              <a:defRPr sz="12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7F9FC"/>
                </a:solidFill>
              </a:defRPr>
            </a:pPr>
            <a:r>
              <a:rPr sz="1275" b="0">
                <a:solidFill>
                  <a:srgbClr val="F7F9FC"/>
                </a:solidFill>
              </a:rPr>
              <a:t>CPU usage</a:t>
            </a:r>
          </a:p>
        </p:txBody>
      </p:sp>
    </p:spTree>
    <p:extLst>
      <p:ext uri="{BB962C8B-B14F-4D97-AF65-F5344CB8AC3E}">
        <p14:creationId xmlns:p14="http://schemas.microsoft.com/office/powerpoint/2010/main" val="19785616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0" name="Google Shape;250;p34">
            <a:extLst xmlns:a="http://schemas.openxmlformats.org/drawingml/2006/main">
              <a:ext uri="{FF2B5EF4-FFF2-40B4-BE49-F238E27FC236}">
                <a16:creationId xmlns:a16="http://schemas.microsoft.com/office/drawing/2014/main" id="{8553E37F-1DAB-4829-97C2-4F50BEAF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0B661035-1D89-499E-B704-6E060551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Why a text-search rule consumed the CPU</a:t>
            </a: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3873C5F8-C0EF-4E77-B748-ADAF5B6F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CLOUDFLARE 2019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80980B09-C0AB-4BB0-B6C4-A939657B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291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2 / 5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460C07B4-E8D5-43DB-8059-6E7A91A5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89D94"/>
                </a:solidFill>
              </a:defRPr>
            </a:defPPr>
            <a:lvl1pPr>
              <a:defRPr sz="1050" b="1">
                <a:solidFill>
                  <a:srgbClr val="189D94"/>
                </a:solidFill>
              </a:defRPr>
            </a:lvl1pPr>
            <a:lvl2pPr>
              <a:defRPr sz="1050" b="1">
                <a:solidFill>
                  <a:srgbClr val="189D94"/>
                </a:solidFill>
              </a:defRPr>
            </a:lvl2pPr>
            <a:lvl3pPr>
              <a:defRPr sz="1050" b="1">
                <a:solidFill>
                  <a:srgbClr val="189D94"/>
                </a:solidFill>
              </a:defRPr>
            </a:lvl3pPr>
            <a:lvl4pPr>
              <a:defRPr sz="1050" b="1">
                <a:solidFill>
                  <a:srgbClr val="189D94"/>
                </a:solidFill>
              </a:defRPr>
            </a:lvl4pPr>
            <a:lvl5pPr>
              <a:defRPr sz="1050" b="1">
                <a:solidFill>
                  <a:srgbClr val="189D94"/>
                </a:solidFill>
              </a:defRPr>
            </a:lvl5pPr>
            <a:lvl6pPr>
              <a:defRPr sz="1050" b="1">
                <a:solidFill>
                  <a:srgbClr val="189D94"/>
                </a:solidFill>
              </a:defRPr>
            </a:lvl6pPr>
            <a:lvl7pPr>
              <a:defRPr sz="1050" b="1">
                <a:solidFill>
                  <a:srgbClr val="189D94"/>
                </a:solidFill>
              </a:defRPr>
            </a:lvl7pPr>
            <a:lvl8pPr>
              <a:defRPr sz="1050" b="1">
                <a:solidFill>
                  <a:srgbClr val="189D94"/>
                </a:solidFill>
              </a:defRPr>
            </a:lvl8pPr>
            <a:lvl9pPr>
              <a:defRPr sz="10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89D94"/>
                </a:solidFill>
              </a:defRPr>
            </a:pPr>
            <a:r>
              <a:rPr sz="1050" b="1">
                <a:solidFill>
                  <a:srgbClr val="189D94"/>
                </a:solidFill>
              </a:rPr>
              <a:t>THE SIMPLIFIED PATTERN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23ABB028-6F2C-4E25-A77F-AE325B4A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89D94"/>
                </a:solidFill>
              </a:defRPr>
            </a:defPPr>
            <a:lvl1pPr>
              <a:defRPr sz="3750" b="1">
                <a:solidFill>
                  <a:srgbClr val="189D94"/>
                </a:solidFill>
              </a:defRPr>
            </a:lvl1pPr>
            <a:lvl2pPr>
              <a:defRPr sz="3750" b="1">
                <a:solidFill>
                  <a:srgbClr val="189D94"/>
                </a:solidFill>
              </a:defRPr>
            </a:lvl2pPr>
            <a:lvl3pPr>
              <a:defRPr sz="3750" b="1">
                <a:solidFill>
                  <a:srgbClr val="189D94"/>
                </a:solidFill>
              </a:defRPr>
            </a:lvl3pPr>
            <a:lvl4pPr>
              <a:defRPr sz="3750" b="1">
                <a:solidFill>
                  <a:srgbClr val="189D94"/>
                </a:solidFill>
              </a:defRPr>
            </a:lvl4pPr>
            <a:lvl5pPr>
              <a:defRPr sz="3750" b="1">
                <a:solidFill>
                  <a:srgbClr val="189D94"/>
                </a:solidFill>
              </a:defRPr>
            </a:lvl5pPr>
            <a:lvl6pPr>
              <a:defRPr sz="3750" b="1">
                <a:solidFill>
                  <a:srgbClr val="189D94"/>
                </a:solidFill>
              </a:defRPr>
            </a:lvl6pPr>
            <a:lvl7pPr>
              <a:defRPr sz="3750" b="1">
                <a:solidFill>
                  <a:srgbClr val="189D94"/>
                </a:solidFill>
              </a:defRPr>
            </a:lvl7pPr>
            <a:lvl8pPr>
              <a:defRPr sz="3750" b="1">
                <a:solidFill>
                  <a:srgbClr val="189D94"/>
                </a:solidFill>
              </a:defRPr>
            </a:lvl8pPr>
            <a:lvl9pPr>
              <a:defRPr sz="37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9D94"/>
                </a:solidFill>
              </a:defRPr>
            </a:pPr>
            <a:r>
              <a:rPr sz="3750" b="1">
                <a:solidFill>
                  <a:srgbClr val="189D94"/>
                </a:solidFill>
              </a:rPr>
              <a:t>.*.*=.*</a:t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B4DFB137-B06A-4D41-9B8B-CD4DBD4D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3333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Each .* can match almost any amount of text. The overlapping sections create many possible ways to split the same input.</a:t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64D9D405-054C-4B35-A7BC-AEEC22DE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95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9DACBC"/>
                </a:solidFill>
              </a:defRPr>
            </a:defPPr>
            <a:lvl1pPr>
              <a:defRPr sz="1500" b="0">
                <a:solidFill>
                  <a:srgbClr val="9DACBC"/>
                </a:solidFill>
              </a:defRPr>
            </a:lvl1pPr>
            <a:lvl2pPr>
              <a:defRPr sz="1500" b="0">
                <a:solidFill>
                  <a:srgbClr val="9DACBC"/>
                </a:solidFill>
              </a:defRPr>
            </a:lvl2pPr>
            <a:lvl3pPr>
              <a:defRPr sz="1500" b="0">
                <a:solidFill>
                  <a:srgbClr val="9DACBC"/>
                </a:solidFill>
              </a:defRPr>
            </a:lvl3pPr>
            <a:lvl4pPr>
              <a:defRPr sz="1500" b="0">
                <a:solidFill>
                  <a:srgbClr val="9DACBC"/>
                </a:solidFill>
              </a:defRPr>
            </a:lvl4pPr>
            <a:lvl5pPr>
              <a:defRPr sz="1500" b="0">
                <a:solidFill>
                  <a:srgbClr val="9DACBC"/>
                </a:solidFill>
              </a:defRPr>
            </a:lvl5pPr>
            <a:lvl6pPr>
              <a:defRPr sz="1500" b="0">
                <a:solidFill>
                  <a:srgbClr val="9DACBC"/>
                </a:solidFill>
              </a:defRPr>
            </a:lvl6pPr>
            <a:lvl7pPr>
              <a:defRPr sz="1500" b="0">
                <a:solidFill>
                  <a:srgbClr val="9DACBC"/>
                </a:solidFill>
              </a:defRPr>
            </a:lvl7pPr>
            <a:lvl8pPr>
              <a:defRPr sz="1500" b="0">
                <a:solidFill>
                  <a:srgbClr val="9DACBC"/>
                </a:solidFill>
              </a:defRPr>
            </a:lvl8pPr>
            <a:lvl9pPr>
              <a:defRPr sz="15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9DACBC"/>
                </a:solidFill>
              </a:defRPr>
            </a:pPr>
            <a:r>
              <a:rPr sz="1500" b="0">
                <a:solidFill>
                  <a:srgbClr val="9DACBC"/>
                </a:solidFill>
              </a:rPr>
              <a:t>A regex is a pattern for searching text.</a:t>
            </a: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8696BD08-69ED-48BA-B7D8-2A2C5A2E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133475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01  Inspect the request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568B20A8-283A-4BCB-BF7E-B9A543D3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7F9FC"/>
                </a:solidFill>
              </a:defRPr>
            </a:defPPr>
            <a:lvl1pPr>
              <a:defRPr sz="1575" b="0">
                <a:solidFill>
                  <a:srgbClr val="F7F9FC"/>
                </a:solidFill>
              </a:defRPr>
            </a:lvl1pPr>
            <a:lvl2pPr>
              <a:defRPr sz="1575" b="0">
                <a:solidFill>
                  <a:srgbClr val="F7F9FC"/>
                </a:solidFill>
              </a:defRPr>
            </a:lvl2pPr>
            <a:lvl3pPr>
              <a:defRPr sz="1575" b="0">
                <a:solidFill>
                  <a:srgbClr val="F7F9FC"/>
                </a:solidFill>
              </a:defRPr>
            </a:lvl3pPr>
            <a:lvl4pPr>
              <a:defRPr sz="1575" b="0">
                <a:solidFill>
                  <a:srgbClr val="F7F9FC"/>
                </a:solidFill>
              </a:defRPr>
            </a:lvl4pPr>
            <a:lvl5pPr>
              <a:defRPr sz="1575" b="0">
                <a:solidFill>
                  <a:srgbClr val="F7F9FC"/>
                </a:solidFill>
              </a:defRPr>
            </a:lvl5pPr>
            <a:lvl6pPr>
              <a:defRPr sz="1575" b="0">
                <a:solidFill>
                  <a:srgbClr val="F7F9FC"/>
                </a:solidFill>
              </a:defRPr>
            </a:lvl6pPr>
            <a:lvl7pPr>
              <a:defRPr sz="1575" b="0">
                <a:solidFill>
                  <a:srgbClr val="F7F9FC"/>
                </a:solidFill>
              </a:defRPr>
            </a:lvl7pPr>
            <a:lvl8pPr>
              <a:defRPr sz="1575" b="0">
                <a:solidFill>
                  <a:srgbClr val="F7F9FC"/>
                </a:solidFill>
              </a:defRPr>
            </a:lvl8pPr>
            <a:lvl9pPr>
              <a:defRPr sz="15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7F9FC"/>
                </a:solidFill>
              </a:defRPr>
            </a:pPr>
            <a:r>
              <a:rPr sz="1575" b="0">
                <a:solidFill>
                  <a:srgbClr val="F7F9FC"/>
                </a:solidFill>
              </a:rPr>
              <a:t>The web application firewall (WAF) ran this rule to detect malicious JavaScript.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652F7B27-55DF-4155-B3D8-FA13FC36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02  Retry possible matches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95713B32-8123-4593-A68B-1A37BE9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241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7F9FC"/>
                </a:solidFill>
              </a:defRPr>
            </a:defPPr>
            <a:lvl1pPr>
              <a:defRPr sz="1575" b="0">
                <a:solidFill>
                  <a:srgbClr val="F7F9FC"/>
                </a:solidFill>
              </a:defRPr>
            </a:lvl1pPr>
            <a:lvl2pPr>
              <a:defRPr sz="1575" b="0">
                <a:solidFill>
                  <a:srgbClr val="F7F9FC"/>
                </a:solidFill>
              </a:defRPr>
            </a:lvl2pPr>
            <a:lvl3pPr>
              <a:defRPr sz="1575" b="0">
                <a:solidFill>
                  <a:srgbClr val="F7F9FC"/>
                </a:solidFill>
              </a:defRPr>
            </a:lvl3pPr>
            <a:lvl4pPr>
              <a:defRPr sz="1575" b="0">
                <a:solidFill>
                  <a:srgbClr val="F7F9FC"/>
                </a:solidFill>
              </a:defRPr>
            </a:lvl4pPr>
            <a:lvl5pPr>
              <a:defRPr sz="1575" b="0">
                <a:solidFill>
                  <a:srgbClr val="F7F9FC"/>
                </a:solidFill>
              </a:defRPr>
            </a:lvl5pPr>
            <a:lvl6pPr>
              <a:defRPr sz="1575" b="0">
                <a:solidFill>
                  <a:srgbClr val="F7F9FC"/>
                </a:solidFill>
              </a:defRPr>
            </a:lvl6pPr>
            <a:lvl7pPr>
              <a:defRPr sz="1575" b="0">
                <a:solidFill>
                  <a:srgbClr val="F7F9FC"/>
                </a:solidFill>
              </a:defRPr>
            </a:lvl7pPr>
            <a:lvl8pPr>
              <a:defRPr sz="1575" b="0">
                <a:solidFill>
                  <a:srgbClr val="F7F9FC"/>
                </a:solidFill>
              </a:defRPr>
            </a:lvl8pPr>
            <a:lvl9pPr>
              <a:defRPr sz="15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7F9FC"/>
                </a:solidFill>
              </a:defRPr>
            </a:pPr>
            <a:r>
              <a:rPr sz="1575" b="0">
                <a:solidFill>
                  <a:srgbClr val="F7F9FC"/>
                </a:solidFill>
              </a:rPr>
              <a:t>Backtracking tries alternative matches. Too many retries use up processing time.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68DA2B08-66A5-40D3-814B-7B6110CE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71825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03  Crowd out normal work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BDABD161-304A-40B6-82E3-79FBAE14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7F9FC"/>
                </a:solidFill>
              </a:defRPr>
            </a:defPPr>
            <a:lvl1pPr>
              <a:defRPr sz="1575" b="0">
                <a:solidFill>
                  <a:srgbClr val="F7F9FC"/>
                </a:solidFill>
              </a:defRPr>
            </a:lvl1pPr>
            <a:lvl2pPr>
              <a:defRPr sz="1575" b="0">
                <a:solidFill>
                  <a:srgbClr val="F7F9FC"/>
                </a:solidFill>
              </a:defRPr>
            </a:lvl2pPr>
            <a:lvl3pPr>
              <a:defRPr sz="1575" b="0">
                <a:solidFill>
                  <a:srgbClr val="F7F9FC"/>
                </a:solidFill>
              </a:defRPr>
            </a:lvl3pPr>
            <a:lvl4pPr>
              <a:defRPr sz="1575" b="0">
                <a:solidFill>
                  <a:srgbClr val="F7F9FC"/>
                </a:solidFill>
              </a:defRPr>
            </a:lvl4pPr>
            <a:lvl5pPr>
              <a:defRPr sz="1575" b="0">
                <a:solidFill>
                  <a:srgbClr val="F7F9FC"/>
                </a:solidFill>
              </a:defRPr>
            </a:lvl5pPr>
            <a:lvl6pPr>
              <a:defRPr sz="1575" b="0">
                <a:solidFill>
                  <a:srgbClr val="F7F9FC"/>
                </a:solidFill>
              </a:defRPr>
            </a:lvl6pPr>
            <a:lvl7pPr>
              <a:defRPr sz="1575" b="0">
                <a:solidFill>
                  <a:srgbClr val="F7F9FC"/>
                </a:solidFill>
              </a:defRPr>
            </a:lvl7pPr>
            <a:lvl8pPr>
              <a:defRPr sz="1575" b="0">
                <a:solidFill>
                  <a:srgbClr val="F7F9FC"/>
                </a:solidFill>
              </a:defRPr>
            </a:lvl8pPr>
            <a:lvl9pPr>
              <a:defRPr sz="15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7F9FC"/>
                </a:solidFill>
              </a:defRPr>
            </a:pPr>
            <a:r>
              <a:rPr sz="1575" b="0">
                <a:solidFill>
                  <a:srgbClr val="F7F9FC"/>
                </a:solidFill>
              </a:rPr>
              <a:t>The check consumed CPU that servers needed to respond to visitors.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B6116620-99C0-4ECD-A33F-CED3B9D8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57675"/>
            <a:ext cx="4143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DACBC"/>
                </a:solidFill>
              </a:defRPr>
            </a:defPPr>
            <a:lvl1pPr>
              <a:defRPr sz="1350" b="0">
                <a:solidFill>
                  <a:srgbClr val="9DACBC"/>
                </a:solidFill>
              </a:defRPr>
            </a:lvl1pPr>
            <a:lvl2pPr>
              <a:defRPr sz="1350" b="0">
                <a:solidFill>
                  <a:srgbClr val="9DACBC"/>
                </a:solidFill>
              </a:defRPr>
            </a:lvl2pPr>
            <a:lvl3pPr>
              <a:defRPr sz="1350" b="0">
                <a:solidFill>
                  <a:srgbClr val="9DACBC"/>
                </a:solidFill>
              </a:defRPr>
            </a:lvl3pPr>
            <a:lvl4pPr>
              <a:defRPr sz="1350" b="0">
                <a:solidFill>
                  <a:srgbClr val="9DACBC"/>
                </a:solidFill>
              </a:defRPr>
            </a:lvl4pPr>
            <a:lvl5pPr>
              <a:defRPr sz="1350" b="0">
                <a:solidFill>
                  <a:srgbClr val="9DACBC"/>
                </a:solidFill>
              </a:defRPr>
            </a:lvl5pPr>
            <a:lvl6pPr>
              <a:defRPr sz="1350" b="0">
                <a:solidFill>
                  <a:srgbClr val="9DACBC"/>
                </a:solidFill>
              </a:defRPr>
            </a:lvl6pPr>
            <a:lvl7pPr>
              <a:defRPr sz="1350" b="0">
                <a:solidFill>
                  <a:srgbClr val="9DACBC"/>
                </a:solidFill>
              </a:defRPr>
            </a:lvl7pPr>
            <a:lvl8pPr>
              <a:defRPr sz="1350" b="0">
                <a:solidFill>
                  <a:srgbClr val="9DACBC"/>
                </a:solidFill>
              </a:defRPr>
            </a:lvl8pPr>
            <a:lvl9pPr>
              <a:defRPr sz="135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9DACBC"/>
                </a:solidFill>
              </a:defRPr>
            </a:pPr>
            <a:r>
              <a:rPr sz="1350" b="0">
                <a:solidFill>
                  <a:srgbClr val="9DACBC"/>
                </a:solidFill>
              </a:rPr>
              <a:t>“Simulate” mode still runs the check. It only prevents the rule from blocking visitors.</a:t>
            </a:r>
          </a:p>
        </p:txBody>
      </p:sp>
    </p:spTree>
    <p:extLst>
      <p:ext uri="{BB962C8B-B14F-4D97-AF65-F5344CB8AC3E}">
        <p14:creationId xmlns:p14="http://schemas.microsoft.com/office/powerpoint/2010/main" val="18793593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5" name="Google Shape;265;p35">
            <a:extLst xmlns:a="http://schemas.openxmlformats.org/drawingml/2006/main">
              <a:ext uri="{FF2B5EF4-FFF2-40B4-BE49-F238E27FC236}">
                <a16:creationId xmlns:a16="http://schemas.microsoft.com/office/drawing/2014/main" id="{67E3D8E2-56CD-488A-AE46-97FE5115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A1970979-A524-4973-B061-EBA72135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Four missing defenses amplified the failure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8CD68C1A-D413-4767-BA84-43B7F116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CLOUDFLARE 2019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B63BB0FE-4D01-4FDB-A4FD-58498BF3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291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3 / 5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E8FB3B96-19CA-41D2-8B2C-BD360C71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600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89D94"/>
                </a:solidFill>
              </a:defRPr>
            </a:defPPr>
            <a:lvl1pPr>
              <a:defRPr sz="2550" b="1">
                <a:solidFill>
                  <a:srgbClr val="189D94"/>
                </a:solidFill>
              </a:defRPr>
            </a:lvl1pPr>
            <a:lvl2pPr>
              <a:defRPr sz="2550" b="1">
                <a:solidFill>
                  <a:srgbClr val="189D94"/>
                </a:solidFill>
              </a:defRPr>
            </a:lvl2pPr>
            <a:lvl3pPr>
              <a:defRPr sz="2550" b="1">
                <a:solidFill>
                  <a:srgbClr val="189D94"/>
                </a:solidFill>
              </a:defRPr>
            </a:lvl3pPr>
            <a:lvl4pPr>
              <a:defRPr sz="2550" b="1">
                <a:solidFill>
                  <a:srgbClr val="189D94"/>
                </a:solidFill>
              </a:defRPr>
            </a:lvl4pPr>
            <a:lvl5pPr>
              <a:defRPr sz="2550" b="1">
                <a:solidFill>
                  <a:srgbClr val="189D94"/>
                </a:solidFill>
              </a:defRPr>
            </a:lvl5pPr>
            <a:lvl6pPr>
              <a:defRPr sz="2550" b="1">
                <a:solidFill>
                  <a:srgbClr val="189D94"/>
                </a:solidFill>
              </a:defRPr>
            </a:lvl6pPr>
            <a:lvl7pPr>
              <a:defRPr sz="2550" b="1">
                <a:solidFill>
                  <a:srgbClr val="189D94"/>
                </a:solidFill>
              </a:defRPr>
            </a:lvl7pPr>
            <a:lvl8pPr>
              <a:defRPr sz="2550" b="1">
                <a:solidFill>
                  <a:srgbClr val="189D94"/>
                </a:solidFill>
              </a:defRPr>
            </a:lvl8pPr>
            <a:lvl9pPr>
              <a:defRPr sz="25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9D94"/>
                </a:solidFill>
              </a:defRPr>
            </a:pPr>
            <a:r>
              <a:rPr sz="2550" b="1">
                <a:solidFill>
                  <a:srgbClr val="189D94"/>
                </a:solidFill>
              </a:rPr>
              <a:t>01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D71F5FBF-AE00-4D4C-857D-C5F0A998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162050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CPU protection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A1C320FB-7E24-4708-8E7B-B24DEC46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143000"/>
            <a:ext cx="4524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13" b="0">
                <a:solidFill>
                  <a:srgbClr val="F7F9FC"/>
                </a:solidFill>
              </a:defRPr>
            </a:defPPr>
            <a:lvl1pPr>
              <a:defRPr sz="1613" b="0">
                <a:solidFill>
                  <a:srgbClr val="F7F9FC"/>
                </a:solidFill>
              </a:defRPr>
            </a:lvl1pPr>
            <a:lvl2pPr>
              <a:defRPr sz="1613" b="0">
                <a:solidFill>
                  <a:srgbClr val="F7F9FC"/>
                </a:solidFill>
              </a:defRPr>
            </a:lvl2pPr>
            <a:lvl3pPr>
              <a:defRPr sz="1613" b="0">
                <a:solidFill>
                  <a:srgbClr val="F7F9FC"/>
                </a:solidFill>
              </a:defRPr>
            </a:lvl3pPr>
            <a:lvl4pPr>
              <a:defRPr sz="1613" b="0">
                <a:solidFill>
                  <a:srgbClr val="F7F9FC"/>
                </a:solidFill>
              </a:defRPr>
            </a:lvl4pPr>
            <a:lvl5pPr>
              <a:defRPr sz="1613" b="0">
                <a:solidFill>
                  <a:srgbClr val="F7F9FC"/>
                </a:solidFill>
              </a:defRPr>
            </a:lvl5pPr>
            <a:lvl6pPr>
              <a:defRPr sz="1613" b="0">
                <a:solidFill>
                  <a:srgbClr val="F7F9FC"/>
                </a:solidFill>
              </a:defRPr>
            </a:lvl6pPr>
            <a:lvl7pPr>
              <a:defRPr sz="1613" b="0">
                <a:solidFill>
                  <a:srgbClr val="F7F9FC"/>
                </a:solidFill>
              </a:defRPr>
            </a:lvl7pPr>
            <a:lvl8pPr>
              <a:defRPr sz="1613" b="0">
                <a:solidFill>
                  <a:srgbClr val="F7F9FC"/>
                </a:solidFill>
              </a:defRPr>
            </a:lvl8pPr>
            <a:lvl9pPr>
              <a:defRPr sz="1613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613" b="0">
                <a:solidFill>
                  <a:srgbClr val="F7F9FC"/>
                </a:solidFill>
              </a:defRPr>
            </a:pPr>
            <a:r>
              <a:rPr sz="1613" b="0">
                <a:solidFill>
                  <a:srgbClr val="F7F9FC"/>
                </a:solidFill>
              </a:rPr>
              <a:t>An earlier performance refactor accidentally removed a safeguard against costly regex processing.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3416D7A8-B3BF-4F0F-B6EA-55AB069E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600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89D94"/>
                </a:solidFill>
              </a:defRPr>
            </a:defPPr>
            <a:lvl1pPr>
              <a:defRPr sz="2550" b="1">
                <a:solidFill>
                  <a:srgbClr val="189D94"/>
                </a:solidFill>
              </a:defRPr>
            </a:lvl1pPr>
            <a:lvl2pPr>
              <a:defRPr sz="2550" b="1">
                <a:solidFill>
                  <a:srgbClr val="189D94"/>
                </a:solidFill>
              </a:defRPr>
            </a:lvl2pPr>
            <a:lvl3pPr>
              <a:defRPr sz="2550" b="1">
                <a:solidFill>
                  <a:srgbClr val="189D94"/>
                </a:solidFill>
              </a:defRPr>
            </a:lvl3pPr>
            <a:lvl4pPr>
              <a:defRPr sz="2550" b="1">
                <a:solidFill>
                  <a:srgbClr val="189D94"/>
                </a:solidFill>
              </a:defRPr>
            </a:lvl4pPr>
            <a:lvl5pPr>
              <a:defRPr sz="2550" b="1">
                <a:solidFill>
                  <a:srgbClr val="189D94"/>
                </a:solidFill>
              </a:defRPr>
            </a:lvl5pPr>
            <a:lvl6pPr>
              <a:defRPr sz="2550" b="1">
                <a:solidFill>
                  <a:srgbClr val="189D94"/>
                </a:solidFill>
              </a:defRPr>
            </a:lvl6pPr>
            <a:lvl7pPr>
              <a:defRPr sz="2550" b="1">
                <a:solidFill>
                  <a:srgbClr val="189D94"/>
                </a:solidFill>
              </a:defRPr>
            </a:lvl7pPr>
            <a:lvl8pPr>
              <a:defRPr sz="2550" b="1">
                <a:solidFill>
                  <a:srgbClr val="189D94"/>
                </a:solidFill>
              </a:defRPr>
            </a:lvl8pPr>
            <a:lvl9pPr>
              <a:defRPr sz="25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9D94"/>
                </a:solidFill>
              </a:defRPr>
            </a:pPr>
            <a:r>
              <a:rPr sz="2550" b="1">
                <a:solidFill>
                  <a:srgbClr val="189D94"/>
                </a:solidFill>
              </a:rPr>
              <a:t>02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1FC4F722-190B-42DC-9ECC-EB3998FC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00250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Performance tests</a:t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8D57F352-DEE4-47D7-82F5-63D5DD63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1200"/>
            <a:ext cx="4524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13" b="0">
                <a:solidFill>
                  <a:srgbClr val="F7F9FC"/>
                </a:solidFill>
              </a:defRPr>
            </a:defPPr>
            <a:lvl1pPr>
              <a:defRPr sz="1613" b="0">
                <a:solidFill>
                  <a:srgbClr val="F7F9FC"/>
                </a:solidFill>
              </a:defRPr>
            </a:lvl1pPr>
            <a:lvl2pPr>
              <a:defRPr sz="1613" b="0">
                <a:solidFill>
                  <a:srgbClr val="F7F9FC"/>
                </a:solidFill>
              </a:defRPr>
            </a:lvl2pPr>
            <a:lvl3pPr>
              <a:defRPr sz="1613" b="0">
                <a:solidFill>
                  <a:srgbClr val="F7F9FC"/>
                </a:solidFill>
              </a:defRPr>
            </a:lvl3pPr>
            <a:lvl4pPr>
              <a:defRPr sz="1613" b="0">
                <a:solidFill>
                  <a:srgbClr val="F7F9FC"/>
                </a:solidFill>
              </a:defRPr>
            </a:lvl4pPr>
            <a:lvl5pPr>
              <a:defRPr sz="1613" b="0">
                <a:solidFill>
                  <a:srgbClr val="F7F9FC"/>
                </a:solidFill>
              </a:defRPr>
            </a:lvl5pPr>
            <a:lvl6pPr>
              <a:defRPr sz="1613" b="0">
                <a:solidFill>
                  <a:srgbClr val="F7F9FC"/>
                </a:solidFill>
              </a:defRPr>
            </a:lvl6pPr>
            <a:lvl7pPr>
              <a:defRPr sz="1613" b="0">
                <a:solidFill>
                  <a:srgbClr val="F7F9FC"/>
                </a:solidFill>
              </a:defRPr>
            </a:lvl7pPr>
            <a:lvl8pPr>
              <a:defRPr sz="1613" b="0">
                <a:solidFill>
                  <a:srgbClr val="F7F9FC"/>
                </a:solidFill>
              </a:defRPr>
            </a:lvl8pPr>
            <a:lvl9pPr>
              <a:defRPr sz="1613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613" b="0">
                <a:solidFill>
                  <a:srgbClr val="F7F9FC"/>
                </a:solidFill>
              </a:defRPr>
            </a:pPr>
            <a:r>
              <a:rPr sz="1613" b="0">
                <a:solidFill>
                  <a:srgbClr val="F7F9FC"/>
                </a:solidFill>
              </a:rPr>
              <a:t>Tests checked allow/block decisions, but did not catch runaway CPU use. Correct answers were not enough.</a:t>
            </a: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3D561872-78F8-4148-B6DE-3594B267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19400"/>
            <a:ext cx="600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89D94"/>
                </a:solidFill>
              </a:defRPr>
            </a:defPPr>
            <a:lvl1pPr>
              <a:defRPr sz="2550" b="1">
                <a:solidFill>
                  <a:srgbClr val="189D94"/>
                </a:solidFill>
              </a:defRPr>
            </a:lvl1pPr>
            <a:lvl2pPr>
              <a:defRPr sz="2550" b="1">
                <a:solidFill>
                  <a:srgbClr val="189D94"/>
                </a:solidFill>
              </a:defRPr>
            </a:lvl2pPr>
            <a:lvl3pPr>
              <a:defRPr sz="2550" b="1">
                <a:solidFill>
                  <a:srgbClr val="189D94"/>
                </a:solidFill>
              </a:defRPr>
            </a:lvl3pPr>
            <a:lvl4pPr>
              <a:defRPr sz="2550" b="1">
                <a:solidFill>
                  <a:srgbClr val="189D94"/>
                </a:solidFill>
              </a:defRPr>
            </a:lvl4pPr>
            <a:lvl5pPr>
              <a:defRPr sz="2550" b="1">
                <a:solidFill>
                  <a:srgbClr val="189D94"/>
                </a:solidFill>
              </a:defRPr>
            </a:lvl5pPr>
            <a:lvl6pPr>
              <a:defRPr sz="2550" b="1">
                <a:solidFill>
                  <a:srgbClr val="189D94"/>
                </a:solidFill>
              </a:defRPr>
            </a:lvl6pPr>
            <a:lvl7pPr>
              <a:defRPr sz="2550" b="1">
                <a:solidFill>
                  <a:srgbClr val="189D94"/>
                </a:solidFill>
              </a:defRPr>
            </a:lvl7pPr>
            <a:lvl8pPr>
              <a:defRPr sz="2550" b="1">
                <a:solidFill>
                  <a:srgbClr val="189D94"/>
                </a:solidFill>
              </a:defRPr>
            </a:lvl8pPr>
            <a:lvl9pPr>
              <a:defRPr sz="25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9D94"/>
                </a:solidFill>
              </a:defRPr>
            </a:pPr>
            <a:r>
              <a:rPr sz="2550" b="1">
                <a:solidFill>
                  <a:srgbClr val="189D94"/>
                </a:solidFill>
              </a:rPr>
              <a:t>03</a:t>
            </a: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543E7D63-BDEE-4A3E-9988-48C7D1BB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38450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A limited rollout</a:t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F4B8C6A0-6BC9-4990-A17C-F9951C9C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19400"/>
            <a:ext cx="4524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13" b="0">
                <a:solidFill>
                  <a:srgbClr val="F7F9FC"/>
                </a:solidFill>
              </a:defRPr>
            </a:defPPr>
            <a:lvl1pPr>
              <a:defRPr sz="1613" b="0">
                <a:solidFill>
                  <a:srgbClr val="F7F9FC"/>
                </a:solidFill>
              </a:defRPr>
            </a:lvl1pPr>
            <a:lvl2pPr>
              <a:defRPr sz="1613" b="0">
                <a:solidFill>
                  <a:srgbClr val="F7F9FC"/>
                </a:solidFill>
              </a:defRPr>
            </a:lvl2pPr>
            <a:lvl3pPr>
              <a:defRPr sz="1613" b="0">
                <a:solidFill>
                  <a:srgbClr val="F7F9FC"/>
                </a:solidFill>
              </a:defRPr>
            </a:lvl3pPr>
            <a:lvl4pPr>
              <a:defRPr sz="1613" b="0">
                <a:solidFill>
                  <a:srgbClr val="F7F9FC"/>
                </a:solidFill>
              </a:defRPr>
            </a:lvl4pPr>
            <a:lvl5pPr>
              <a:defRPr sz="1613" b="0">
                <a:solidFill>
                  <a:srgbClr val="F7F9FC"/>
                </a:solidFill>
              </a:defRPr>
            </a:lvl5pPr>
            <a:lvl6pPr>
              <a:defRPr sz="1613" b="0">
                <a:solidFill>
                  <a:srgbClr val="F7F9FC"/>
                </a:solidFill>
              </a:defRPr>
            </a:lvl6pPr>
            <a:lvl7pPr>
              <a:defRPr sz="1613" b="0">
                <a:solidFill>
                  <a:srgbClr val="F7F9FC"/>
                </a:solidFill>
              </a:defRPr>
            </a:lvl7pPr>
            <a:lvl8pPr>
              <a:defRPr sz="1613" b="0">
                <a:solidFill>
                  <a:srgbClr val="F7F9FC"/>
                </a:solidFill>
              </a:defRPr>
            </a:lvl8pPr>
            <a:lvl9pPr>
              <a:defRPr sz="1613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613" b="0">
                <a:solidFill>
                  <a:srgbClr val="F7F9FC"/>
                </a:solidFill>
              </a:defRPr>
            </a:pPr>
            <a:r>
              <a:rPr sz="1613" b="0">
                <a:solidFill>
                  <a:srgbClr val="F7F9FC"/>
                </a:solidFill>
              </a:rPr>
              <a:t>The rule reached the world without a small trial first. One defect affected many locations together.</a:t>
            </a:r>
          </a:p>
        </p:txBody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E2BE1508-0441-4E94-9FBB-8B09BDB7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600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89D94"/>
                </a:solidFill>
              </a:defRPr>
            </a:defPPr>
            <a:lvl1pPr>
              <a:defRPr sz="2550" b="1">
                <a:solidFill>
                  <a:srgbClr val="189D94"/>
                </a:solidFill>
              </a:defRPr>
            </a:lvl1pPr>
            <a:lvl2pPr>
              <a:defRPr sz="2550" b="1">
                <a:solidFill>
                  <a:srgbClr val="189D94"/>
                </a:solidFill>
              </a:defRPr>
            </a:lvl2pPr>
            <a:lvl3pPr>
              <a:defRPr sz="2550" b="1">
                <a:solidFill>
                  <a:srgbClr val="189D94"/>
                </a:solidFill>
              </a:defRPr>
            </a:lvl3pPr>
            <a:lvl4pPr>
              <a:defRPr sz="2550" b="1">
                <a:solidFill>
                  <a:srgbClr val="189D94"/>
                </a:solidFill>
              </a:defRPr>
            </a:lvl4pPr>
            <a:lvl5pPr>
              <a:defRPr sz="2550" b="1">
                <a:solidFill>
                  <a:srgbClr val="189D94"/>
                </a:solidFill>
              </a:defRPr>
            </a:lvl5pPr>
            <a:lvl6pPr>
              <a:defRPr sz="2550" b="1">
                <a:solidFill>
                  <a:srgbClr val="189D94"/>
                </a:solidFill>
              </a:defRPr>
            </a:lvl6pPr>
            <a:lvl7pPr>
              <a:defRPr sz="2550" b="1">
                <a:solidFill>
                  <a:srgbClr val="189D94"/>
                </a:solidFill>
              </a:defRPr>
            </a:lvl7pPr>
            <a:lvl8pPr>
              <a:defRPr sz="2550" b="1">
                <a:solidFill>
                  <a:srgbClr val="189D94"/>
                </a:solidFill>
              </a:defRPr>
            </a:lvl8pPr>
            <a:lvl9pPr>
              <a:defRPr sz="25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9D94"/>
                </a:solidFill>
              </a:defRPr>
            </a:pPr>
            <a:r>
              <a:rPr sz="2550" b="1">
                <a:solidFill>
                  <a:srgbClr val="189D94"/>
                </a:solidFill>
              </a:rPr>
              <a:t>04</a:t>
            </a:r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F387228B-A8C8-4E68-82E4-A2B0F120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76650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Independent recovery</a:t>
            </a:r>
          </a:p>
        </p:txBody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2AC2F2E9-BA90-484E-A423-C13679DC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57600"/>
            <a:ext cx="4524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13" b="0">
                <a:solidFill>
                  <a:srgbClr val="F7F9FC"/>
                </a:solidFill>
              </a:defRPr>
            </a:defPPr>
            <a:lvl1pPr>
              <a:defRPr sz="1613" b="0">
                <a:solidFill>
                  <a:srgbClr val="F7F9FC"/>
                </a:solidFill>
              </a:defRPr>
            </a:lvl1pPr>
            <a:lvl2pPr>
              <a:defRPr sz="1613" b="0">
                <a:solidFill>
                  <a:srgbClr val="F7F9FC"/>
                </a:solidFill>
              </a:defRPr>
            </a:lvl2pPr>
            <a:lvl3pPr>
              <a:defRPr sz="1613" b="0">
                <a:solidFill>
                  <a:srgbClr val="F7F9FC"/>
                </a:solidFill>
              </a:defRPr>
            </a:lvl3pPr>
            <a:lvl4pPr>
              <a:defRPr sz="1613" b="0">
                <a:solidFill>
                  <a:srgbClr val="F7F9FC"/>
                </a:solidFill>
              </a:defRPr>
            </a:lvl4pPr>
            <a:lvl5pPr>
              <a:defRPr sz="1613" b="0">
                <a:solidFill>
                  <a:srgbClr val="F7F9FC"/>
                </a:solidFill>
              </a:defRPr>
            </a:lvl5pPr>
            <a:lvl6pPr>
              <a:defRPr sz="1613" b="0">
                <a:solidFill>
                  <a:srgbClr val="F7F9FC"/>
                </a:solidFill>
              </a:defRPr>
            </a:lvl6pPr>
            <a:lvl7pPr>
              <a:defRPr sz="1613" b="0">
                <a:solidFill>
                  <a:srgbClr val="F7F9FC"/>
                </a:solidFill>
              </a:defRPr>
            </a:lvl7pPr>
            <a:lvl8pPr>
              <a:defRPr sz="1613" b="0">
                <a:solidFill>
                  <a:srgbClr val="F7F9FC"/>
                </a:solidFill>
              </a:defRPr>
            </a:lvl8pPr>
            <a:lvl9pPr>
              <a:defRPr sz="1613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613" b="0">
                <a:solidFill>
                  <a:srgbClr val="F7F9FC"/>
                </a:solidFill>
              </a:defRPr>
            </a:pPr>
            <a:r>
              <a:rPr sz="1613" b="0">
                <a:solidFill>
                  <a:srgbClr val="F7F9FC"/>
                </a:solidFill>
              </a:rPr>
              <a:t>The outage also blocked internal tools, making emergency access and recovery harder.</a:t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072DFB9A-8DB6-4EA1-9DF4-7E7AFFF5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52950"/>
            <a:ext cx="733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DACBC"/>
                </a:solidFill>
              </a:defRPr>
            </a:defPPr>
            <a:lvl1pPr>
              <a:defRPr sz="1200" b="0">
                <a:solidFill>
                  <a:srgbClr val="9DACBC"/>
                </a:solidFill>
              </a:defRPr>
            </a:lvl1pPr>
            <a:lvl2pPr>
              <a:defRPr sz="1200" b="0">
                <a:solidFill>
                  <a:srgbClr val="9DACBC"/>
                </a:solidFill>
              </a:defRPr>
            </a:lvl2pPr>
            <a:lvl3pPr>
              <a:defRPr sz="1200" b="0">
                <a:solidFill>
                  <a:srgbClr val="9DACBC"/>
                </a:solidFill>
              </a:defRPr>
            </a:lvl3pPr>
            <a:lvl4pPr>
              <a:defRPr sz="1200" b="0">
                <a:solidFill>
                  <a:srgbClr val="9DACBC"/>
                </a:solidFill>
              </a:defRPr>
            </a:lvl4pPr>
            <a:lvl5pPr>
              <a:defRPr sz="1200" b="0">
                <a:solidFill>
                  <a:srgbClr val="9DACBC"/>
                </a:solidFill>
              </a:defRPr>
            </a:lvl5pPr>
            <a:lvl6pPr>
              <a:defRPr sz="1200" b="0">
                <a:solidFill>
                  <a:srgbClr val="9DACBC"/>
                </a:solidFill>
              </a:defRPr>
            </a:lvl6pPr>
            <a:lvl7pPr>
              <a:defRPr sz="1200" b="0">
                <a:solidFill>
                  <a:srgbClr val="9DACBC"/>
                </a:solidFill>
              </a:defRPr>
            </a:lvl7pPr>
            <a:lvl8pPr>
              <a:defRPr sz="1200" b="0">
                <a:solidFill>
                  <a:srgbClr val="9DACBC"/>
                </a:solidFill>
              </a:defRPr>
            </a:lvl8pPr>
            <a:lvl9pPr>
              <a:defRPr sz="12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DACBC"/>
                </a:solidFill>
              </a:defRPr>
            </a:pPr>
            <a:r>
              <a:rPr sz="1200" b="0">
                <a:solidFill>
                  <a:srgbClr val="9DACBC"/>
                </a:solidFill>
              </a:rPr>
              <a:t>The rule triggered the incident. Existing weaknesses made it global and harder to stop.</a:t>
            </a:r>
          </a:p>
        </p:txBody>
      </p:sp>
    </p:spTree>
    <p:extLst>
      <p:ext uri="{BB962C8B-B14F-4D97-AF65-F5344CB8AC3E}">
        <p14:creationId xmlns:p14="http://schemas.microsoft.com/office/powerpoint/2010/main" val="2378040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0" name="Google Shape;280;p36">
            <a:extLst xmlns:a="http://schemas.openxmlformats.org/drawingml/2006/main">
              <a:ext uri="{FF2B5EF4-FFF2-40B4-BE49-F238E27FC236}">
                <a16:creationId xmlns:a16="http://schemas.microsoft.com/office/drawing/2014/main" id="{F5B4E305-C797-456C-A975-A080BAEE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8FBB5C60-7260-4B41-8C04-727F6423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Service recovered before the firewall returned</a:t>
            </a:r>
          </a:p>
        </p:txBody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EC82DA7B-035F-41B7-991D-043DF63C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CLOUDFLARE 2019</a:t>
            </a: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34270ABA-D114-4E70-83DD-1296EE5F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291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4 / 5</a:t>
            </a:r>
          </a:p>
        </p:txBody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AFF4F9CC-6954-406B-A155-959BA301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95375"/>
            <a:ext cx="521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89D94"/>
                </a:solidFill>
              </a:defRPr>
            </a:defPPr>
            <a:lvl1pPr>
              <a:defRPr sz="975" b="1">
                <a:solidFill>
                  <a:srgbClr val="189D94"/>
                </a:solidFill>
              </a:defRPr>
            </a:lvl1pPr>
            <a:lvl2pPr>
              <a:defRPr sz="975" b="1">
                <a:solidFill>
                  <a:srgbClr val="189D94"/>
                </a:solidFill>
              </a:defRPr>
            </a:lvl2pPr>
            <a:lvl3pPr>
              <a:defRPr sz="975" b="1">
                <a:solidFill>
                  <a:srgbClr val="189D94"/>
                </a:solidFill>
              </a:defRPr>
            </a:lvl3pPr>
            <a:lvl4pPr>
              <a:defRPr sz="975" b="1">
                <a:solidFill>
                  <a:srgbClr val="189D94"/>
                </a:solidFill>
              </a:defRPr>
            </a:lvl4pPr>
            <a:lvl5pPr>
              <a:defRPr sz="975" b="1">
                <a:solidFill>
                  <a:srgbClr val="189D94"/>
                </a:solidFill>
              </a:defRPr>
            </a:lvl5pPr>
            <a:lvl6pPr>
              <a:defRPr sz="975" b="1">
                <a:solidFill>
                  <a:srgbClr val="189D94"/>
                </a:solidFill>
              </a:defRPr>
            </a:lvl6pPr>
            <a:lvl7pPr>
              <a:defRPr sz="975" b="1">
                <a:solidFill>
                  <a:srgbClr val="189D94"/>
                </a:solidFill>
              </a:defRPr>
            </a:lvl7pPr>
            <a:lvl8pPr>
              <a:defRPr sz="975" b="1">
                <a:solidFill>
                  <a:srgbClr val="189D94"/>
                </a:solidFill>
              </a:defRPr>
            </a:lvl8pPr>
            <a:lvl9pPr>
              <a:defRPr sz="97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9D94"/>
                </a:solidFill>
              </a:defRPr>
            </a:pPr>
            <a:r>
              <a:rPr sz="975" b="1">
                <a:solidFill>
                  <a:srgbClr val="189D94"/>
                </a:solidFill>
              </a:rPr>
              <a:t>CPU USAGE AT ONE CLOUDFLARE LOCATION</a:t>
            </a:r>
          </a:p>
        </p:txBody>
      </p:sp>
      <p:pic>
        <p:nvPic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0C4559AE-49D4-4127-8BA8-26812BF810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5d1cc49104058"/>
          <a:stretch xmlns:a="http://schemas.openxmlformats.org/drawingml/2006/main"/>
        </p:blipFill>
        <p:spPr>
          <a:xfrm xmlns:a="http://schemas.openxmlformats.org/drawingml/2006/main">
            <a:off x="533400" y="1495644"/>
            <a:ext cx="5219700" cy="2142687"/>
          </a:xfrm>
          <a:prstGeom xmlns:a="http://schemas.openxmlformats.org/drawingml/2006/main" prst="rect">
            <a:avLst/>
          </a:prstGeom>
        </p:spPr>
      </p:pic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19A56891-E753-4E16-91DE-85F82784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521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0">
                <a:solidFill>
                  <a:srgbClr val="9DACBC"/>
                </a:solidFill>
              </a:defRPr>
            </a:defPPr>
            <a:lvl1pPr>
              <a:defRPr sz="863" b="0">
                <a:solidFill>
                  <a:srgbClr val="9DACBC"/>
                </a:solidFill>
              </a:defRPr>
            </a:lvl1pPr>
            <a:lvl2pPr>
              <a:defRPr sz="863" b="0">
                <a:solidFill>
                  <a:srgbClr val="9DACBC"/>
                </a:solidFill>
              </a:defRPr>
            </a:lvl2pPr>
            <a:lvl3pPr>
              <a:defRPr sz="863" b="0">
                <a:solidFill>
                  <a:srgbClr val="9DACBC"/>
                </a:solidFill>
              </a:defRPr>
            </a:lvl3pPr>
            <a:lvl4pPr>
              <a:defRPr sz="863" b="0">
                <a:solidFill>
                  <a:srgbClr val="9DACBC"/>
                </a:solidFill>
              </a:defRPr>
            </a:lvl4pPr>
            <a:lvl5pPr>
              <a:defRPr sz="863" b="0">
                <a:solidFill>
                  <a:srgbClr val="9DACBC"/>
                </a:solidFill>
              </a:defRPr>
            </a:lvl5pPr>
            <a:lvl6pPr>
              <a:defRPr sz="863" b="0">
                <a:solidFill>
                  <a:srgbClr val="9DACBC"/>
                </a:solidFill>
              </a:defRPr>
            </a:lvl6pPr>
            <a:lvl7pPr>
              <a:defRPr sz="863" b="0">
                <a:solidFill>
                  <a:srgbClr val="9DACBC"/>
                </a:solidFill>
              </a:defRPr>
            </a:lvl7pPr>
            <a:lvl8pPr>
              <a:defRPr sz="863" b="0">
                <a:solidFill>
                  <a:srgbClr val="9DACBC"/>
                </a:solidFill>
              </a:defRPr>
            </a:lvl8pPr>
            <a:lvl9pPr>
              <a:defRPr sz="863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63" b="0">
                <a:solidFill>
                  <a:srgbClr val="9DACBC"/>
                </a:solidFill>
              </a:defRPr>
            </a:pPr>
            <a:r>
              <a:rPr sz="863" b="0">
                <a:solidFill>
                  <a:srgbClr val="9DACBC"/>
                </a:solidFill>
              </a:rPr>
              <a:t>Original monitoring chart from Cloudflare’s postmortem</a:t>
            </a: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015D35B7-7D9E-46CB-B9A1-83826623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521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7F9FC"/>
                </a:solidFill>
              </a:defRPr>
            </a:defPPr>
            <a:lvl1pPr>
              <a:defRPr sz="1575" b="0">
                <a:solidFill>
                  <a:srgbClr val="F7F9FC"/>
                </a:solidFill>
              </a:defRPr>
            </a:lvl1pPr>
            <a:lvl2pPr>
              <a:defRPr sz="1575" b="0">
                <a:solidFill>
                  <a:srgbClr val="F7F9FC"/>
                </a:solidFill>
              </a:defRPr>
            </a:lvl2pPr>
            <a:lvl3pPr>
              <a:defRPr sz="1575" b="0">
                <a:solidFill>
                  <a:srgbClr val="F7F9FC"/>
                </a:solidFill>
              </a:defRPr>
            </a:lvl3pPr>
            <a:lvl4pPr>
              <a:defRPr sz="1575" b="0">
                <a:solidFill>
                  <a:srgbClr val="F7F9FC"/>
                </a:solidFill>
              </a:defRPr>
            </a:lvl4pPr>
            <a:lvl5pPr>
              <a:defRPr sz="1575" b="0">
                <a:solidFill>
                  <a:srgbClr val="F7F9FC"/>
                </a:solidFill>
              </a:defRPr>
            </a:lvl5pPr>
            <a:lvl6pPr>
              <a:defRPr sz="1575" b="0">
                <a:solidFill>
                  <a:srgbClr val="F7F9FC"/>
                </a:solidFill>
              </a:defRPr>
            </a:lvl6pPr>
            <a:lvl7pPr>
              <a:defRPr sz="1575" b="0">
                <a:solidFill>
                  <a:srgbClr val="F7F9FC"/>
                </a:solidFill>
              </a:defRPr>
            </a:lvl7pPr>
            <a:lvl8pPr>
              <a:defRPr sz="1575" b="0">
                <a:solidFill>
                  <a:srgbClr val="F7F9FC"/>
                </a:solidFill>
              </a:defRPr>
            </a:lvl8pPr>
            <a:lvl9pPr>
              <a:defRPr sz="15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7F9FC"/>
                </a:solidFill>
              </a:defRPr>
            </a:pPr>
            <a:r>
              <a:rPr sz="1575" b="0">
                <a:solidFill>
                  <a:srgbClr val="F7F9FC"/>
                </a:solidFill>
              </a:rPr>
              <a:t>Disabling the WAF removed the immediate load. Other security protections stayed active.</a:t>
            </a:r>
          </a:p>
        </p:txBody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5619643F-8AA8-4266-8941-C02DB584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085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9D94"/>
                </a:solidFill>
              </a:defRPr>
            </a:defPPr>
            <a:lvl1pPr>
              <a:defRPr sz="2025" b="1">
                <a:solidFill>
                  <a:srgbClr val="189D94"/>
                </a:solidFill>
              </a:defRPr>
            </a:lvl1pPr>
            <a:lvl2pPr>
              <a:defRPr sz="2025" b="1">
                <a:solidFill>
                  <a:srgbClr val="189D94"/>
                </a:solidFill>
              </a:defRPr>
            </a:lvl2pPr>
            <a:lvl3pPr>
              <a:defRPr sz="2025" b="1">
                <a:solidFill>
                  <a:srgbClr val="189D94"/>
                </a:solidFill>
              </a:defRPr>
            </a:lvl3pPr>
            <a:lvl4pPr>
              <a:defRPr sz="2025" b="1">
                <a:solidFill>
                  <a:srgbClr val="189D94"/>
                </a:solidFill>
              </a:defRPr>
            </a:lvl4pPr>
            <a:lvl5pPr>
              <a:defRPr sz="2025" b="1">
                <a:solidFill>
                  <a:srgbClr val="189D94"/>
                </a:solidFill>
              </a:defRPr>
            </a:lvl5pPr>
            <a:lvl6pPr>
              <a:defRPr sz="2025" b="1">
                <a:solidFill>
                  <a:srgbClr val="189D94"/>
                </a:solidFill>
              </a:defRPr>
            </a:lvl6pPr>
            <a:lvl7pPr>
              <a:defRPr sz="2025" b="1">
                <a:solidFill>
                  <a:srgbClr val="189D94"/>
                </a:solidFill>
              </a:defRPr>
            </a:lvl7pPr>
            <a:lvl8pPr>
              <a:defRPr sz="2025" b="1">
                <a:solidFill>
                  <a:srgbClr val="189D94"/>
                </a:solidFill>
              </a:defRPr>
            </a:lvl8pPr>
            <a:lvl9pPr>
              <a:defRPr sz="202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9D94"/>
                </a:solidFill>
              </a:defRPr>
            </a:pPr>
            <a:r>
              <a:rPr sz="2025" b="1">
                <a:solidFill>
                  <a:srgbClr val="189D94"/>
                </a:solidFill>
              </a:rPr>
              <a:t>13:42</a:t>
            </a: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37AFDDE5-C1D7-4407-A954-268F545E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428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 b="0">
                <a:solidFill>
                  <a:srgbClr val="F7F9FC"/>
                </a:solidFill>
              </a:defRPr>
            </a:defPPr>
            <a:lvl1pPr>
              <a:defRPr sz="1388" b="0">
                <a:solidFill>
                  <a:srgbClr val="F7F9FC"/>
                </a:solidFill>
              </a:defRPr>
            </a:lvl1pPr>
            <a:lvl2pPr>
              <a:defRPr sz="1388" b="0">
                <a:solidFill>
                  <a:srgbClr val="F7F9FC"/>
                </a:solidFill>
              </a:defRPr>
            </a:lvl2pPr>
            <a:lvl3pPr>
              <a:defRPr sz="1388" b="0">
                <a:solidFill>
                  <a:srgbClr val="F7F9FC"/>
                </a:solidFill>
              </a:defRPr>
            </a:lvl3pPr>
            <a:lvl4pPr>
              <a:defRPr sz="1388" b="0">
                <a:solidFill>
                  <a:srgbClr val="F7F9FC"/>
                </a:solidFill>
              </a:defRPr>
            </a:lvl4pPr>
            <a:lvl5pPr>
              <a:defRPr sz="1388" b="0">
                <a:solidFill>
                  <a:srgbClr val="F7F9FC"/>
                </a:solidFill>
              </a:defRPr>
            </a:lvl5pPr>
            <a:lvl6pPr>
              <a:defRPr sz="1388" b="0">
                <a:solidFill>
                  <a:srgbClr val="F7F9FC"/>
                </a:solidFill>
              </a:defRPr>
            </a:lvl6pPr>
            <a:lvl7pPr>
              <a:defRPr sz="1388" b="0">
                <a:solidFill>
                  <a:srgbClr val="F7F9FC"/>
                </a:solidFill>
              </a:defRPr>
            </a:lvl7pPr>
            <a:lvl8pPr>
              <a:defRPr sz="1388" b="0">
                <a:solidFill>
                  <a:srgbClr val="F7F9FC"/>
                </a:solidFill>
              </a:defRPr>
            </a:lvl8pPr>
            <a:lvl9pPr>
              <a:defRPr sz="1388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388" b="0">
                <a:solidFill>
                  <a:srgbClr val="F7F9FC"/>
                </a:solidFill>
              </a:defRPr>
            </a:pPr>
            <a:r>
              <a:rPr sz="1388" b="0">
                <a:solidFill>
                  <a:srgbClr val="F7F9FC"/>
                </a:solidFill>
              </a:rPr>
              <a:t>Rule deployed globally</a:t>
            </a:r>
          </a:p>
        </p:txBody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D8E19FCC-EB77-42DE-AF39-3BEA1A8E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790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9D94"/>
                </a:solidFill>
              </a:defRPr>
            </a:defPPr>
            <a:lvl1pPr>
              <a:defRPr sz="2025" b="1">
                <a:solidFill>
                  <a:srgbClr val="189D94"/>
                </a:solidFill>
              </a:defRPr>
            </a:lvl1pPr>
            <a:lvl2pPr>
              <a:defRPr sz="2025" b="1">
                <a:solidFill>
                  <a:srgbClr val="189D94"/>
                </a:solidFill>
              </a:defRPr>
            </a:lvl2pPr>
            <a:lvl3pPr>
              <a:defRPr sz="2025" b="1">
                <a:solidFill>
                  <a:srgbClr val="189D94"/>
                </a:solidFill>
              </a:defRPr>
            </a:lvl3pPr>
            <a:lvl4pPr>
              <a:defRPr sz="2025" b="1">
                <a:solidFill>
                  <a:srgbClr val="189D94"/>
                </a:solidFill>
              </a:defRPr>
            </a:lvl4pPr>
            <a:lvl5pPr>
              <a:defRPr sz="2025" b="1">
                <a:solidFill>
                  <a:srgbClr val="189D94"/>
                </a:solidFill>
              </a:defRPr>
            </a:lvl5pPr>
            <a:lvl6pPr>
              <a:defRPr sz="2025" b="1">
                <a:solidFill>
                  <a:srgbClr val="189D94"/>
                </a:solidFill>
              </a:defRPr>
            </a:lvl6pPr>
            <a:lvl7pPr>
              <a:defRPr sz="2025" b="1">
                <a:solidFill>
                  <a:srgbClr val="189D94"/>
                </a:solidFill>
              </a:defRPr>
            </a:lvl7pPr>
            <a:lvl8pPr>
              <a:defRPr sz="2025" b="1">
                <a:solidFill>
                  <a:srgbClr val="189D94"/>
                </a:solidFill>
              </a:defRPr>
            </a:lvl8pPr>
            <a:lvl9pPr>
              <a:defRPr sz="202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9D94"/>
                </a:solidFill>
              </a:defRPr>
            </a:pPr>
            <a:r>
              <a:rPr sz="2025" b="1">
                <a:solidFill>
                  <a:srgbClr val="189D94"/>
                </a:solidFill>
              </a:rPr>
              <a:t>14:00</a:t>
            </a:r>
          </a:p>
        </p:txBody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F7FA86C5-CCB8-464A-A284-4A22614E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1336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 b="0">
                <a:solidFill>
                  <a:srgbClr val="F7F9FC"/>
                </a:solidFill>
              </a:defRPr>
            </a:defPPr>
            <a:lvl1pPr>
              <a:defRPr sz="1388" b="0">
                <a:solidFill>
                  <a:srgbClr val="F7F9FC"/>
                </a:solidFill>
              </a:defRPr>
            </a:lvl1pPr>
            <a:lvl2pPr>
              <a:defRPr sz="1388" b="0">
                <a:solidFill>
                  <a:srgbClr val="F7F9FC"/>
                </a:solidFill>
              </a:defRPr>
            </a:lvl2pPr>
            <a:lvl3pPr>
              <a:defRPr sz="1388" b="0">
                <a:solidFill>
                  <a:srgbClr val="F7F9FC"/>
                </a:solidFill>
              </a:defRPr>
            </a:lvl3pPr>
            <a:lvl4pPr>
              <a:defRPr sz="1388" b="0">
                <a:solidFill>
                  <a:srgbClr val="F7F9FC"/>
                </a:solidFill>
              </a:defRPr>
            </a:lvl4pPr>
            <a:lvl5pPr>
              <a:defRPr sz="1388" b="0">
                <a:solidFill>
                  <a:srgbClr val="F7F9FC"/>
                </a:solidFill>
              </a:defRPr>
            </a:lvl5pPr>
            <a:lvl6pPr>
              <a:defRPr sz="1388" b="0">
                <a:solidFill>
                  <a:srgbClr val="F7F9FC"/>
                </a:solidFill>
              </a:defRPr>
            </a:lvl6pPr>
            <a:lvl7pPr>
              <a:defRPr sz="1388" b="0">
                <a:solidFill>
                  <a:srgbClr val="F7F9FC"/>
                </a:solidFill>
              </a:defRPr>
            </a:lvl7pPr>
            <a:lvl8pPr>
              <a:defRPr sz="1388" b="0">
                <a:solidFill>
                  <a:srgbClr val="F7F9FC"/>
                </a:solidFill>
              </a:defRPr>
            </a:lvl8pPr>
            <a:lvl9pPr>
              <a:defRPr sz="1388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388" b="0">
                <a:solidFill>
                  <a:srgbClr val="F7F9FC"/>
                </a:solidFill>
              </a:defRPr>
            </a:pPr>
            <a:r>
              <a:rPr sz="1388" b="0">
                <a:solidFill>
                  <a:srgbClr val="F7F9FC"/>
                </a:solidFill>
              </a:rPr>
              <a:t>WAF identified as cause</a:t>
            </a:r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9F2EBBC0-B4A1-4949-8266-1AB161F7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495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9D94"/>
                </a:solidFill>
              </a:defRPr>
            </a:defPPr>
            <a:lvl1pPr>
              <a:defRPr sz="2025" b="1">
                <a:solidFill>
                  <a:srgbClr val="189D94"/>
                </a:solidFill>
              </a:defRPr>
            </a:lvl1pPr>
            <a:lvl2pPr>
              <a:defRPr sz="2025" b="1">
                <a:solidFill>
                  <a:srgbClr val="189D94"/>
                </a:solidFill>
              </a:defRPr>
            </a:lvl2pPr>
            <a:lvl3pPr>
              <a:defRPr sz="2025" b="1">
                <a:solidFill>
                  <a:srgbClr val="189D94"/>
                </a:solidFill>
              </a:defRPr>
            </a:lvl3pPr>
            <a:lvl4pPr>
              <a:defRPr sz="2025" b="1">
                <a:solidFill>
                  <a:srgbClr val="189D94"/>
                </a:solidFill>
              </a:defRPr>
            </a:lvl4pPr>
            <a:lvl5pPr>
              <a:defRPr sz="2025" b="1">
                <a:solidFill>
                  <a:srgbClr val="189D94"/>
                </a:solidFill>
              </a:defRPr>
            </a:lvl5pPr>
            <a:lvl6pPr>
              <a:defRPr sz="2025" b="1">
                <a:solidFill>
                  <a:srgbClr val="189D94"/>
                </a:solidFill>
              </a:defRPr>
            </a:lvl6pPr>
            <a:lvl7pPr>
              <a:defRPr sz="2025" b="1">
                <a:solidFill>
                  <a:srgbClr val="189D94"/>
                </a:solidFill>
              </a:defRPr>
            </a:lvl7pPr>
            <a:lvl8pPr>
              <a:defRPr sz="2025" b="1">
                <a:solidFill>
                  <a:srgbClr val="189D94"/>
                </a:solidFill>
              </a:defRPr>
            </a:lvl8pPr>
            <a:lvl9pPr>
              <a:defRPr sz="202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9D94"/>
                </a:solidFill>
              </a:defRPr>
            </a:pPr>
            <a:r>
              <a:rPr sz="2025" b="1">
                <a:solidFill>
                  <a:srgbClr val="189D94"/>
                </a:solidFill>
              </a:rPr>
              <a:t>14:07</a:t>
            </a: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C2713B3C-E236-46ED-AAD6-59531448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8384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 b="0">
                <a:solidFill>
                  <a:srgbClr val="F7F9FC"/>
                </a:solidFill>
              </a:defRPr>
            </a:defPPr>
            <a:lvl1pPr>
              <a:defRPr sz="1388" b="0">
                <a:solidFill>
                  <a:srgbClr val="F7F9FC"/>
                </a:solidFill>
              </a:defRPr>
            </a:lvl1pPr>
            <a:lvl2pPr>
              <a:defRPr sz="1388" b="0">
                <a:solidFill>
                  <a:srgbClr val="F7F9FC"/>
                </a:solidFill>
              </a:defRPr>
            </a:lvl2pPr>
            <a:lvl3pPr>
              <a:defRPr sz="1388" b="0">
                <a:solidFill>
                  <a:srgbClr val="F7F9FC"/>
                </a:solidFill>
              </a:defRPr>
            </a:lvl3pPr>
            <a:lvl4pPr>
              <a:defRPr sz="1388" b="0">
                <a:solidFill>
                  <a:srgbClr val="F7F9FC"/>
                </a:solidFill>
              </a:defRPr>
            </a:lvl4pPr>
            <a:lvl5pPr>
              <a:defRPr sz="1388" b="0">
                <a:solidFill>
                  <a:srgbClr val="F7F9FC"/>
                </a:solidFill>
              </a:defRPr>
            </a:lvl5pPr>
            <a:lvl6pPr>
              <a:defRPr sz="1388" b="0">
                <a:solidFill>
                  <a:srgbClr val="F7F9FC"/>
                </a:solidFill>
              </a:defRPr>
            </a:lvl6pPr>
            <a:lvl7pPr>
              <a:defRPr sz="1388" b="0">
                <a:solidFill>
                  <a:srgbClr val="F7F9FC"/>
                </a:solidFill>
              </a:defRPr>
            </a:lvl7pPr>
            <a:lvl8pPr>
              <a:defRPr sz="1388" b="0">
                <a:solidFill>
                  <a:srgbClr val="F7F9FC"/>
                </a:solidFill>
              </a:defRPr>
            </a:lvl8pPr>
            <a:lvl9pPr>
              <a:defRPr sz="1388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388" b="0">
                <a:solidFill>
                  <a:srgbClr val="F7F9FC"/>
                </a:solidFill>
              </a:defRPr>
            </a:pPr>
            <a:r>
              <a:rPr sz="1388" b="0">
                <a:solidFill>
                  <a:srgbClr val="F7F9FC"/>
                </a:solidFill>
              </a:rPr>
              <a:t>WAF disabled globally</a:t>
            </a:r>
          </a:p>
        </p:txBody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C27BF48C-D011-40EF-AABD-968D376B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2004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9D94"/>
                </a:solidFill>
              </a:defRPr>
            </a:defPPr>
            <a:lvl1pPr>
              <a:defRPr sz="2025" b="1">
                <a:solidFill>
                  <a:srgbClr val="189D94"/>
                </a:solidFill>
              </a:defRPr>
            </a:lvl1pPr>
            <a:lvl2pPr>
              <a:defRPr sz="2025" b="1">
                <a:solidFill>
                  <a:srgbClr val="189D94"/>
                </a:solidFill>
              </a:defRPr>
            </a:lvl2pPr>
            <a:lvl3pPr>
              <a:defRPr sz="2025" b="1">
                <a:solidFill>
                  <a:srgbClr val="189D94"/>
                </a:solidFill>
              </a:defRPr>
            </a:lvl3pPr>
            <a:lvl4pPr>
              <a:defRPr sz="2025" b="1">
                <a:solidFill>
                  <a:srgbClr val="189D94"/>
                </a:solidFill>
              </a:defRPr>
            </a:lvl4pPr>
            <a:lvl5pPr>
              <a:defRPr sz="2025" b="1">
                <a:solidFill>
                  <a:srgbClr val="189D94"/>
                </a:solidFill>
              </a:defRPr>
            </a:lvl5pPr>
            <a:lvl6pPr>
              <a:defRPr sz="2025" b="1">
                <a:solidFill>
                  <a:srgbClr val="189D94"/>
                </a:solidFill>
              </a:defRPr>
            </a:lvl6pPr>
            <a:lvl7pPr>
              <a:defRPr sz="2025" b="1">
                <a:solidFill>
                  <a:srgbClr val="189D94"/>
                </a:solidFill>
              </a:defRPr>
            </a:lvl7pPr>
            <a:lvl8pPr>
              <a:defRPr sz="2025" b="1">
                <a:solidFill>
                  <a:srgbClr val="189D94"/>
                </a:solidFill>
              </a:defRPr>
            </a:lvl8pPr>
            <a:lvl9pPr>
              <a:defRPr sz="202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9D94"/>
                </a:solidFill>
              </a:defRPr>
            </a:pPr>
            <a:r>
              <a:rPr sz="2025" b="1">
                <a:solidFill>
                  <a:srgbClr val="189D94"/>
                </a:solidFill>
              </a:rPr>
              <a:t>14:09</a:t>
            </a:r>
          </a:p>
        </p:txBody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6A8A8F4B-0A47-4C10-9B6F-01FCC47E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5433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 b="0">
                <a:solidFill>
                  <a:srgbClr val="F7F9FC"/>
                </a:solidFill>
              </a:defRPr>
            </a:defPPr>
            <a:lvl1pPr>
              <a:defRPr sz="1388" b="0">
                <a:solidFill>
                  <a:srgbClr val="F7F9FC"/>
                </a:solidFill>
              </a:defRPr>
            </a:lvl1pPr>
            <a:lvl2pPr>
              <a:defRPr sz="1388" b="0">
                <a:solidFill>
                  <a:srgbClr val="F7F9FC"/>
                </a:solidFill>
              </a:defRPr>
            </a:lvl2pPr>
            <a:lvl3pPr>
              <a:defRPr sz="1388" b="0">
                <a:solidFill>
                  <a:srgbClr val="F7F9FC"/>
                </a:solidFill>
              </a:defRPr>
            </a:lvl3pPr>
            <a:lvl4pPr>
              <a:defRPr sz="1388" b="0">
                <a:solidFill>
                  <a:srgbClr val="F7F9FC"/>
                </a:solidFill>
              </a:defRPr>
            </a:lvl4pPr>
            <a:lvl5pPr>
              <a:defRPr sz="1388" b="0">
                <a:solidFill>
                  <a:srgbClr val="F7F9FC"/>
                </a:solidFill>
              </a:defRPr>
            </a:lvl5pPr>
            <a:lvl6pPr>
              <a:defRPr sz="1388" b="0">
                <a:solidFill>
                  <a:srgbClr val="F7F9FC"/>
                </a:solidFill>
              </a:defRPr>
            </a:lvl6pPr>
            <a:lvl7pPr>
              <a:defRPr sz="1388" b="0">
                <a:solidFill>
                  <a:srgbClr val="F7F9FC"/>
                </a:solidFill>
              </a:defRPr>
            </a:lvl7pPr>
            <a:lvl8pPr>
              <a:defRPr sz="1388" b="0">
                <a:solidFill>
                  <a:srgbClr val="F7F9FC"/>
                </a:solidFill>
              </a:defRPr>
            </a:lvl8pPr>
            <a:lvl9pPr>
              <a:defRPr sz="1388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388" b="0">
                <a:solidFill>
                  <a:srgbClr val="F7F9FC"/>
                </a:solidFill>
              </a:defRPr>
            </a:pPr>
            <a:r>
              <a:rPr sz="1388" b="0">
                <a:solidFill>
                  <a:srgbClr val="F7F9FC"/>
                </a:solidFill>
              </a:rPr>
              <a:t>Traffic and CPU recover</a:t>
            </a:r>
          </a:p>
        </p:txBody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2A67A132-77B0-48D8-935A-3739FB38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905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9D94"/>
                </a:solidFill>
              </a:defRPr>
            </a:defPPr>
            <a:lvl1pPr>
              <a:defRPr sz="2025" b="1">
                <a:solidFill>
                  <a:srgbClr val="189D94"/>
                </a:solidFill>
              </a:defRPr>
            </a:lvl1pPr>
            <a:lvl2pPr>
              <a:defRPr sz="2025" b="1">
                <a:solidFill>
                  <a:srgbClr val="189D94"/>
                </a:solidFill>
              </a:defRPr>
            </a:lvl2pPr>
            <a:lvl3pPr>
              <a:defRPr sz="2025" b="1">
                <a:solidFill>
                  <a:srgbClr val="189D94"/>
                </a:solidFill>
              </a:defRPr>
            </a:lvl3pPr>
            <a:lvl4pPr>
              <a:defRPr sz="2025" b="1">
                <a:solidFill>
                  <a:srgbClr val="189D94"/>
                </a:solidFill>
              </a:defRPr>
            </a:lvl4pPr>
            <a:lvl5pPr>
              <a:defRPr sz="2025" b="1">
                <a:solidFill>
                  <a:srgbClr val="189D94"/>
                </a:solidFill>
              </a:defRPr>
            </a:lvl5pPr>
            <a:lvl6pPr>
              <a:defRPr sz="2025" b="1">
                <a:solidFill>
                  <a:srgbClr val="189D94"/>
                </a:solidFill>
              </a:defRPr>
            </a:lvl6pPr>
            <a:lvl7pPr>
              <a:defRPr sz="2025" b="1">
                <a:solidFill>
                  <a:srgbClr val="189D94"/>
                </a:solidFill>
              </a:defRPr>
            </a:lvl7pPr>
            <a:lvl8pPr>
              <a:defRPr sz="2025" b="1">
                <a:solidFill>
                  <a:srgbClr val="189D94"/>
                </a:solidFill>
              </a:defRPr>
            </a:lvl8pPr>
            <a:lvl9pPr>
              <a:defRPr sz="202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9D94"/>
                </a:solidFill>
              </a:defRPr>
            </a:pPr>
            <a:r>
              <a:rPr sz="2025" b="1">
                <a:solidFill>
                  <a:srgbClr val="189D94"/>
                </a:solidFill>
              </a:rPr>
              <a:t>14:52</a:t>
            </a: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A14B30F5-DC53-4FFD-A427-BF9F6155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2481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 b="0">
                <a:solidFill>
                  <a:srgbClr val="F7F9FC"/>
                </a:solidFill>
              </a:defRPr>
            </a:defPPr>
            <a:lvl1pPr>
              <a:defRPr sz="1388" b="0">
                <a:solidFill>
                  <a:srgbClr val="F7F9FC"/>
                </a:solidFill>
              </a:defRPr>
            </a:lvl1pPr>
            <a:lvl2pPr>
              <a:defRPr sz="1388" b="0">
                <a:solidFill>
                  <a:srgbClr val="F7F9FC"/>
                </a:solidFill>
              </a:defRPr>
            </a:lvl2pPr>
            <a:lvl3pPr>
              <a:defRPr sz="1388" b="0">
                <a:solidFill>
                  <a:srgbClr val="F7F9FC"/>
                </a:solidFill>
              </a:defRPr>
            </a:lvl3pPr>
            <a:lvl4pPr>
              <a:defRPr sz="1388" b="0">
                <a:solidFill>
                  <a:srgbClr val="F7F9FC"/>
                </a:solidFill>
              </a:defRPr>
            </a:lvl4pPr>
            <a:lvl5pPr>
              <a:defRPr sz="1388" b="0">
                <a:solidFill>
                  <a:srgbClr val="F7F9FC"/>
                </a:solidFill>
              </a:defRPr>
            </a:lvl5pPr>
            <a:lvl6pPr>
              <a:defRPr sz="1388" b="0">
                <a:solidFill>
                  <a:srgbClr val="F7F9FC"/>
                </a:solidFill>
              </a:defRPr>
            </a:lvl6pPr>
            <a:lvl7pPr>
              <a:defRPr sz="1388" b="0">
                <a:solidFill>
                  <a:srgbClr val="F7F9FC"/>
                </a:solidFill>
              </a:defRPr>
            </a:lvl7pPr>
            <a:lvl8pPr>
              <a:defRPr sz="1388" b="0">
                <a:solidFill>
                  <a:srgbClr val="F7F9FC"/>
                </a:solidFill>
              </a:defRPr>
            </a:lvl8pPr>
            <a:lvl9pPr>
              <a:defRPr sz="1388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388" b="0">
                <a:solidFill>
                  <a:srgbClr val="F7F9FC"/>
                </a:solidFill>
              </a:defRPr>
            </a:pPr>
            <a:r>
              <a:rPr sz="1388" b="0">
                <a:solidFill>
                  <a:srgbClr val="F7F9FC"/>
                </a:solidFill>
              </a:rPr>
              <a:t>WAF restored after testing</a:t>
            </a:r>
          </a:p>
        </p:txBody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000E2D4E-B535-4A55-95EB-C029DBC9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695825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0">
                <a:solidFill>
                  <a:srgbClr val="9DACBC"/>
                </a:solidFill>
              </a:defRPr>
            </a:defPPr>
            <a:lvl1pPr>
              <a:defRPr sz="863" b="0">
                <a:solidFill>
                  <a:srgbClr val="9DACBC"/>
                </a:solidFill>
              </a:defRPr>
            </a:lvl1pPr>
            <a:lvl2pPr>
              <a:defRPr sz="863" b="0">
                <a:solidFill>
                  <a:srgbClr val="9DACBC"/>
                </a:solidFill>
              </a:defRPr>
            </a:lvl2pPr>
            <a:lvl3pPr>
              <a:defRPr sz="863" b="0">
                <a:solidFill>
                  <a:srgbClr val="9DACBC"/>
                </a:solidFill>
              </a:defRPr>
            </a:lvl3pPr>
            <a:lvl4pPr>
              <a:defRPr sz="863" b="0">
                <a:solidFill>
                  <a:srgbClr val="9DACBC"/>
                </a:solidFill>
              </a:defRPr>
            </a:lvl4pPr>
            <a:lvl5pPr>
              <a:defRPr sz="863" b="0">
                <a:solidFill>
                  <a:srgbClr val="9DACBC"/>
                </a:solidFill>
              </a:defRPr>
            </a:lvl5pPr>
            <a:lvl6pPr>
              <a:defRPr sz="863" b="0">
                <a:solidFill>
                  <a:srgbClr val="9DACBC"/>
                </a:solidFill>
              </a:defRPr>
            </a:lvl6pPr>
            <a:lvl7pPr>
              <a:defRPr sz="863" b="0">
                <a:solidFill>
                  <a:srgbClr val="9DACBC"/>
                </a:solidFill>
              </a:defRPr>
            </a:lvl7pPr>
            <a:lvl8pPr>
              <a:defRPr sz="863" b="0">
                <a:solidFill>
                  <a:srgbClr val="9DACBC"/>
                </a:solidFill>
              </a:defRPr>
            </a:lvl8pPr>
            <a:lvl9pPr>
              <a:defRPr sz="863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63" b="0">
                <a:solidFill>
                  <a:srgbClr val="9DACBC"/>
                </a:solidFill>
              </a:defRPr>
            </a:pPr>
            <a:r>
              <a:rPr sz="863" b="0">
                <a:solidFill>
                  <a:srgbClr val="9DACBC"/>
                </a:solidFill>
              </a:rPr>
              <a:t>All times UTC, July 2, 2019</a:t>
            </a:r>
          </a:p>
        </p:txBody>
      </p:sp>
    </p:spTree>
    <p:extLst>
      <p:ext uri="{BB962C8B-B14F-4D97-AF65-F5344CB8AC3E}">
        <p14:creationId xmlns:p14="http://schemas.microsoft.com/office/powerpoint/2010/main" val="13608118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6" name="Google Shape;296;p37">
            <a:extLst xmlns:a="http://schemas.openxmlformats.org/drawingml/2006/main">
              <a:ext uri="{FF2B5EF4-FFF2-40B4-BE49-F238E27FC236}">
                <a16:creationId xmlns:a16="http://schemas.microsoft.com/office/drawing/2014/main" id="{A3D8C215-FBFF-485C-8EB1-8122445D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0A9BB64F-9D5A-4FF4-A30E-AA2A3639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Fixes and lessons for safer maintenance</a:t>
            </a:r>
          </a:p>
        </p:txBody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E9B2A183-E4DE-46F1-BB46-31376F0C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CLOUDFLARE 2019</a:t>
            </a:r>
          </a:p>
        </p:txBody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4348C7B8-2A40-4E39-8F30-0BD2C6BA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291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5 / 5</a:t>
            </a:r>
          </a:p>
        </p:txBody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32EB273D-1760-4E88-AA65-A597EAAE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89D94"/>
                </a:solidFill>
              </a:defRPr>
            </a:defPPr>
            <a:lvl1pPr>
              <a:defRPr sz="1050" b="1">
                <a:solidFill>
                  <a:srgbClr val="189D94"/>
                </a:solidFill>
              </a:defRPr>
            </a:lvl1pPr>
            <a:lvl2pPr>
              <a:defRPr sz="1050" b="1">
                <a:solidFill>
                  <a:srgbClr val="189D94"/>
                </a:solidFill>
              </a:defRPr>
            </a:lvl2pPr>
            <a:lvl3pPr>
              <a:defRPr sz="1050" b="1">
                <a:solidFill>
                  <a:srgbClr val="189D94"/>
                </a:solidFill>
              </a:defRPr>
            </a:lvl3pPr>
            <a:lvl4pPr>
              <a:defRPr sz="1050" b="1">
                <a:solidFill>
                  <a:srgbClr val="189D94"/>
                </a:solidFill>
              </a:defRPr>
            </a:lvl4pPr>
            <a:lvl5pPr>
              <a:defRPr sz="1050" b="1">
                <a:solidFill>
                  <a:srgbClr val="189D94"/>
                </a:solidFill>
              </a:defRPr>
            </a:lvl5pPr>
            <a:lvl6pPr>
              <a:defRPr sz="1050" b="1">
                <a:solidFill>
                  <a:srgbClr val="189D94"/>
                </a:solidFill>
              </a:defRPr>
            </a:lvl6pPr>
            <a:lvl7pPr>
              <a:defRPr sz="1050" b="1">
                <a:solidFill>
                  <a:srgbClr val="189D94"/>
                </a:solidFill>
              </a:defRPr>
            </a:lvl7pPr>
            <a:lvl8pPr>
              <a:defRPr sz="1050" b="1">
                <a:solidFill>
                  <a:srgbClr val="189D94"/>
                </a:solidFill>
              </a:defRPr>
            </a:lvl8pPr>
            <a:lvl9pPr>
              <a:defRPr sz="10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89D94"/>
                </a:solidFill>
              </a:defRPr>
            </a:pPr>
            <a:r>
              <a:rPr sz="1050" b="1">
                <a:solidFill>
                  <a:srgbClr val="189D94"/>
                </a:solidFill>
              </a:rPr>
              <a:t>COMPLETED BY JULY 12</a:t>
            </a:r>
          </a:p>
        </p:txBody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6A390F85-92B7-4E46-9C3C-D0FB5F2A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Restored CPU protection</a:t>
            </a:r>
          </a:p>
        </p:txBody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1B48D986-1650-4192-8640-712F525D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9775"/>
            <a:ext cx="37147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Reintroduced the safeguard and inspected all 3,868 managed rules for similar problems.</a:t>
            </a:r>
          </a:p>
        </p:txBody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A5290B59-84D6-4ED4-9606-17F47417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123950"/>
            <a:ext cx="3933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89D94"/>
                </a:solidFill>
              </a:defRPr>
            </a:defPPr>
            <a:lvl1pPr>
              <a:defRPr sz="1050" b="1">
                <a:solidFill>
                  <a:srgbClr val="189D94"/>
                </a:solidFill>
              </a:defRPr>
            </a:lvl1pPr>
            <a:lvl2pPr>
              <a:defRPr sz="1050" b="1">
                <a:solidFill>
                  <a:srgbClr val="189D94"/>
                </a:solidFill>
              </a:defRPr>
            </a:lvl2pPr>
            <a:lvl3pPr>
              <a:defRPr sz="1050" b="1">
                <a:solidFill>
                  <a:srgbClr val="189D94"/>
                </a:solidFill>
              </a:defRPr>
            </a:lvl3pPr>
            <a:lvl4pPr>
              <a:defRPr sz="1050" b="1">
                <a:solidFill>
                  <a:srgbClr val="189D94"/>
                </a:solidFill>
              </a:defRPr>
            </a:lvl4pPr>
            <a:lvl5pPr>
              <a:defRPr sz="1050" b="1">
                <a:solidFill>
                  <a:srgbClr val="189D94"/>
                </a:solidFill>
              </a:defRPr>
            </a:lvl5pPr>
            <a:lvl6pPr>
              <a:defRPr sz="1050" b="1">
                <a:solidFill>
                  <a:srgbClr val="189D94"/>
                </a:solidFill>
              </a:defRPr>
            </a:lvl6pPr>
            <a:lvl7pPr>
              <a:defRPr sz="1050" b="1">
                <a:solidFill>
                  <a:srgbClr val="189D94"/>
                </a:solidFill>
              </a:defRPr>
            </a:lvl7pPr>
            <a:lvl8pPr>
              <a:defRPr sz="1050" b="1">
                <a:solidFill>
                  <a:srgbClr val="189D94"/>
                </a:solidFill>
              </a:defRPr>
            </a:lvl8pPr>
            <a:lvl9pPr>
              <a:defRPr sz="10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89D94"/>
                </a:solidFill>
              </a:defRPr>
            </a:pPr>
            <a:r>
              <a:rPr sz="1050" b="1">
                <a:solidFill>
                  <a:srgbClr val="189D94"/>
                </a:solidFill>
              </a:rPr>
              <a:t>ANNOUNCED NEXT STEPS</a:t>
            </a:r>
          </a:p>
        </p:txBody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BFEDB66F-EB50-4ED1-9CF6-94D3C5A0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52575"/>
            <a:ext cx="3933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Test cost, then limit exposure</a:t>
            </a:r>
          </a:p>
        </p:txBody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62B72795-295D-4763-91DB-A40D31EA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09775"/>
            <a:ext cx="39338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Profile CPU use, roll rules out in stages, and move to RE2 or Rust regex with runtime guarantees.</a:t>
            </a:r>
          </a:p>
        </p:txBody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81160C6F-D45B-45BB-980F-2118D08D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89D94"/>
                </a:solidFill>
              </a:defRPr>
            </a:defPPr>
            <a:lvl1pPr>
              <a:defRPr sz="1800" b="1">
                <a:solidFill>
                  <a:srgbClr val="189D94"/>
                </a:solidFill>
              </a:defRPr>
            </a:lvl1pPr>
            <a:lvl2pPr>
              <a:defRPr sz="1800" b="1">
                <a:solidFill>
                  <a:srgbClr val="189D94"/>
                </a:solidFill>
              </a:defRPr>
            </a:lvl2pPr>
            <a:lvl3pPr>
              <a:defRPr sz="1800" b="1">
                <a:solidFill>
                  <a:srgbClr val="189D94"/>
                </a:solidFill>
              </a:defRPr>
            </a:lvl3pPr>
            <a:lvl4pPr>
              <a:defRPr sz="1800" b="1">
                <a:solidFill>
                  <a:srgbClr val="189D94"/>
                </a:solidFill>
              </a:defRPr>
            </a:lvl4pPr>
            <a:lvl5pPr>
              <a:defRPr sz="1800" b="1">
                <a:solidFill>
                  <a:srgbClr val="189D94"/>
                </a:solidFill>
              </a:defRPr>
            </a:lvl5pPr>
            <a:lvl6pPr>
              <a:defRPr sz="1800" b="1">
                <a:solidFill>
                  <a:srgbClr val="189D94"/>
                </a:solidFill>
              </a:defRPr>
            </a:lvl6pPr>
            <a:lvl7pPr>
              <a:defRPr sz="1800" b="1">
                <a:solidFill>
                  <a:srgbClr val="189D94"/>
                </a:solidFill>
              </a:defRPr>
            </a:lvl7pPr>
            <a:lvl8pPr>
              <a:defRPr sz="1800" b="1">
                <a:solidFill>
                  <a:srgbClr val="189D94"/>
                </a:solidFill>
              </a:defRPr>
            </a:lvl8pPr>
            <a:lvl9pPr>
              <a:defRPr sz="180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89D94"/>
                </a:solidFill>
              </a:defRPr>
            </a:pPr>
            <a:r>
              <a:rPr sz="1800" b="1">
                <a:solidFill>
                  <a:srgbClr val="189D94"/>
                </a:solidFill>
              </a:rPr>
              <a:t>Technical debt</a:t>
            </a:r>
          </a:p>
        </p:txBody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B9A3FDB4-D8B2-4754-9281-1848D512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3714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Shortcuts in testing and deployment can become future outage costs.</a:t>
            </a:r>
          </a:p>
        </p:txBody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286BDAD5-8E4A-4542-BFA3-18EBC41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81375"/>
            <a:ext cx="3933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89D94"/>
                </a:solidFill>
              </a:defRPr>
            </a:defPPr>
            <a:lvl1pPr>
              <a:defRPr sz="1800" b="1">
                <a:solidFill>
                  <a:srgbClr val="189D94"/>
                </a:solidFill>
              </a:defRPr>
            </a:lvl1pPr>
            <a:lvl2pPr>
              <a:defRPr sz="1800" b="1">
                <a:solidFill>
                  <a:srgbClr val="189D94"/>
                </a:solidFill>
              </a:defRPr>
            </a:lvl2pPr>
            <a:lvl3pPr>
              <a:defRPr sz="1800" b="1">
                <a:solidFill>
                  <a:srgbClr val="189D94"/>
                </a:solidFill>
              </a:defRPr>
            </a:lvl3pPr>
            <a:lvl4pPr>
              <a:defRPr sz="1800" b="1">
                <a:solidFill>
                  <a:srgbClr val="189D94"/>
                </a:solidFill>
              </a:defRPr>
            </a:lvl4pPr>
            <a:lvl5pPr>
              <a:defRPr sz="1800" b="1">
                <a:solidFill>
                  <a:srgbClr val="189D94"/>
                </a:solidFill>
              </a:defRPr>
            </a:lvl5pPr>
            <a:lvl6pPr>
              <a:defRPr sz="1800" b="1">
                <a:solidFill>
                  <a:srgbClr val="189D94"/>
                </a:solidFill>
              </a:defRPr>
            </a:lvl6pPr>
            <a:lvl7pPr>
              <a:defRPr sz="1800" b="1">
                <a:solidFill>
                  <a:srgbClr val="189D94"/>
                </a:solidFill>
              </a:defRPr>
            </a:lvl7pPr>
            <a:lvl8pPr>
              <a:defRPr sz="1800" b="1">
                <a:solidFill>
                  <a:srgbClr val="189D94"/>
                </a:solidFill>
              </a:defRPr>
            </a:lvl8pPr>
            <a:lvl9pPr>
              <a:defRPr sz="180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89D94"/>
                </a:solidFill>
              </a:defRPr>
            </a:pPr>
            <a:r>
              <a:rPr sz="1800" b="1">
                <a:solidFill>
                  <a:srgbClr val="189D94"/>
                </a:solidFill>
              </a:rPr>
              <a:t>Refactoring</a:t>
            </a:r>
          </a:p>
        </p:txBody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615D4768-DA5C-4F87-B4DD-B7EE519C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29050"/>
            <a:ext cx="39338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Preserve safety limits as well as feature behavior. Test resource use under load.</a:t>
            </a:r>
          </a:p>
        </p:txBody>
      </p:sp>
    </p:spTree>
    <p:extLst>
      <p:ext uri="{BB962C8B-B14F-4D97-AF65-F5344CB8AC3E}">
        <p14:creationId xmlns:p14="http://schemas.microsoft.com/office/powerpoint/2010/main" val="527288192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2026-10-27T17:36:32.1130000Z</dcterms:created>
  <dcterms:modified xsi:type="dcterms:W3CDTF">2026-10-27T17:36:32.1130000Z</dcterms:modified>
</coreProperties>
</file>