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b4a4811793448e" /><Relationship Type="http://schemas.openxmlformats.org/officeDocument/2006/relationships/extended-properties" Target="/docProps/app.xml" Id="R2cdedba6e37048c0" /><Relationship Type="http://schemas.openxmlformats.org/officeDocument/2006/relationships/officeDocument" Target="/ppt/presentation.xml" Id="R48180a80c777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4be873d4154e1d"/>
    <p:sldMasterId xmlns:r="http://schemas.openxmlformats.org/officeDocument/2006/relationships" id="2147483660" r:id="R1459319320bd4292"/>
  </p:sldMasterIdLst>
  <p:notesMasterIdLst>
    <p:notesMasterId xmlns:r="http://schemas.openxmlformats.org/officeDocument/2006/relationships" r:id="R67d8538e31ed4a52"/>
  </p:notesMasterIdLst>
  <p:sldIdLst>
    <p:sldId xmlns:r="http://schemas.openxmlformats.org/officeDocument/2006/relationships" id="256" r:id="Rc4e2e6c3051e4b32"/>
    <p:sldId xmlns:r="http://schemas.openxmlformats.org/officeDocument/2006/relationships" id="257" r:id="Re5732f482d0741e5"/>
    <p:sldId xmlns:r="http://schemas.openxmlformats.org/officeDocument/2006/relationships" id="258" r:id="R70a8dc4d7a814d35"/>
    <p:sldId xmlns:r="http://schemas.openxmlformats.org/officeDocument/2006/relationships" id="259" r:id="R69ea6c1c3bcc4e8e"/>
    <p:sldId xmlns:r="http://schemas.openxmlformats.org/officeDocument/2006/relationships" id="260" r:id="R56b72fc38d27406b"/>
    <p:sldId xmlns:r="http://schemas.openxmlformats.org/officeDocument/2006/relationships" id="261" r:id="Rec872008b8704a6b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17eec0e3e24aec" /><Relationship Type="http://schemas.openxmlformats.org/officeDocument/2006/relationships/slideMaster" Target="/ppt/slideMasters/slideMaster1.xml" Id="Re74be873d4154e1d" /><Relationship Type="http://schemas.openxmlformats.org/officeDocument/2006/relationships/slideMaster" Target="/ppt/slideMasters/slideMaster2.xml" Id="R1459319320bd4292" /><Relationship Type="http://schemas.openxmlformats.org/officeDocument/2006/relationships/notesMaster" Target="/ppt/notesMasters/notesMaster1.xml" Id="R67d8538e31ed4a52" /><Relationship Type="http://schemas.openxmlformats.org/officeDocument/2006/relationships/presProps" Target="/ppt/presProps.xml" Id="R811ede71b7564669" /><Relationship Type="http://schemas.openxmlformats.org/officeDocument/2006/relationships/viewProps" Target="/ppt/viewProps.xml" Id="Ra0ce5e82fcb743e4" /><Relationship Type="http://schemas.openxmlformats.org/officeDocument/2006/relationships/tableStyles" Target="/ppt/tableStyles.xml" Id="R2350105f162a4740" /><Relationship Type="http://schemas.openxmlformats.org/officeDocument/2006/relationships/slide" Target="/ppt/slides/slide1.xml" Id="Rc4e2e6c3051e4b32" /><Relationship Type="http://schemas.openxmlformats.org/officeDocument/2006/relationships/slide" Target="/ppt/slides/slide2.xml" Id="Re5732f482d0741e5" /><Relationship Type="http://schemas.openxmlformats.org/officeDocument/2006/relationships/slide" Target="/ppt/slides/slide3.xml" Id="R70a8dc4d7a814d35" /><Relationship Type="http://schemas.openxmlformats.org/officeDocument/2006/relationships/slide" Target="/ppt/slides/slide4.xml" Id="R69ea6c1c3bcc4e8e" /><Relationship Type="http://schemas.openxmlformats.org/officeDocument/2006/relationships/slide" Target="/ppt/slides/slide5.xml" Id="R56b72fc38d27406b" /><Relationship Type="http://schemas.openxmlformats.org/officeDocument/2006/relationships/slide" Target="/ppt/slides/slide6.xml" Id="Rec872008b870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c22cb3e841d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06a5290054467" /><Relationship Type="http://schemas.openxmlformats.org/officeDocument/2006/relationships/notesMaster" Target="/ppt/notesMasters/notesMaster1.xml" Id="Rfc1844869e954c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b0e7512af40cd" /><Relationship Type="http://schemas.openxmlformats.org/officeDocument/2006/relationships/notesMaster" Target="/ppt/notesMasters/notesMaster1.xml" Id="Rf1fc8ff4c2864a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5efacb3874dd0" /><Relationship Type="http://schemas.openxmlformats.org/officeDocument/2006/relationships/notesMaster" Target="/ppt/notesMasters/notesMaster1.xml" Id="R0be59006768d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df9973daf49d3" /><Relationship Type="http://schemas.openxmlformats.org/officeDocument/2006/relationships/notesMaster" Target="/ppt/notesMasters/notesMaster1.xml" Id="R3f0b632c6bca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8dda9b9734eb1" /><Relationship Type="http://schemas.openxmlformats.org/officeDocument/2006/relationships/notesMaster" Target="/ppt/notesMasters/notesMaster1.xml" Id="R78eaad8bb042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11abf134a14985" /><Relationship Type="http://schemas.openxmlformats.org/officeDocument/2006/relationships/notesMaster" Target="/ppt/notesMasters/notesMaster1.xml" Id="R9a15725436214d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2e7f8dd564a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f268063a240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598c79f294c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b0e4f6eea49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95a82fb99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40fae67a542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47942f95842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616f4704746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f40bba5bf458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c4a50d97c43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944d876a349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df3dafbda54b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ace81c3a1446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debda542c0472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fb3c6862464c8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e73055dbee41f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2400b3d8b4422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ab1d8e4a3140e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fd92e938ac499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e3c6cc10754a9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305ffc6e6c4ff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a4f168bb5e437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b8e51492a8401a" /><Relationship Type="http://schemas.openxmlformats.org/officeDocument/2006/relationships/slideLayout" Target="/ppt/slideLayouts/slideLayout1.xml" Id="Rd130384dc8f849b0" /><Relationship Type="http://schemas.openxmlformats.org/officeDocument/2006/relationships/slideLayout" Target="/ppt/slideLayouts/slideLayout2.xml" Id="Rcd2e417589df4951" /><Relationship Type="http://schemas.openxmlformats.org/officeDocument/2006/relationships/slideLayout" Target="/ppt/slideLayouts/slideLayout3.xml" Id="R0a14e38d16a24abc" /><Relationship Type="http://schemas.openxmlformats.org/officeDocument/2006/relationships/slideLayout" Target="/ppt/slideLayouts/slideLayout4.xml" Id="R358effad6e9246e6" /><Relationship Type="http://schemas.openxmlformats.org/officeDocument/2006/relationships/slideLayout" Target="/ppt/slideLayouts/slideLayout5.xml" Id="R486a5255e7ec4d67" /><Relationship Type="http://schemas.openxmlformats.org/officeDocument/2006/relationships/slideLayout" Target="/ppt/slideLayouts/slideLayout6.xml" Id="R6e650ddecc1f4ef5" /><Relationship Type="http://schemas.openxmlformats.org/officeDocument/2006/relationships/slideLayout" Target="/ppt/slideLayouts/slideLayout7.xml" Id="Rd51b988db90446ec" /><Relationship Type="http://schemas.openxmlformats.org/officeDocument/2006/relationships/slideLayout" Target="/ppt/slideLayouts/slideLayout8.xml" Id="R0d61a239245b4a9a" /><Relationship Type="http://schemas.openxmlformats.org/officeDocument/2006/relationships/slideLayout" Target="/ppt/slideLayouts/slideLayout9.xml" Id="R940fdec38107433d" /><Relationship Type="http://schemas.openxmlformats.org/officeDocument/2006/relationships/slideLayout" Target="/ppt/slideLayouts/slideLayout10.xml" Id="R9d316eeedf3d43a2" /><Relationship Type="http://schemas.openxmlformats.org/officeDocument/2006/relationships/slideLayout" Target="/ppt/slideLayouts/slideLayout11.xml" Id="Re4b8d693c36840b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f218d763bd74c97" /><Relationship Type="http://schemas.openxmlformats.org/officeDocument/2006/relationships/slideLayout" Target="/ppt/slideLayouts/slideLayout12.xml" Id="Rb63b6507ef2e4ae7" /><Relationship Type="http://schemas.openxmlformats.org/officeDocument/2006/relationships/slideLayout" Target="/ppt/slideLayouts/slideLayout13.xml" Id="R89938dd5e0444380" /><Relationship Type="http://schemas.openxmlformats.org/officeDocument/2006/relationships/slideLayout" Target="/ppt/slideLayouts/slideLayout14.xml" Id="R30620b8700cf480c" /><Relationship Type="http://schemas.openxmlformats.org/officeDocument/2006/relationships/slideLayout" Target="/ppt/slideLayouts/slideLayout15.xml" Id="R13b029777ed140ae" /><Relationship Type="http://schemas.openxmlformats.org/officeDocument/2006/relationships/slideLayout" Target="/ppt/slideLayouts/slideLayout16.xml" Id="R3b8ea7da4b944a57" /><Relationship Type="http://schemas.openxmlformats.org/officeDocument/2006/relationships/slideLayout" Target="/ppt/slideLayouts/slideLayout17.xml" Id="R2e3560ebbc624682" /><Relationship Type="http://schemas.openxmlformats.org/officeDocument/2006/relationships/slideLayout" Target="/ppt/slideLayouts/slideLayout18.xml" Id="Rf0a3863c16904a30" /><Relationship Type="http://schemas.openxmlformats.org/officeDocument/2006/relationships/slideLayout" Target="/ppt/slideLayouts/slideLayout19.xml" Id="R91b575fa08564ef9" /><Relationship Type="http://schemas.openxmlformats.org/officeDocument/2006/relationships/slideLayout" Target="/ppt/slideLayouts/slideLayout20.xml" Id="Rc6f2c9df78c14d48" /><Relationship Type="http://schemas.openxmlformats.org/officeDocument/2006/relationships/slideLayout" Target="/ppt/slideLayouts/slideLayout21.xml" Id="R2e718dec671a4ad3" /><Relationship Type="http://schemas.openxmlformats.org/officeDocument/2006/relationships/slideLayout" Target="/ppt/slideLayouts/slideLayout22.xml" Id="R06467ec4afab4ef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0384dc8f849b0"/>
    <p:sldLayoutId xmlns:r="http://schemas.openxmlformats.org/officeDocument/2006/relationships" id="2147483650" r:id="Rcd2e417589df4951"/>
    <p:sldLayoutId xmlns:r="http://schemas.openxmlformats.org/officeDocument/2006/relationships" id="2147483651" r:id="R0a14e38d16a24abc"/>
    <p:sldLayoutId xmlns:r="http://schemas.openxmlformats.org/officeDocument/2006/relationships" id="2147483652" r:id="R358effad6e9246e6"/>
    <p:sldLayoutId xmlns:r="http://schemas.openxmlformats.org/officeDocument/2006/relationships" id="2147483653" r:id="R486a5255e7ec4d67"/>
    <p:sldLayoutId xmlns:r="http://schemas.openxmlformats.org/officeDocument/2006/relationships" id="2147483654" r:id="R6e650ddecc1f4ef5"/>
    <p:sldLayoutId xmlns:r="http://schemas.openxmlformats.org/officeDocument/2006/relationships" id="2147483655" r:id="Rd51b988db90446ec"/>
    <p:sldLayoutId xmlns:r="http://schemas.openxmlformats.org/officeDocument/2006/relationships" id="2147483656" r:id="R0d61a239245b4a9a"/>
    <p:sldLayoutId xmlns:r="http://schemas.openxmlformats.org/officeDocument/2006/relationships" id="2147483657" r:id="R940fdec38107433d"/>
    <p:sldLayoutId xmlns:r="http://schemas.openxmlformats.org/officeDocument/2006/relationships" id="2147483658" r:id="R9d316eeedf3d43a2"/>
    <p:sldLayoutId xmlns:r="http://schemas.openxmlformats.org/officeDocument/2006/relationships" id="2147483659" r:id="Re4b8d693c36840b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63b6507ef2e4ae7"/>
    <p:sldLayoutId xmlns:r="http://schemas.openxmlformats.org/officeDocument/2006/relationships" id="2147483662" r:id="R89938dd5e0444380"/>
    <p:sldLayoutId xmlns:r="http://schemas.openxmlformats.org/officeDocument/2006/relationships" id="2147483663" r:id="R30620b8700cf480c"/>
    <p:sldLayoutId xmlns:r="http://schemas.openxmlformats.org/officeDocument/2006/relationships" id="2147483664" r:id="R13b029777ed140ae"/>
    <p:sldLayoutId xmlns:r="http://schemas.openxmlformats.org/officeDocument/2006/relationships" id="2147483665" r:id="R3b8ea7da4b944a57"/>
    <p:sldLayoutId xmlns:r="http://schemas.openxmlformats.org/officeDocument/2006/relationships" id="2147483666" r:id="R2e3560ebbc624682"/>
    <p:sldLayoutId xmlns:r="http://schemas.openxmlformats.org/officeDocument/2006/relationships" id="2147483667" r:id="Rf0a3863c16904a30"/>
    <p:sldLayoutId xmlns:r="http://schemas.openxmlformats.org/officeDocument/2006/relationships" id="2147483668" r:id="R91b575fa08564ef9"/>
    <p:sldLayoutId xmlns:r="http://schemas.openxmlformats.org/officeDocument/2006/relationships" id="2147483669" r:id="Rc6f2c9df78c14d48"/>
    <p:sldLayoutId xmlns:r="http://schemas.openxmlformats.org/officeDocument/2006/relationships" id="2147483670" r:id="R2e718dec671a4ad3"/>
    <p:sldLayoutId xmlns:r="http://schemas.openxmlformats.org/officeDocument/2006/relationships" id="2147483671" r:id="R06467ec4afab4ef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0b25dc7b974a4f" /><Relationship Type="http://schemas.openxmlformats.org/officeDocument/2006/relationships/notesSlide" Target="/ppt/notesSlides/notesSlide1.xml" Id="Ra53e698a7826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d472c1345c4e25" /><Relationship Type="http://schemas.openxmlformats.org/officeDocument/2006/relationships/notesSlide" Target="/ppt/notesSlides/notesSlide2.xml" Id="R4804e80c16bb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7feb22b9b24cc9" /><Relationship Type="http://schemas.openxmlformats.org/officeDocument/2006/relationships/notesSlide" Target="/ppt/notesSlides/notesSlide3.xml" Id="Rbcdae3e7a0674b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de494046034418" /><Relationship Type="http://schemas.openxmlformats.org/officeDocument/2006/relationships/notesSlide" Target="/ppt/notesSlides/notesSlide4.xml" Id="Rc2b02220a26d4e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d3a1490ba94d11" /><Relationship Type="http://schemas.openxmlformats.org/officeDocument/2006/relationships/notesSlide" Target="/ppt/notesSlides/notesSlide5.xml" Id="R44bb3d961549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a9b76e34f546bb" /><Relationship Type="http://schemas.openxmlformats.org/officeDocument/2006/relationships/notesSlide" Target="/ppt/notesSlides/notesSlide6.xml" Id="R1c36529ca3bb4d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33">
            <a:extLst xmlns:a="http://schemas.openxmlformats.org/drawingml/2006/main">
              <a:ext uri="{FF2B5EF4-FFF2-40B4-BE49-F238E27FC236}">
                <a16:creationId xmlns:a16="http://schemas.microsoft.com/office/drawing/2014/main" id="{E0330C4F-25F2-4FCB-9BEA-7E9D5F0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900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Cloudflare 2019: what users experienced</a:t>
            </a:r>
            <a:endParaRPr sz="1100"/>
          </a:p>
        </p:txBody>
      </p:sp>
      <p:sp>
        <p:nvSpPr>
          <p:cNvPr id="237" name="Google Shape;237;p33">
            <a:extLst xmlns:a="http://schemas.openxmlformats.org/drawingml/2006/main">
              <a:ext uri="{FF2B5EF4-FFF2-40B4-BE49-F238E27FC236}">
                <a16:creationId xmlns:a16="http://schemas.microsoft.com/office/drawing/2014/main" id="{49824F6A-5454-4575-8E15-B3B63C7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500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800">
              <a:solidFill>
                <a:srgbClr val="9DACBC"/>
              </a:solidFill>
            </a:endParaRPr>
          </a:p>
        </p:txBody>
      </p:sp>
      <p:sp>
        <p:nvSpPr>
          <p:cNvPr id="238" name="Google Shape;238;p33">
            <a:extLst xmlns:a="http://schemas.openxmlformats.org/drawingml/2006/main">
              <a:ext uri="{FF2B5EF4-FFF2-40B4-BE49-F238E27FC236}">
                <a16:creationId xmlns:a16="http://schemas.microsoft.com/office/drawing/2014/main" id="{85CF1D3A-1160-4DDE-8379-BFF940BA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33">
            <a:extLst xmlns:a="http://schemas.openxmlformats.org/drawingml/2006/main">
              <a:ext uri="{FF2B5EF4-FFF2-40B4-BE49-F238E27FC236}">
                <a16:creationId xmlns:a16="http://schemas.microsoft.com/office/drawing/2014/main" id="{52D82F07-8B68-475F-A8F0-26CEB35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Cloudflare sits between visitors and websites. Its servers deliver content and screen requests before they reach a website’s own server.</a:t>
            </a:r>
            <a:endParaRPr sz="1100"/>
          </a:p>
        </p:txBody>
      </p:sp>
      <p:sp>
        <p:nvSpPr>
          <p:cNvPr id="240" name="Google Shape;240;p33">
            <a:extLst xmlns:a="http://schemas.openxmlformats.org/drawingml/2006/main">
              <a:ext uri="{FF2B5EF4-FFF2-40B4-BE49-F238E27FC236}">
                <a16:creationId xmlns:a16="http://schemas.microsoft.com/office/drawing/2014/main" id="{0A84B2FF-A372-45F1-B030-93DF5C6E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33">
            <a:extLst xmlns:a="http://schemas.openxmlformats.org/drawingml/2006/main">
              <a:ext uri="{FF2B5EF4-FFF2-40B4-BE49-F238E27FC236}">
                <a16:creationId xmlns:a16="http://schemas.microsoft.com/office/drawing/2014/main" id="{4B85DF21-5C93-4438-BF95-C6D570A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On July 2, a firewall rule update overloaded servers worldwide. Visitors saw “502 Bad Gateway” errors instead of web pages.</a:t>
            </a:r>
            <a:endParaRPr sz="1100"/>
          </a:p>
        </p:txBody>
      </p:sp>
      <p:sp>
        <p:nvSpPr>
          <p:cNvPr id="242" name="Google Shape;242;p33">
            <a:extLst xmlns:a="http://schemas.openxmlformats.org/drawingml/2006/main">
              <a:ext uri="{FF2B5EF4-FFF2-40B4-BE49-F238E27FC236}">
                <a16:creationId xmlns:a16="http://schemas.microsoft.com/office/drawing/2014/main" id="{1E27D23E-8DBF-4255-80B8-0F158084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33">
            <a:extLst xmlns:a="http://schemas.openxmlformats.org/drawingml/2006/main">
              <a:ext uri="{FF2B5EF4-FFF2-40B4-BE49-F238E27FC236}">
                <a16:creationId xmlns:a16="http://schemas.microsoft.com/office/drawing/2014/main" id="{526808E3-C6DC-4A62-BA1A-0FA8E5A8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outage lasted 27 minutes. CPU usage reached 100%, and Cloudflare’s traffic fell 82% at its worst.</a:t>
            </a:r>
            <a:endParaRPr sz="1100"/>
          </a:p>
        </p:txBody>
      </p:sp>
      <p:sp>
        <p:nvSpPr>
          <p:cNvPr id="244" name="Google Shape;244;p33">
            <a:extLst xmlns:a="http://schemas.openxmlformats.org/drawingml/2006/main">
              <a:ext uri="{FF2B5EF4-FFF2-40B4-BE49-F238E27FC236}">
                <a16:creationId xmlns:a16="http://schemas.microsoft.com/office/drawing/2014/main" id="{2B8D4940-D484-4E3E-A358-BCD46FE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33">
            <a:extLst xmlns:a="http://schemas.openxmlformats.org/drawingml/2006/main">
              <a:ext uri="{FF2B5EF4-FFF2-40B4-BE49-F238E27FC236}">
                <a16:creationId xmlns:a16="http://schemas.microsoft.com/office/drawing/2014/main" id="{D13D848D-AD78-4AB3-972F-988E3764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Why it mattered: one shared provider’s failure interrupted many customers at once, even when their own websites were otherwise healthy.</a:t>
            </a:r>
            <a:endParaRPr sz="1100"/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215C1D5-6FA9-4BF0-A878-C4907E6D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incident update (July 2) and postmortem (July 12, 2019)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34">
            <a:extLst xmlns:a="http://schemas.openxmlformats.org/drawingml/2006/main">
              <a:ext uri="{FF2B5EF4-FFF2-40B4-BE49-F238E27FC236}">
                <a16:creationId xmlns:a16="http://schemas.microsoft.com/office/drawing/2014/main" id="{AFFF8228-3A78-4ACB-8EB7-2A300F8C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900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The technical trigger: expensive pattern matching</a:t>
            </a:r>
            <a:endParaRPr sz="1100"/>
          </a:p>
        </p:txBody>
      </p:sp>
      <p:sp>
        <p:nvSpPr>
          <p:cNvPr id="252" name="Google Shape;252;p34">
            <a:extLst xmlns:a="http://schemas.openxmlformats.org/drawingml/2006/main">
              <a:ext uri="{FF2B5EF4-FFF2-40B4-BE49-F238E27FC236}">
                <a16:creationId xmlns:a16="http://schemas.microsoft.com/office/drawing/2014/main" id="{DB3B21C6-4989-42E4-BBF6-6E6D1575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500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800">
              <a:solidFill>
                <a:srgbClr val="9DACBC"/>
              </a:solidFill>
            </a:endParaRPr>
          </a:p>
        </p:txBody>
      </p:sp>
      <p:sp>
        <p:nvSpPr>
          <p:cNvPr id="253" name="Google Shape;253;p34">
            <a:extLst xmlns:a="http://schemas.openxmlformats.org/drawingml/2006/main">
              <a:ext uri="{FF2B5EF4-FFF2-40B4-BE49-F238E27FC236}">
                <a16:creationId xmlns:a16="http://schemas.microsoft.com/office/drawing/2014/main" id="{2F422107-CA04-4DBB-A9DD-97985FE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34">
            <a:extLst xmlns:a="http://schemas.openxmlformats.org/drawingml/2006/main">
              <a:ext uri="{FF2B5EF4-FFF2-40B4-BE49-F238E27FC236}">
                <a16:creationId xmlns:a16="http://schemas.microsoft.com/office/drawing/2014/main" id="{36CDDE7B-FE1F-4244-8846-D14931E9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web application firewall (WAF) checks requests for suspicious content. This update targeted malicious JavaScript.</a:t>
            </a:r>
            <a:endParaRPr sz="1100"/>
          </a:p>
        </p:txBody>
      </p:sp>
      <p:sp>
        <p:nvSpPr>
          <p:cNvPr id="255" name="Google Shape;255;p34">
            <a:extLst xmlns:a="http://schemas.openxmlformats.org/drawingml/2006/main">
              <a:ext uri="{FF2B5EF4-FFF2-40B4-BE49-F238E27FC236}">
                <a16:creationId xmlns:a16="http://schemas.microsoft.com/office/drawing/2014/main" id="{29F409A8-ECD4-4073-96A4-5580480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34">
            <a:extLst xmlns:a="http://schemas.openxmlformats.org/drawingml/2006/main">
              <a:ext uri="{FF2B5EF4-FFF2-40B4-BE49-F238E27FC236}">
                <a16:creationId xmlns:a16="http://schemas.microsoft.com/office/drawing/2014/main" id="{5BECDB0E-C899-4A56-8491-354841C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A regular expression, or regex, is a text-search pattern. The simplified fragment .*.*=.* contains overlapping “match anything” sections.</a:t>
            </a:r>
            <a:endParaRPr sz="1100"/>
          </a:p>
        </p:txBody>
      </p:sp>
      <p:sp>
        <p:nvSpPr>
          <p:cNvPr id="257" name="Google Shape;257;p34">
            <a:extLst xmlns:a="http://schemas.openxmlformats.org/drawingml/2006/main">
              <a:ext uri="{FF2B5EF4-FFF2-40B4-BE49-F238E27FC236}">
                <a16:creationId xmlns:a16="http://schemas.microsoft.com/office/drawing/2014/main" id="{9575523D-0A12-463C-9BDA-F9CED34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34">
            <a:extLst xmlns:a="http://schemas.openxmlformats.org/drawingml/2006/main">
              <a:ext uri="{FF2B5EF4-FFF2-40B4-BE49-F238E27FC236}">
                <a16:creationId xmlns:a16="http://schemas.microsoft.com/office/drawing/2014/main" id="{B748D31B-58E4-470A-AD3C-5CA08D52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Backtracking means retrying different ways to match the same text. Here, the repeated work consumed the CPU needed to serve requests.</a:t>
            </a:r>
            <a:endParaRPr sz="1100"/>
          </a:p>
        </p:txBody>
      </p:sp>
      <p:sp>
        <p:nvSpPr>
          <p:cNvPr id="259" name="Google Shape;259;p34">
            <a:extLst xmlns:a="http://schemas.openxmlformats.org/drawingml/2006/main">
              <a:ext uri="{FF2B5EF4-FFF2-40B4-BE49-F238E27FC236}">
                <a16:creationId xmlns:a16="http://schemas.microsoft.com/office/drawing/2014/main" id="{0FAF1890-69B8-458D-981B-E85D457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34">
            <a:extLst xmlns:a="http://schemas.openxmlformats.org/drawingml/2006/main">
              <a:ext uri="{FF2B5EF4-FFF2-40B4-BE49-F238E27FC236}">
                <a16:creationId xmlns:a16="http://schemas.microsoft.com/office/drawing/2014/main" id="{AA14D28C-DF18-4922-A1E0-7A485C1C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“Simulate” mode only stopped the rule from blocking visitors. It still ran the expensive check on real traffic.</a:t>
            </a:r>
            <a:endParaRPr sz="1100"/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C4FA914-B042-445E-8430-225BC48A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incident update and technical postmortem, July 2019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Google Shape;266;p35">
            <a:extLst xmlns:a="http://schemas.openxmlformats.org/drawingml/2006/main">
              <a:ext uri="{FF2B5EF4-FFF2-40B4-BE49-F238E27FC236}">
                <a16:creationId xmlns:a16="http://schemas.microsoft.com/office/drawing/2014/main" id="{5B1C83B9-1BA2-4695-9CFC-746F8B0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Why the safeguards did not catch it</a:t>
            </a:r>
            <a:endParaRPr sz="1100"/>
          </a:p>
        </p:txBody>
      </p:sp>
      <p:sp>
        <p:nvSpPr>
          <p:cNvPr id="267" name="Google Shape;267;p35">
            <a:extLst xmlns:a="http://schemas.openxmlformats.org/drawingml/2006/main">
              <a:ext uri="{FF2B5EF4-FFF2-40B4-BE49-F238E27FC236}">
                <a16:creationId xmlns:a16="http://schemas.microsoft.com/office/drawing/2014/main" id="{7A6BDFFB-37AB-46AC-9A4B-ABEB9D1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1BB716A5-5A59-4F28-9DD1-C6C70C7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35">
            <a:extLst xmlns:a="http://schemas.openxmlformats.org/drawingml/2006/main">
              <a:ext uri="{FF2B5EF4-FFF2-40B4-BE49-F238E27FC236}">
                <a16:creationId xmlns:a16="http://schemas.microsoft.com/office/drawing/2014/main" id="{82094A72-8363-485A-8D0F-A167E25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Earlier refactoring accidentally removed a CPU safeguard. The effort to improve performance weakened a protection against costly rules.</a:t>
            </a:r>
            <a:endParaRPr sz="1100"/>
          </a:p>
        </p:txBody>
      </p:sp>
      <p:sp>
        <p:nvSpPr>
          <p:cNvPr id="270" name="Google Shape;270;p35">
            <a:extLst xmlns:a="http://schemas.openxmlformats.org/drawingml/2006/main">
              <a:ext uri="{FF2B5EF4-FFF2-40B4-BE49-F238E27FC236}">
                <a16:creationId xmlns:a16="http://schemas.microsoft.com/office/drawing/2014/main" id="{AE4ED4D9-7BD5-47E6-8633-DC1F5F78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35">
            <a:extLst xmlns:a="http://schemas.openxmlformats.org/drawingml/2006/main">
              <a:ext uri="{FF2B5EF4-FFF2-40B4-BE49-F238E27FC236}">
                <a16:creationId xmlns:a16="http://schemas.microsoft.com/office/drawing/2014/main" id="{111782FB-3D7B-400C-8035-9909F76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Tests checked which requests to allow or block. They did not catch runaway CPU use, so passing tests gave incomplete reassurance.</a:t>
            </a:r>
            <a:endParaRPr sz="1100"/>
          </a:p>
        </p:txBody>
      </p:sp>
      <p:sp>
        <p:nvSpPr>
          <p:cNvPr id="272" name="Google Shape;272;p35">
            <a:extLst xmlns:a="http://schemas.openxmlformats.org/drawingml/2006/main">
              <a:ext uri="{FF2B5EF4-FFF2-40B4-BE49-F238E27FC236}">
                <a16:creationId xmlns:a16="http://schemas.microsoft.com/office/drawing/2014/main" id="{8E9EA5BC-1305-44F8-BB2C-3C622D54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35">
            <a:extLst xmlns:a="http://schemas.openxmlformats.org/drawingml/2006/main">
              <a:ext uri="{FF2B5EF4-FFF2-40B4-BE49-F238E27FC236}">
                <a16:creationId xmlns:a16="http://schemas.microsoft.com/office/drawing/2014/main" id="{692D514F-280F-4959-B4AC-AC60D285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rollout sent the rule worldwide without a limited trial. A local defect therefore became a global availability problem.</a:t>
            </a:r>
            <a:endParaRPr sz="1100"/>
          </a:p>
        </p:txBody>
      </p:sp>
      <p:sp>
        <p:nvSpPr>
          <p:cNvPr id="274" name="Google Shape;274;p35">
            <a:extLst xmlns:a="http://schemas.openxmlformats.org/drawingml/2006/main">
              <a:ext uri="{FF2B5EF4-FFF2-40B4-BE49-F238E27FC236}">
                <a16:creationId xmlns:a16="http://schemas.microsoft.com/office/drawing/2014/main" id="{D701CCBD-1CE7-4F70-B577-0D39DD7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35">
            <a:extLst xmlns:a="http://schemas.openxmlformats.org/drawingml/2006/main">
              <a:ext uri="{FF2B5EF4-FFF2-40B4-BE49-F238E27FC236}">
                <a16:creationId xmlns:a16="http://schemas.microsoft.com/office/drawing/2014/main" id="{255C5B31-952E-4892-99DE-A5D5A33E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Recovery also depended on affected systems. Engineers struggled to access internal tools, making an emergency change harder.</a:t>
            </a:r>
            <a:endParaRPr sz="1100"/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2762930-DDFF-4888-9B8F-AF787F4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Source: Cloudflare engineering postmortem, July 12, 2019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36">
            <a:extLst xmlns:a="http://schemas.openxmlformats.org/drawingml/2006/main">
              <a:ext uri="{FF2B5EF4-FFF2-40B4-BE49-F238E27FC236}">
                <a16:creationId xmlns:a16="http://schemas.microsoft.com/office/drawing/2014/main" id="{4B2C1752-785D-44DC-BE92-E2EA7791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How engineers restored service</a:t>
            </a:r>
            <a:endParaRPr sz="1100"/>
          </a:p>
        </p:txBody>
      </p:sp>
      <p:sp>
        <p:nvSpPr>
          <p:cNvPr id="282" name="Google Shape;282;p36">
            <a:extLst xmlns:a="http://schemas.openxmlformats.org/drawingml/2006/main">
              <a:ext uri="{FF2B5EF4-FFF2-40B4-BE49-F238E27FC236}">
                <a16:creationId xmlns:a16="http://schemas.microsoft.com/office/drawing/2014/main" id="{4516DDA6-6611-4359-BCFC-C46E6F5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284" name="Google Shape;284;p36">
            <a:extLst xmlns:a="http://schemas.openxmlformats.org/drawingml/2006/main">
              <a:ext uri="{FF2B5EF4-FFF2-40B4-BE49-F238E27FC236}">
                <a16:creationId xmlns:a16="http://schemas.microsoft.com/office/drawing/2014/main" id="{7037BFD8-B88C-465E-8605-8406DF3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36">
            <a:extLst xmlns:a="http://schemas.openxmlformats.org/drawingml/2006/main">
              <a:ext uri="{FF2B5EF4-FFF2-40B4-BE49-F238E27FC236}">
                <a16:creationId xmlns:a16="http://schemas.microsoft.com/office/drawing/2014/main" id="{68D9D7C9-4DDF-42AF-9445-ADFDA2BD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13:42 UTC: the rule goes live. By 14:00, engineers identify the WAF as the source of CPU exhaustion.</a:t>
            </a:r>
            <a:endParaRPr sz="1100"/>
          </a:p>
        </p:txBody>
      </p:sp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045491F7-C784-45AE-8D64-D8D1E0B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36">
            <a:extLst xmlns:a="http://schemas.openxmlformats.org/drawingml/2006/main">
              <a:ext uri="{FF2B5EF4-FFF2-40B4-BE49-F238E27FC236}">
                <a16:creationId xmlns:a16="http://schemas.microsoft.com/office/drawing/2014/main" id="{A5EA0067-E322-40E7-ACBD-D49ED73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14:07 UTC: they disable the WAF globally. By 14:09, CPU usage and traffic return to normal.</a:t>
            </a:r>
            <a:endParaRPr sz="1100"/>
          </a:p>
        </p:txBody>
      </p:sp>
      <p:sp>
        <p:nvSpPr>
          <p:cNvPr id="288" name="Google Shape;288;p36">
            <a:extLst xmlns:a="http://schemas.openxmlformats.org/drawingml/2006/main">
              <a:ext uri="{FF2B5EF4-FFF2-40B4-BE49-F238E27FC236}">
                <a16:creationId xmlns:a16="http://schemas.microsoft.com/office/drawing/2014/main" id="{60A4B884-0F16-4567-A2D0-FCEF0396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36">
            <a:extLst xmlns:a="http://schemas.openxmlformats.org/drawingml/2006/main">
              <a:ext uri="{FF2B5EF4-FFF2-40B4-BE49-F238E27FC236}">
                <a16:creationId xmlns:a16="http://schemas.microsoft.com/office/drawing/2014/main" id="{8E78C6A6-2D51-4B53-B503-6BEE501E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They roll back the faulty rule and test the fix. At 14:52 UTC, they restore the WAF worldwide.</a:t>
            </a:r>
            <a:endParaRPr sz="1100"/>
          </a:p>
        </p:txBody>
      </p:sp>
      <p:sp>
        <p:nvSpPr>
          <p:cNvPr id="290" name="Google Shape;290;p36">
            <a:extLst xmlns:a="http://schemas.openxmlformats.org/drawingml/2006/main">
              <a:ext uri="{FF2B5EF4-FFF2-40B4-BE49-F238E27FC236}">
                <a16:creationId xmlns:a16="http://schemas.microsoft.com/office/drawing/2014/main" id="{BCECE08D-17E7-47AB-A364-DF7FA0E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Google Shape;291;p36">
            <a:extLst xmlns:a="http://schemas.openxmlformats.org/drawingml/2006/main">
              <a:ext uri="{FF2B5EF4-FFF2-40B4-BE49-F238E27FC236}">
                <a16:creationId xmlns:a16="http://schemas.microsoft.com/office/drawing/2014/main" id="{751DC18C-6C77-4242-854F-8A6A913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tradeoff: websites recover before WAF inspection returns. Other security protections remain active during that interval.</a:t>
            </a:r>
            <a:endParaRPr sz="1100"/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642C246-8847-45ED-A821-53EFC252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incident update and engineering postmortem, July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37">
            <a:extLst xmlns:a="http://schemas.openxmlformats.org/drawingml/2006/main">
              <a:ext uri="{FF2B5EF4-FFF2-40B4-BE49-F238E27FC236}">
                <a16:creationId xmlns:a16="http://schemas.microsoft.com/office/drawing/2014/main" id="{5FDE70A5-AE2F-440A-92BD-2DC764C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Cloudflare changed after the outage</a:t>
            </a:r>
            <a:endParaRPr sz="1100"/>
          </a:p>
        </p:txBody>
      </p:sp>
      <p:sp>
        <p:nvSpPr>
          <p:cNvPr id="298" name="Google Shape;298;p37">
            <a:extLst xmlns:a="http://schemas.openxmlformats.org/drawingml/2006/main">
              <a:ext uri="{FF2B5EF4-FFF2-40B4-BE49-F238E27FC236}">
                <a16:creationId xmlns:a16="http://schemas.microsoft.com/office/drawing/2014/main" id="{773A3F8E-8E87-4297-9D6A-B94B279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300" name="Google Shape;300;p37">
            <a:extLst xmlns:a="http://schemas.openxmlformats.org/drawingml/2006/main">
              <a:ext uri="{FF2B5EF4-FFF2-40B4-BE49-F238E27FC236}">
                <a16:creationId xmlns:a16="http://schemas.microsoft.com/office/drawing/2014/main" id="{92DFD011-C643-41CA-AF2F-7861BFE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37">
            <a:extLst xmlns:a="http://schemas.openxmlformats.org/drawingml/2006/main">
              <a:ext uri="{FF2B5EF4-FFF2-40B4-BE49-F238E27FC236}">
                <a16:creationId xmlns:a16="http://schemas.microsoft.com/office/drawing/2014/main" id="{85287F7C-90E6-4207-98C6-D17C83F2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Completed by July 12: restored the CPU safeguard and inspected all 3,868 managed rules for similar problems.</a:t>
            </a:r>
            <a:endParaRPr sz="1100"/>
          </a:p>
        </p:txBody>
      </p:sp>
      <p:sp>
        <p:nvSpPr>
          <p:cNvPr id="302" name="Google Shape;302;p37">
            <a:extLst xmlns:a="http://schemas.openxmlformats.org/drawingml/2006/main">
              <a:ext uri="{FF2B5EF4-FFF2-40B4-BE49-F238E27FC236}">
                <a16:creationId xmlns:a16="http://schemas.microsoft.com/office/drawing/2014/main" id="{3474F068-05A4-4F11-BBC5-9430D0EF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Google Shape;303;p37">
            <a:extLst xmlns:a="http://schemas.openxmlformats.org/drawingml/2006/main">
              <a:ext uri="{FF2B5EF4-FFF2-40B4-BE49-F238E27FC236}">
                <a16:creationId xmlns:a16="http://schemas.microsoft.com/office/drawing/2014/main" id="{A939E221-93D3-4650-A686-FF1CDC0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Planned testing: profile each rule’s performance. That means measuring its processing cost, beyond whether it gives the right answer.</a:t>
            </a:r>
            <a:endParaRPr sz="1100"/>
          </a:p>
        </p:txBody>
      </p:sp>
      <p:sp>
        <p:nvSpPr>
          <p:cNvPr id="304" name="Google Shape;304;p37">
            <a:extLst xmlns:a="http://schemas.openxmlformats.org/drawingml/2006/main">
              <a:ext uri="{FF2B5EF4-FFF2-40B4-BE49-F238E27FC236}">
                <a16:creationId xmlns:a16="http://schemas.microsoft.com/office/drawing/2014/main" id="{2AD3B6FA-8C90-485A-BA91-DDFA954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37">
            <a:extLst xmlns:a="http://schemas.openxmlformats.org/drawingml/2006/main">
              <a:ext uri="{FF2B5EF4-FFF2-40B4-BE49-F238E27FC236}">
                <a16:creationId xmlns:a16="http://schemas.microsoft.com/office/drawing/2014/main" id="{EB64C263-2913-4E74-9992-5181D39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Planned rollout: release rules in stages. Planned engine change: use RE2 or Rust regex with runtime guarantees.</a:t>
            </a:r>
            <a:endParaRPr sz="1100"/>
          </a:p>
        </p:txBody>
      </p:sp>
      <p:sp>
        <p:nvSpPr>
          <p:cNvPr id="306" name="Google Shape;306;p37">
            <a:extLst xmlns:a="http://schemas.openxmlformats.org/drawingml/2006/main">
              <a:ext uri="{FF2B5EF4-FFF2-40B4-BE49-F238E27FC236}">
                <a16:creationId xmlns:a16="http://schemas.microsoft.com/office/drawing/2014/main" id="{4EA46B74-E5FC-401B-8198-5F5C4D70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37">
            <a:extLst xmlns:a="http://schemas.openxmlformats.org/drawingml/2006/main">
              <a:ext uri="{FF2B5EF4-FFF2-40B4-BE49-F238E27FC236}">
                <a16:creationId xmlns:a16="http://schemas.microsoft.com/office/drawing/2014/main" id="{5D0D4564-0FE1-4B0C-9721-AF8841C3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Why the engine matters: RE2 bounds matching time linearly in input length for a fixed pattern, avoiding unbounded backtracking.</a:t>
            </a:r>
            <a:endParaRPr sz="1100"/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1F8A3AE-F58A-49E5-BE8F-6E140BB6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postmortem (July 12, 2019) and Google RE2 documentation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38">
            <a:extLst xmlns:a="http://schemas.openxmlformats.org/drawingml/2006/main">
              <a:ext uri="{FF2B5EF4-FFF2-40B4-BE49-F238E27FC236}">
                <a16:creationId xmlns:a16="http://schemas.microsoft.com/office/drawing/2014/main" id="{83D0D9FB-36B8-44F5-8A5C-7A982B6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p38">
            <a:extLst xmlns:a="http://schemas.openxmlformats.org/drawingml/2006/main">
              <a:ext uri="{FF2B5EF4-FFF2-40B4-BE49-F238E27FC236}">
                <a16:creationId xmlns:a16="http://schemas.microsoft.com/office/drawing/2014/main" id="{2E68E120-327F-49D1-B041-B4429FB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Lessons for maintenance, debt &amp; refactoring</a:t>
            </a:r>
            <a:endParaRPr sz="1100"/>
          </a:p>
        </p:txBody>
      </p:sp>
      <p:sp>
        <p:nvSpPr>
          <p:cNvPr id="314" name="Google Shape;314;p38">
            <a:extLst xmlns:a="http://schemas.openxmlformats.org/drawingml/2006/main">
              <a:ext uri="{FF2B5EF4-FFF2-40B4-BE49-F238E27FC236}">
                <a16:creationId xmlns:a16="http://schemas.microsoft.com/office/drawing/2014/main" id="{135CE6CD-A9A7-4138-B370-3295E0BA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316" name="Google Shape;316;p38">
            <a:extLst xmlns:a="http://schemas.openxmlformats.org/drawingml/2006/main">
              <a:ext uri="{FF2B5EF4-FFF2-40B4-BE49-F238E27FC236}">
                <a16:creationId xmlns:a16="http://schemas.microsoft.com/office/drawing/2014/main" id="{337FCEED-6268-4871-82F9-DE8BCFAA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38">
            <a:extLst xmlns:a="http://schemas.openxmlformats.org/drawingml/2006/main">
              <a:ext uri="{FF2B5EF4-FFF2-40B4-BE49-F238E27FC236}">
                <a16:creationId xmlns:a16="http://schemas.microsoft.com/office/drawing/2014/main" id="{CB10D9ED-586A-427C-A3F3-88E248B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Maintenance includes keeping changes safe. Fixing the broken rule restores service, while stronger tests help prevent another failure.</a:t>
            </a:r>
            <a:endParaRPr sz="1100"/>
          </a:p>
        </p:txBody>
      </p:sp>
      <p:sp>
        <p:nvSpPr>
          <p:cNvPr id="318" name="Google Shape;318;p38">
            <a:extLst xmlns:a="http://schemas.openxmlformats.org/drawingml/2006/main">
              <a:ext uri="{FF2B5EF4-FFF2-40B4-BE49-F238E27FC236}">
                <a16:creationId xmlns:a16="http://schemas.microsoft.com/office/drawing/2014/main" id="{9425D057-79DA-46BB-A393-25B47A1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38">
            <a:extLst xmlns:a="http://schemas.openxmlformats.org/drawingml/2006/main">
              <a:ext uri="{FF2B5EF4-FFF2-40B4-BE49-F238E27FC236}">
                <a16:creationId xmlns:a16="http://schemas.microsoft.com/office/drawing/2014/main" id="{52912154-3DFF-4B72-A54E-5E08FF3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Technical debt can live in processes too. Saving time on rollout or testing can create larger debugging and outage costs later.</a:t>
            </a:r>
            <a:endParaRPr sz="1100"/>
          </a:p>
        </p:txBody>
      </p:sp>
      <p:sp>
        <p:nvSpPr>
          <p:cNvPr id="320" name="Google Shape;320;p38">
            <a:extLst xmlns:a="http://schemas.openxmlformats.org/drawingml/2006/main">
              <a:ext uri="{FF2B5EF4-FFF2-40B4-BE49-F238E27FC236}">
                <a16:creationId xmlns:a16="http://schemas.microsoft.com/office/drawing/2014/main" id="{EBF6AAC2-04D1-43F9-BAB3-5DE49C58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38">
            <a:extLst xmlns:a="http://schemas.openxmlformats.org/drawingml/2006/main">
              <a:ext uri="{FF2B5EF4-FFF2-40B4-BE49-F238E27FC236}">
                <a16:creationId xmlns:a16="http://schemas.microsoft.com/office/drawing/2014/main" id="{F874321D-E16A-4978-866A-A032A17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Refactoring should preserve behavior. Teams also need regression tests for safety limits that ordinary feature tests may miss.</a:t>
            </a:r>
            <a:endParaRPr sz="1100"/>
          </a:p>
        </p:txBody>
      </p:sp>
      <p:sp>
        <p:nvSpPr>
          <p:cNvPr id="322" name="Google Shape;322;p38">
            <a:extLst xmlns:a="http://schemas.openxmlformats.org/drawingml/2006/main">
              <a:ext uri="{FF2B5EF4-FFF2-40B4-BE49-F238E27FC236}">
                <a16:creationId xmlns:a16="http://schemas.microsoft.com/office/drawing/2014/main" id="{53C86581-2A26-41AD-A2D3-B6DFFA4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3" name="Google Shape;323;p38">
            <a:extLst xmlns:a="http://schemas.openxmlformats.org/drawingml/2006/main">
              <a:ext uri="{FF2B5EF4-FFF2-40B4-BE49-F238E27FC236}">
                <a16:creationId xmlns:a16="http://schemas.microsoft.com/office/drawing/2014/main" id="{69A57987-D0D4-4C8D-AB20-E5ACCF9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Practical takeaway: test correctness and resource use, expand releases gradually, and rehearse recovery when normal tools are unavailable.</a:t>
            </a:r>
            <a:endParaRPr sz="1100"/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9512398-BFE1-4B4B-845E-1AF1D76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Case analysis, informed by Cloudflare’s postmortem and Martin Fowler on refactoring</a:t>
            </a:r>
          </a:p>
        </p:txBody>
      </p:sp>
    </p:spTree>
    <p:extLst>
      <p:ext uri="{BB962C8B-B14F-4D97-AF65-F5344CB8AC3E}">
        <p14:creationId xmlns:p14="http://schemas.microsoft.com/office/powerpoint/2010/main" val="118915048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2026-10-27T17:15:04.1910000Z</dcterms:created>
  <dcterms:modified xsi:type="dcterms:W3CDTF">2026-10-27T17:15:04.1910000Z</dcterms:modified>
</coreProperties>
</file>