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15d98e52394cdb" /><Relationship Type="http://schemas.openxmlformats.org/officeDocument/2006/relationships/extended-properties" Target="/docProps/app.xml" Id="R97c3c566b96648fa" /><Relationship Type="http://schemas.openxmlformats.org/officeDocument/2006/relationships/officeDocument" Target="/ppt/presentation.xml" Id="R19b99c64aa364c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3c94977f574454"/>
    <p:sldMasterId xmlns:r="http://schemas.openxmlformats.org/officeDocument/2006/relationships" id="2147483660" r:id="Re3a30736aea54db6"/>
  </p:sldMasterIdLst>
  <p:notesMasterIdLst>
    <p:notesMasterId xmlns:r="http://schemas.openxmlformats.org/officeDocument/2006/relationships" r:id="R16a1ae94063d4b18"/>
  </p:notesMasterIdLst>
  <p:sldIdLst>
    <p:sldId xmlns:r="http://schemas.openxmlformats.org/officeDocument/2006/relationships" id="256" r:id="R47e6ae3498a14bd2"/>
    <p:sldId xmlns:r="http://schemas.openxmlformats.org/officeDocument/2006/relationships" id="257" r:id="Rf75d0dd516934d33"/>
    <p:sldId xmlns:r="http://schemas.openxmlformats.org/officeDocument/2006/relationships" id="258" r:id="R63f75d26a62344f8"/>
    <p:sldId xmlns:r="http://schemas.openxmlformats.org/officeDocument/2006/relationships" id="259" r:id="Rb09b70a623834733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2f57827c2f4297" /><Relationship Type="http://schemas.openxmlformats.org/officeDocument/2006/relationships/slideMaster" Target="/ppt/slideMasters/slideMaster1.xml" Id="Rb93c94977f574454" /><Relationship Type="http://schemas.openxmlformats.org/officeDocument/2006/relationships/slideMaster" Target="/ppt/slideMasters/slideMaster2.xml" Id="Re3a30736aea54db6" /><Relationship Type="http://schemas.openxmlformats.org/officeDocument/2006/relationships/notesMaster" Target="/ppt/notesMasters/notesMaster1.xml" Id="R16a1ae94063d4b18" /><Relationship Type="http://schemas.openxmlformats.org/officeDocument/2006/relationships/presProps" Target="/ppt/presProps.xml" Id="R0d8748a3978940b3" /><Relationship Type="http://schemas.openxmlformats.org/officeDocument/2006/relationships/viewProps" Target="/ppt/viewProps.xml" Id="Rc616660fd84a4d28" /><Relationship Type="http://schemas.openxmlformats.org/officeDocument/2006/relationships/tableStyles" Target="/ppt/tableStyles.xml" Id="R0fccbafb724e4c5b" /><Relationship Type="http://schemas.openxmlformats.org/officeDocument/2006/relationships/slide" Target="/ppt/slides/slide1.xml" Id="R47e6ae3498a14bd2" /><Relationship Type="http://schemas.openxmlformats.org/officeDocument/2006/relationships/slide" Target="/ppt/slides/slide2.xml" Id="Rf75d0dd516934d33" /><Relationship Type="http://schemas.openxmlformats.org/officeDocument/2006/relationships/slide" Target="/ppt/slides/slide3.xml" Id="R63f75d26a62344f8" /><Relationship Type="http://schemas.openxmlformats.org/officeDocument/2006/relationships/slide" Target="/ppt/slides/slide4.xml" Id="Rb09b70a6238347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362b75f175f4c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7427d164194c8a" /><Relationship Type="http://schemas.openxmlformats.org/officeDocument/2006/relationships/notesMaster" Target="/ppt/notesMasters/notesMaster1.xml" Id="R307b91e19b4c40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0215fe93dd43eb" /><Relationship Type="http://schemas.openxmlformats.org/officeDocument/2006/relationships/notesMaster" Target="/ppt/notesMasters/notesMaster1.xml" Id="R93d391b6569243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1c497b9cf440d7" /><Relationship Type="http://schemas.openxmlformats.org/officeDocument/2006/relationships/notesMaster" Target="/ppt/notesMasters/notesMaster1.xml" Id="R0f1e2acac4444c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61ee1ab4e84f83" /><Relationship Type="http://schemas.openxmlformats.org/officeDocument/2006/relationships/notesMaster" Target="/ppt/notesMasters/notesMaster1.xml" Id="Rab430aaf291c4a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82% figure is Cloudflare’s worst reported traffic drop, not the percentage of the Internet affected. Customer-facing implications include failed page loads and interrupted online transactions. The cited reports do not quantify total financial losses.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regex shown is a simplified fragment, not the full production rule.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Analysis: performance limits are part of a system’s operational contract. Refactoring requires regression checks for resource consumption as well as matching correctness.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times are UTC on July 2, 2019. Distinguish restored traffic from restored WAF protection.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 for completed and announced actions: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final two bullets are case analysis. Corrective maintenance restores service. Preventive maintenance reduces recurrence risk. The postmortem lists planned engineering work, not measured long-term reliability gains.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Discussion: What performance invariant should a refactoring test preserve?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db58b06c742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0dd8e63594d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4a0a5f3ab47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8fcbbda274a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feeae66db41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935a0acf341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cdc9d8099424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4875386244cd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3b1ad7a7047c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9927f557747c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c716a8a8d4a4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8fa66ff96842d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5ffc9ee2e2242f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a834fa51d644e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8bbce1e4ec45b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585095c5f6462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876a893058469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d6269fd33e4d7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8257e44829481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0008c3ca56429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886be0fce34e5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b6be657d1846bc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AC74E00F-2EB3-4EBD-8439-120DDDA5E1C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42CEB929-3786-4CFA-B914-346A667E31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12F9D789-490E-4ECE-A8C7-AB4FD9EEFC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2E024780-ABF7-424D-A982-7998AACA6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18FAB2F4-1B4D-4CCD-89D9-E18304CD81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C71EF722-6405-4EE5-B332-2EC67F504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1D115AF5-1F81-4A71-9394-4385BB7666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4875B203-886C-4D37-B384-C9F8274F59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97F1C551-698D-4E84-9885-CBAA86AB3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3A071A76-17C1-411F-8F92-078C24B879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A8AB0B08-3EBD-4974-ADFD-DFF8D34991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EA548C36-2A47-4EF3-985B-CF51DABBBE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16C05CA1-669E-4DAA-8DE0-17BB5EDEE9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6F5E8B9B-317F-47B7-B88D-2EC4331C0A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C978679C-09E3-41D7-911A-CB3B3D9136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0A423D2D-3E0B-4BD0-A8E0-1759718D29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8086F4C0-6AFE-48E6-B012-207E14BF50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09B6EA38-F2E1-460A-B33C-3DF4D3D085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1E1CC663-A704-445C-8DAC-827343D47E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4CFBE50A-ACA7-4B58-B433-87F9DA8F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3B9B2271-42D7-4A54-890A-A435E71D46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E2A9F9E0-FFE5-4C84-BBAB-B64F49B34E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05919140-73E3-474F-8BEE-8D2A337D2D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EE8118AC-C2A8-4308-9DD4-13BA6C5A06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A5FAE23C-B3A6-4D01-9B0E-7684A550FD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10D43F1-6B0B-44FD-8C8C-050089F29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BB70E632-AF70-4A2D-8710-30809DDC7A7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EAB1C104-F76F-44BB-8949-082260601C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D23F1AC0-FB28-4593-B24B-73A73C0877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51C8AEED-B4EF-49BD-93B1-2D3725FB3D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9A52D63F-B9F3-4ADE-AA46-FDD82982C2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575ED1C8-48A3-4216-8599-B134B8F023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FC6814E7-04DB-457A-9F38-A6E5E2A629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5">
            <a:extLst xmlns:a="http://schemas.openxmlformats.org/drawingml/2006/main">
              <a:ext uri="{FF2B5EF4-FFF2-40B4-BE49-F238E27FC236}">
                <a16:creationId xmlns:a16="http://schemas.microsoft.com/office/drawing/2014/main" id="{29A5A4C1-03E6-41A1-BEB8-F38AB9186A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14364" y="1597819"/>
            <a:ext cx="5829455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C717BF89-5A87-4877-8167-C4B2331AAD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8727" y="2914650"/>
            <a:ext cx="480072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B581A4E3-5EDB-45E1-9C16-485B0D5FC8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B51B7D89-3FAA-4E02-B51D-4AFB5A46D4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C3CCEA8C-CE5F-4B5B-8F91-83D9C81E7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6">
            <a:extLst xmlns:a="http://schemas.openxmlformats.org/drawingml/2006/main">
              <a:ext uri="{FF2B5EF4-FFF2-40B4-BE49-F238E27FC236}">
                <a16:creationId xmlns:a16="http://schemas.microsoft.com/office/drawing/2014/main" id="{45547DEF-91D3-4425-8190-C8A6D73B9B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335E3798-2827-43DF-914E-DECD939858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6172365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A8732503-B0FB-4125-897B-8AF38C68E2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81821F04-5160-48BB-9028-6218645F5A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6">
            <a:extLst xmlns:a="http://schemas.openxmlformats.org/drawingml/2006/main">
              <a:ext uri="{FF2B5EF4-FFF2-40B4-BE49-F238E27FC236}">
                <a16:creationId xmlns:a16="http://schemas.microsoft.com/office/drawing/2014/main" id="{F52237C2-72CC-443F-A914-72395F2023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7">
            <a:extLst xmlns:a="http://schemas.openxmlformats.org/drawingml/2006/main">
              <a:ext uri="{FF2B5EF4-FFF2-40B4-BE49-F238E27FC236}">
                <a16:creationId xmlns:a16="http://schemas.microsoft.com/office/drawing/2014/main" id="{6DFD12D2-9868-4725-A6E8-FAE16C774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1749" y="3305175"/>
            <a:ext cx="5829455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17">
            <a:extLst xmlns:a="http://schemas.openxmlformats.org/drawingml/2006/main">
              <a:ext uri="{FF2B5EF4-FFF2-40B4-BE49-F238E27FC236}">
                <a16:creationId xmlns:a16="http://schemas.microsoft.com/office/drawing/2014/main" id="{F319B014-8CED-4243-AEE5-C77A7B7D1E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1749" y="2180035"/>
            <a:ext cx="5829455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5" name="Google Shape;75;p17">
            <a:extLst xmlns:a="http://schemas.openxmlformats.org/drawingml/2006/main">
              <a:ext uri="{FF2B5EF4-FFF2-40B4-BE49-F238E27FC236}">
                <a16:creationId xmlns:a16="http://schemas.microsoft.com/office/drawing/2014/main" id="{D9826A5C-FDB6-430C-80BA-76FFC7E6CA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7">
            <a:extLst xmlns:a="http://schemas.openxmlformats.org/drawingml/2006/main">
              <a:ext uri="{FF2B5EF4-FFF2-40B4-BE49-F238E27FC236}">
                <a16:creationId xmlns:a16="http://schemas.microsoft.com/office/drawing/2014/main" id="{456C92FC-7D33-4793-B28E-E2AA64D4BC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17">
            <a:extLst xmlns:a="http://schemas.openxmlformats.org/drawingml/2006/main">
              <a:ext uri="{FF2B5EF4-FFF2-40B4-BE49-F238E27FC236}">
                <a16:creationId xmlns:a16="http://schemas.microsoft.com/office/drawing/2014/main" id="{48A0CD85-4868-4BF7-A8B7-5FD4B58D4E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8">
            <a:extLst xmlns:a="http://schemas.openxmlformats.org/drawingml/2006/main">
              <a:ext uri="{FF2B5EF4-FFF2-40B4-BE49-F238E27FC236}">
                <a16:creationId xmlns:a16="http://schemas.microsoft.com/office/drawing/2014/main" id="{FAB186A7-17C4-4005-A760-955232A6A1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18">
            <a:extLst xmlns:a="http://schemas.openxmlformats.org/drawingml/2006/main">
              <a:ext uri="{FF2B5EF4-FFF2-40B4-BE49-F238E27FC236}">
                <a16:creationId xmlns:a16="http://schemas.microsoft.com/office/drawing/2014/main" id="{03B60E3C-8302-4564-9CCA-65B28EC9C5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3029031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 xmlns:a="http://schemas.openxmlformats.org/drawingml/2006/main"/>
        </p:txBody>
      </p:sp>
      <p:sp>
        <p:nvSpPr>
          <p:cNvPr id="81" name="Google Shape;81;p18">
            <a:extLst xmlns:a="http://schemas.openxmlformats.org/drawingml/2006/main">
              <a:ext uri="{FF2B5EF4-FFF2-40B4-BE49-F238E27FC236}">
                <a16:creationId xmlns:a16="http://schemas.microsoft.com/office/drawing/2014/main" id="{3BAADA34-E148-4F41-8A4E-BBDF835A98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86243" y="1200150"/>
            <a:ext cx="3029031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 xmlns:a="http://schemas.openxmlformats.org/drawingml/2006/main"/>
        </p:txBody>
      </p:sp>
      <p:sp>
        <p:nvSpPr>
          <p:cNvPr id="82" name="Google Shape;82;p18">
            <a:extLst xmlns:a="http://schemas.openxmlformats.org/drawingml/2006/main">
              <a:ext uri="{FF2B5EF4-FFF2-40B4-BE49-F238E27FC236}">
                <a16:creationId xmlns:a16="http://schemas.microsoft.com/office/drawing/2014/main" id="{8CCD4265-8AC1-4E1E-BAF4-0C1F6F7117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18">
            <a:extLst xmlns:a="http://schemas.openxmlformats.org/drawingml/2006/main">
              <a:ext uri="{FF2B5EF4-FFF2-40B4-BE49-F238E27FC236}">
                <a16:creationId xmlns:a16="http://schemas.microsoft.com/office/drawing/2014/main" id="{BCD577D4-C3EB-4A15-946C-564E850025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4" name="Google Shape;84;p18">
            <a:extLst xmlns:a="http://schemas.openxmlformats.org/drawingml/2006/main">
              <a:ext uri="{FF2B5EF4-FFF2-40B4-BE49-F238E27FC236}">
                <a16:creationId xmlns:a16="http://schemas.microsoft.com/office/drawing/2014/main" id="{E9BF1A1B-087F-43C6-8448-1F9CE5ECAB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9">
            <a:extLst xmlns:a="http://schemas.openxmlformats.org/drawingml/2006/main">
              <a:ext uri="{FF2B5EF4-FFF2-40B4-BE49-F238E27FC236}">
                <a16:creationId xmlns:a16="http://schemas.microsoft.com/office/drawing/2014/main" id="{5C376EFA-4354-4714-8165-6D31543050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7" name="Google Shape;87;p19">
            <a:extLst xmlns:a="http://schemas.openxmlformats.org/drawingml/2006/main">
              <a:ext uri="{FF2B5EF4-FFF2-40B4-BE49-F238E27FC236}">
                <a16:creationId xmlns:a16="http://schemas.microsoft.com/office/drawing/2014/main" id="{B38B3470-C347-43ED-AD08-2BAF872652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151335"/>
            <a:ext cx="3030222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88" name="Google Shape;88;p19">
            <a:extLst xmlns:a="http://schemas.openxmlformats.org/drawingml/2006/main">
              <a:ext uri="{FF2B5EF4-FFF2-40B4-BE49-F238E27FC236}">
                <a16:creationId xmlns:a16="http://schemas.microsoft.com/office/drawing/2014/main" id="{DFF0FE4B-4D47-4608-AFF8-162C88918F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2909" y="1631156"/>
            <a:ext cx="3030222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89" name="Google Shape;89;p19">
            <a:extLst xmlns:a="http://schemas.openxmlformats.org/drawingml/2006/main">
              <a:ext uri="{FF2B5EF4-FFF2-40B4-BE49-F238E27FC236}">
                <a16:creationId xmlns:a16="http://schemas.microsoft.com/office/drawing/2014/main" id="{13765B83-5CC1-4D9B-83C1-11E24C5615B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483862" y="1151335"/>
            <a:ext cx="3031412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90" name="Google Shape;90;p19">
            <a:extLst xmlns:a="http://schemas.openxmlformats.org/drawingml/2006/main">
              <a:ext uri="{FF2B5EF4-FFF2-40B4-BE49-F238E27FC236}">
                <a16:creationId xmlns:a16="http://schemas.microsoft.com/office/drawing/2014/main" id="{89FAE5D0-24C4-459F-B66F-CFE4730A181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483862" y="1631156"/>
            <a:ext cx="3031412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91" name="Google Shape;91;p19">
            <a:extLst xmlns:a="http://schemas.openxmlformats.org/drawingml/2006/main">
              <a:ext uri="{FF2B5EF4-FFF2-40B4-BE49-F238E27FC236}">
                <a16:creationId xmlns:a16="http://schemas.microsoft.com/office/drawing/2014/main" id="{F8FFEE53-0B5B-453F-84FB-E6AA8248FB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2" name="Google Shape;92;p19">
            <a:extLst xmlns:a="http://schemas.openxmlformats.org/drawingml/2006/main">
              <a:ext uri="{FF2B5EF4-FFF2-40B4-BE49-F238E27FC236}">
                <a16:creationId xmlns:a16="http://schemas.microsoft.com/office/drawing/2014/main" id="{8853EF70-BC55-4B4B-AB79-C9EA27A2F6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3" name="Google Shape;93;p19">
            <a:extLst xmlns:a="http://schemas.openxmlformats.org/drawingml/2006/main">
              <a:ext uri="{FF2B5EF4-FFF2-40B4-BE49-F238E27FC236}">
                <a16:creationId xmlns:a16="http://schemas.microsoft.com/office/drawing/2014/main" id="{4B016D3A-14E9-4AFD-957E-556022256A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20">
            <a:extLst xmlns:a="http://schemas.openxmlformats.org/drawingml/2006/main">
              <a:ext uri="{FF2B5EF4-FFF2-40B4-BE49-F238E27FC236}">
                <a16:creationId xmlns:a16="http://schemas.microsoft.com/office/drawing/2014/main" id="{2C9EEABF-4E8A-4F01-A340-E9BE6EC27C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6" name="Google Shape;96;p20">
            <a:extLst xmlns:a="http://schemas.openxmlformats.org/drawingml/2006/main">
              <a:ext uri="{FF2B5EF4-FFF2-40B4-BE49-F238E27FC236}">
                <a16:creationId xmlns:a16="http://schemas.microsoft.com/office/drawing/2014/main" id="{6C5283F7-4F88-4F8C-971E-F947B5EEBF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7" name="Google Shape;97;p20">
            <a:extLst xmlns:a="http://schemas.openxmlformats.org/drawingml/2006/main">
              <a:ext uri="{FF2B5EF4-FFF2-40B4-BE49-F238E27FC236}">
                <a16:creationId xmlns:a16="http://schemas.microsoft.com/office/drawing/2014/main" id="{8EF26406-2E1D-4D87-A174-0B59C7A587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8" name="Google Shape;98;p20">
            <a:extLst xmlns:a="http://schemas.openxmlformats.org/drawingml/2006/main">
              <a:ext uri="{FF2B5EF4-FFF2-40B4-BE49-F238E27FC236}">
                <a16:creationId xmlns:a16="http://schemas.microsoft.com/office/drawing/2014/main" id="{CD65F880-A666-41EA-94A2-54082181CB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21">
            <a:extLst xmlns:a="http://schemas.openxmlformats.org/drawingml/2006/main">
              <a:ext uri="{FF2B5EF4-FFF2-40B4-BE49-F238E27FC236}">
                <a16:creationId xmlns:a16="http://schemas.microsoft.com/office/drawing/2014/main" id="{C9E5AF07-59BA-4DE8-A619-D9EF638C2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4788"/>
            <a:ext cx="2256295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1" name="Google Shape;101;p21">
            <a:extLst xmlns:a="http://schemas.openxmlformats.org/drawingml/2006/main">
              <a:ext uri="{FF2B5EF4-FFF2-40B4-BE49-F238E27FC236}">
                <a16:creationId xmlns:a16="http://schemas.microsoft.com/office/drawing/2014/main" id="{8D7CED22-FBAA-4A30-A35B-033345046D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81359" y="204788"/>
            <a:ext cx="3833915" cy="4389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102" name="Google Shape;102;p21">
            <a:extLst xmlns:a="http://schemas.openxmlformats.org/drawingml/2006/main">
              <a:ext uri="{FF2B5EF4-FFF2-40B4-BE49-F238E27FC236}">
                <a16:creationId xmlns:a16="http://schemas.microsoft.com/office/drawing/2014/main" id="{E9D98C55-5A69-42C0-8D9F-7C9ED69393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2909" y="1076325"/>
            <a:ext cx="2256295" cy="3518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 xmlns:a="http://schemas.openxmlformats.org/drawingml/2006/main"/>
        </p:txBody>
      </p:sp>
      <p:sp>
        <p:nvSpPr>
          <p:cNvPr id="103" name="Google Shape;103;p21">
            <a:extLst xmlns:a="http://schemas.openxmlformats.org/drawingml/2006/main">
              <a:ext uri="{FF2B5EF4-FFF2-40B4-BE49-F238E27FC236}">
                <a16:creationId xmlns:a16="http://schemas.microsoft.com/office/drawing/2014/main" id="{186269F4-2F70-4FA8-A27A-67F3FCF0FA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" name="Google Shape;104;p21">
            <a:extLst xmlns:a="http://schemas.openxmlformats.org/drawingml/2006/main">
              <a:ext uri="{FF2B5EF4-FFF2-40B4-BE49-F238E27FC236}">
                <a16:creationId xmlns:a16="http://schemas.microsoft.com/office/drawing/2014/main" id="{4AF10401-CEC0-40D7-8485-400632A98F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5" name="Google Shape;105;p21">
            <a:extLst xmlns:a="http://schemas.openxmlformats.org/drawingml/2006/main">
              <a:ext uri="{FF2B5EF4-FFF2-40B4-BE49-F238E27FC236}">
                <a16:creationId xmlns:a16="http://schemas.microsoft.com/office/drawing/2014/main" id="{A1AAA010-619A-4404-82B9-FF8B381FF6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22">
            <a:extLst xmlns:a="http://schemas.openxmlformats.org/drawingml/2006/main">
              <a:ext uri="{FF2B5EF4-FFF2-40B4-BE49-F238E27FC236}">
                <a16:creationId xmlns:a16="http://schemas.microsoft.com/office/drawing/2014/main" id="{1027ABBC-7BCE-4F0C-86A5-3601EAFD20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4252" y="3600450"/>
            <a:ext cx="4114910" cy="425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22">
            <a:extLst xmlns:a="http://schemas.openxmlformats.org/drawingml/2006/main">
              <a:ext uri="{FF2B5EF4-FFF2-40B4-BE49-F238E27FC236}">
                <a16:creationId xmlns:a16="http://schemas.microsoft.com/office/drawing/2014/main" id="{FC1ABCC0-D0AD-443A-903E-4B180AB24F2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344252" y="459581"/>
            <a:ext cx="411491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9" name="Google Shape;109;p22">
            <a:extLst xmlns:a="http://schemas.openxmlformats.org/drawingml/2006/main">
              <a:ext uri="{FF2B5EF4-FFF2-40B4-BE49-F238E27FC236}">
                <a16:creationId xmlns:a16="http://schemas.microsoft.com/office/drawing/2014/main" id="{2E23C9D0-D3C4-4F55-A0B6-06EAA95489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344252" y="4025503"/>
            <a:ext cx="411491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 xmlns:a="http://schemas.openxmlformats.org/drawingml/2006/main"/>
        </p:txBody>
      </p:sp>
      <p:sp>
        <p:nvSpPr>
          <p:cNvPr id="110" name="Google Shape;110;p22">
            <a:extLst xmlns:a="http://schemas.openxmlformats.org/drawingml/2006/main">
              <a:ext uri="{FF2B5EF4-FFF2-40B4-BE49-F238E27FC236}">
                <a16:creationId xmlns:a16="http://schemas.microsoft.com/office/drawing/2014/main" id="{ABA3C78F-2798-4F35-A3C0-9E4F8E5D69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1" name="Google Shape;111;p22">
            <a:extLst xmlns:a="http://schemas.openxmlformats.org/drawingml/2006/main">
              <a:ext uri="{FF2B5EF4-FFF2-40B4-BE49-F238E27FC236}">
                <a16:creationId xmlns:a16="http://schemas.microsoft.com/office/drawing/2014/main" id="{62987B1F-460B-4028-9D9D-169D125824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2" name="Google Shape;112;p22">
            <a:extLst xmlns:a="http://schemas.openxmlformats.org/drawingml/2006/main">
              <a:ext uri="{FF2B5EF4-FFF2-40B4-BE49-F238E27FC236}">
                <a16:creationId xmlns:a16="http://schemas.microsoft.com/office/drawing/2014/main" id="{509DFCFD-B019-428A-A0E4-ED6791AA05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23">
            <a:extLst xmlns:a="http://schemas.openxmlformats.org/drawingml/2006/main">
              <a:ext uri="{FF2B5EF4-FFF2-40B4-BE49-F238E27FC236}">
                <a16:creationId xmlns:a16="http://schemas.microsoft.com/office/drawing/2014/main" id="{CACE756B-63EE-412C-84A7-D96C0501B5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5" name="Google Shape;115;p23">
            <a:extLst xmlns:a="http://schemas.openxmlformats.org/drawingml/2006/main">
              <a:ext uri="{FF2B5EF4-FFF2-40B4-BE49-F238E27FC236}">
                <a16:creationId xmlns:a16="http://schemas.microsoft.com/office/drawing/2014/main" id="{FF3F4CA8-10E8-4518-8A47-6BBF268969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31855" y="-188796"/>
            <a:ext cx="3394472" cy="6172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6" name="Google Shape;116;p23">
            <a:extLst xmlns:a="http://schemas.openxmlformats.org/drawingml/2006/main">
              <a:ext uri="{FF2B5EF4-FFF2-40B4-BE49-F238E27FC236}">
                <a16:creationId xmlns:a16="http://schemas.microsoft.com/office/drawing/2014/main" id="{8B23F6AA-5821-49DA-97D3-E58A77D9B4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7" name="Google Shape;117;p23">
            <a:extLst xmlns:a="http://schemas.openxmlformats.org/drawingml/2006/main">
              <a:ext uri="{FF2B5EF4-FFF2-40B4-BE49-F238E27FC236}">
                <a16:creationId xmlns:a16="http://schemas.microsoft.com/office/drawing/2014/main" id="{DE223A1F-5C5D-499B-B673-FF4BC74D69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8" name="Google Shape;118;p23">
            <a:extLst xmlns:a="http://schemas.openxmlformats.org/drawingml/2006/main">
              <a:ext uri="{FF2B5EF4-FFF2-40B4-BE49-F238E27FC236}">
                <a16:creationId xmlns:a16="http://schemas.microsoft.com/office/drawing/2014/main" id="{9D633C58-0C7D-4E18-8829-14CBB334FF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Google Shape;120;p24">
            <a:extLst xmlns:a="http://schemas.openxmlformats.org/drawingml/2006/main">
              <a:ext uri="{FF2B5EF4-FFF2-40B4-BE49-F238E27FC236}">
                <a16:creationId xmlns:a16="http://schemas.microsoft.com/office/drawing/2014/main" id="{17780317-DB1B-4794-84E2-FA7C6B9DFD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3549406" y="1628755"/>
            <a:ext cx="4388644" cy="1543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1" name="Google Shape;121;p24">
            <a:extLst xmlns:a="http://schemas.openxmlformats.org/drawingml/2006/main">
              <a:ext uri="{FF2B5EF4-FFF2-40B4-BE49-F238E27FC236}">
                <a16:creationId xmlns:a16="http://schemas.microsoft.com/office/drawing/2014/main" id="{2F7A5D64-9EF8-4F54-B60E-116EE92CCB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406072" y="142815"/>
            <a:ext cx="4388644" cy="4514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22" name="Google Shape;122;p24">
            <a:extLst xmlns:a="http://schemas.openxmlformats.org/drawingml/2006/main">
              <a:ext uri="{FF2B5EF4-FFF2-40B4-BE49-F238E27FC236}">
                <a16:creationId xmlns:a16="http://schemas.microsoft.com/office/drawing/2014/main" id="{C236A5BC-D310-40AF-B08C-19EAB4C1F0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3" name="Google Shape;123;p24">
            <a:extLst xmlns:a="http://schemas.openxmlformats.org/drawingml/2006/main">
              <a:ext uri="{FF2B5EF4-FFF2-40B4-BE49-F238E27FC236}">
                <a16:creationId xmlns:a16="http://schemas.microsoft.com/office/drawing/2014/main" id="{919BFE91-CA9D-453F-AA75-0640E3F92D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4" name="Google Shape;124;p24">
            <a:extLst xmlns:a="http://schemas.openxmlformats.org/drawingml/2006/main">
              <a:ext uri="{FF2B5EF4-FFF2-40B4-BE49-F238E27FC236}">
                <a16:creationId xmlns:a16="http://schemas.microsoft.com/office/drawing/2014/main" id="{5F9B6710-D6AB-4651-BE7C-C005C8E94D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d461cd91cc47f6" /><Relationship Type="http://schemas.openxmlformats.org/officeDocument/2006/relationships/slideLayout" Target="/ppt/slideLayouts/slideLayout1.xml" Id="R4952c0904ed44cea" /><Relationship Type="http://schemas.openxmlformats.org/officeDocument/2006/relationships/slideLayout" Target="/ppt/slideLayouts/slideLayout2.xml" Id="Rb8d7ff44629748c7" /><Relationship Type="http://schemas.openxmlformats.org/officeDocument/2006/relationships/slideLayout" Target="/ppt/slideLayouts/slideLayout3.xml" Id="Rb89a34eff08f4201" /><Relationship Type="http://schemas.openxmlformats.org/officeDocument/2006/relationships/slideLayout" Target="/ppt/slideLayouts/slideLayout4.xml" Id="Rb80baa0ff7d34e5d" /><Relationship Type="http://schemas.openxmlformats.org/officeDocument/2006/relationships/slideLayout" Target="/ppt/slideLayouts/slideLayout5.xml" Id="R241c44c082504542" /><Relationship Type="http://schemas.openxmlformats.org/officeDocument/2006/relationships/slideLayout" Target="/ppt/slideLayouts/slideLayout6.xml" Id="R73e70b4890de4c7d" /><Relationship Type="http://schemas.openxmlformats.org/officeDocument/2006/relationships/slideLayout" Target="/ppt/slideLayouts/slideLayout7.xml" Id="R18631e2bca1349e5" /><Relationship Type="http://schemas.openxmlformats.org/officeDocument/2006/relationships/slideLayout" Target="/ppt/slideLayouts/slideLayout8.xml" Id="Rd10ad0141fd64f13" /><Relationship Type="http://schemas.openxmlformats.org/officeDocument/2006/relationships/slideLayout" Target="/ppt/slideLayouts/slideLayout9.xml" Id="R59e4b8347be348f4" /><Relationship Type="http://schemas.openxmlformats.org/officeDocument/2006/relationships/slideLayout" Target="/ppt/slideLayouts/slideLayout10.xml" Id="R4e1c4e3bd83d480e" /><Relationship Type="http://schemas.openxmlformats.org/officeDocument/2006/relationships/slideLayout" Target="/ppt/slideLayouts/slideLayout11.xml" Id="R4f1e68f5e4a241e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d9ff04ee8bf47c6" /><Relationship Type="http://schemas.openxmlformats.org/officeDocument/2006/relationships/slideLayout" Target="/ppt/slideLayouts/slideLayout12.xml" Id="R0f27c0b82558491a" /><Relationship Type="http://schemas.openxmlformats.org/officeDocument/2006/relationships/slideLayout" Target="/ppt/slideLayouts/slideLayout13.xml" Id="R1f1954a710304c9c" /><Relationship Type="http://schemas.openxmlformats.org/officeDocument/2006/relationships/slideLayout" Target="/ppt/slideLayouts/slideLayout14.xml" Id="R179cf3d5a6ef41b6" /><Relationship Type="http://schemas.openxmlformats.org/officeDocument/2006/relationships/slideLayout" Target="/ppt/slideLayouts/slideLayout15.xml" Id="R8766130250214ee1" /><Relationship Type="http://schemas.openxmlformats.org/officeDocument/2006/relationships/slideLayout" Target="/ppt/slideLayouts/slideLayout16.xml" Id="R76dbe802746541c8" /><Relationship Type="http://schemas.openxmlformats.org/officeDocument/2006/relationships/slideLayout" Target="/ppt/slideLayouts/slideLayout17.xml" Id="R1e53577e449943a7" /><Relationship Type="http://schemas.openxmlformats.org/officeDocument/2006/relationships/slideLayout" Target="/ppt/slideLayouts/slideLayout18.xml" Id="R2b901cd8d7884fc5" /><Relationship Type="http://schemas.openxmlformats.org/officeDocument/2006/relationships/slideLayout" Target="/ppt/slideLayouts/slideLayout19.xml" Id="R201b62f33c8b4fe8" /><Relationship Type="http://schemas.openxmlformats.org/officeDocument/2006/relationships/slideLayout" Target="/ppt/slideLayouts/slideLayout20.xml" Id="R8313a5174f9d47fd" /><Relationship Type="http://schemas.openxmlformats.org/officeDocument/2006/relationships/slideLayout" Target="/ppt/slideLayouts/slideLayout21.xml" Id="Rd02d8fb1d1ec4eca" /><Relationship Type="http://schemas.openxmlformats.org/officeDocument/2006/relationships/slideLayout" Target="/ppt/slideLayouts/slideLayout22.xml" Id="Rcf356270feee4ae5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E27F0A8E-E2EF-45E8-8D07-7D3FE7D1B6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E73A377-42FC-4E36-BADC-D897EC05AB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B000028F-0BC4-424B-9AF1-D2A3C62FC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52c0904ed44cea"/>
    <p:sldLayoutId xmlns:r="http://schemas.openxmlformats.org/officeDocument/2006/relationships" id="2147483650" r:id="Rb8d7ff44629748c7"/>
    <p:sldLayoutId xmlns:r="http://schemas.openxmlformats.org/officeDocument/2006/relationships" id="2147483651" r:id="Rb89a34eff08f4201"/>
    <p:sldLayoutId xmlns:r="http://schemas.openxmlformats.org/officeDocument/2006/relationships" id="2147483652" r:id="Rb80baa0ff7d34e5d"/>
    <p:sldLayoutId xmlns:r="http://schemas.openxmlformats.org/officeDocument/2006/relationships" id="2147483653" r:id="R241c44c082504542"/>
    <p:sldLayoutId xmlns:r="http://schemas.openxmlformats.org/officeDocument/2006/relationships" id="2147483654" r:id="R73e70b4890de4c7d"/>
    <p:sldLayoutId xmlns:r="http://schemas.openxmlformats.org/officeDocument/2006/relationships" id="2147483655" r:id="R18631e2bca1349e5"/>
    <p:sldLayoutId xmlns:r="http://schemas.openxmlformats.org/officeDocument/2006/relationships" id="2147483656" r:id="Rd10ad0141fd64f13"/>
    <p:sldLayoutId xmlns:r="http://schemas.openxmlformats.org/officeDocument/2006/relationships" id="2147483657" r:id="R59e4b8347be348f4"/>
    <p:sldLayoutId xmlns:r="http://schemas.openxmlformats.org/officeDocument/2006/relationships" id="2147483658" r:id="R4e1c4e3bd83d480e"/>
    <p:sldLayoutId xmlns:r="http://schemas.openxmlformats.org/officeDocument/2006/relationships" id="2147483659" r:id="R4f1e68f5e4a241e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A823EF18-82BD-4A64-BC74-14BEE8808E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8F1DFC9F-0F16-4D36-9979-7404B3EF16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6172365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817FAE22-1A33-404E-8A99-817937685E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C85F0A6C-0EC8-4487-A465-AB93998353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46177E91-0F48-42A5-BD84-194262B9FD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f27c0b82558491a"/>
    <p:sldLayoutId xmlns:r="http://schemas.openxmlformats.org/officeDocument/2006/relationships" id="2147483662" r:id="R1f1954a710304c9c"/>
    <p:sldLayoutId xmlns:r="http://schemas.openxmlformats.org/officeDocument/2006/relationships" id="2147483663" r:id="R179cf3d5a6ef41b6"/>
    <p:sldLayoutId xmlns:r="http://schemas.openxmlformats.org/officeDocument/2006/relationships" id="2147483664" r:id="R8766130250214ee1"/>
    <p:sldLayoutId xmlns:r="http://schemas.openxmlformats.org/officeDocument/2006/relationships" id="2147483665" r:id="R76dbe802746541c8"/>
    <p:sldLayoutId xmlns:r="http://schemas.openxmlformats.org/officeDocument/2006/relationships" id="2147483666" r:id="R1e53577e449943a7"/>
    <p:sldLayoutId xmlns:r="http://schemas.openxmlformats.org/officeDocument/2006/relationships" id="2147483667" r:id="R2b901cd8d7884fc5"/>
    <p:sldLayoutId xmlns:r="http://schemas.openxmlformats.org/officeDocument/2006/relationships" id="2147483668" r:id="R201b62f33c8b4fe8"/>
    <p:sldLayoutId xmlns:r="http://schemas.openxmlformats.org/officeDocument/2006/relationships" id="2147483669" r:id="R8313a5174f9d47fd"/>
    <p:sldLayoutId xmlns:r="http://schemas.openxmlformats.org/officeDocument/2006/relationships" id="2147483670" r:id="Rd02d8fb1d1ec4eca"/>
    <p:sldLayoutId xmlns:r="http://schemas.openxmlformats.org/officeDocument/2006/relationships" id="2147483671" r:id="Rcf356270feee4ae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225c4021fee4682" /><Relationship Type="http://schemas.openxmlformats.org/officeDocument/2006/relationships/notesSlide" Target="/ppt/notesSlides/notesSlide1.xml" Id="R23143200a58a49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828c01931fb45d8" /><Relationship Type="http://schemas.openxmlformats.org/officeDocument/2006/relationships/notesSlide" Target="/ppt/notesSlides/notesSlide2.xml" Id="Rf7b036a8d60344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007e8cfeb3f40cd" /><Relationship Type="http://schemas.openxmlformats.org/officeDocument/2006/relationships/notesSlide" Target="/ppt/notesSlides/notesSlide3.xml" Id="R04f202d5aea44c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fdc007d56954210" /><Relationship Type="http://schemas.openxmlformats.org/officeDocument/2006/relationships/notesSlide" Target="/ppt/notesSlides/notesSlide4.xml" Id="Rc490549585d84c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5" name="Google Shape;235;p33">
            <a:extLst xmlns:a="http://schemas.openxmlformats.org/drawingml/2006/main">
              <a:ext uri="{FF2B5EF4-FFF2-40B4-BE49-F238E27FC236}">
                <a16:creationId xmlns:a16="http://schemas.microsoft.com/office/drawing/2014/main" id="{5D1A2EBC-5861-44E0-8EE6-70C8BC8A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6" name="Google Shape;236;p33">
            <a:extLst xmlns:a="http://schemas.openxmlformats.org/drawingml/2006/main">
              <a:ext uri="{FF2B5EF4-FFF2-40B4-BE49-F238E27FC236}">
                <a16:creationId xmlns:a16="http://schemas.microsoft.com/office/drawing/2014/main" id="{EA42F31A-207E-4226-9A8A-CC681BD5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82" y="329184"/>
            <a:ext cx="8229900" cy="41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Cloudflare 2019: context &amp; impact</a:t>
            </a:r>
            <a:endParaRPr sz="1100"/>
          </a:p>
        </p:txBody>
      </p:sp>
      <p:sp>
        <p:nvSpPr>
          <p:cNvPr id="237" name="Google Shape;237;p33">
            <a:extLst xmlns:a="http://schemas.openxmlformats.org/drawingml/2006/main">
              <a:ext uri="{FF2B5EF4-FFF2-40B4-BE49-F238E27FC236}">
                <a16:creationId xmlns:a16="http://schemas.microsoft.com/office/drawing/2014/main" id="{32B11E1D-631C-455A-9759-5E93DDE7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3" y="4766310"/>
            <a:ext cx="6172500" cy="19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9DACBC"/>
                </a:solidFill>
                <a:latin typeface="Arial"/>
                <a:ea typeface="Arial"/>
                <a:cs typeface="Arial"/>
              </a:rPr>
              <a:t>CASE 1</a:t>
            </a:r>
            <a:endParaRPr sz="800">
              <a:solidFill>
                <a:srgbClr val="9DACBC"/>
              </a:solidFill>
            </a:endParaRPr>
          </a:p>
        </p:txBody>
      </p:sp>
      <p:sp>
        <p:nvSpPr>
          <p:cNvPr id="238" name="Google Shape;238;p33">
            <a:extLst xmlns:a="http://schemas.openxmlformats.org/drawingml/2006/main">
              <a:ext uri="{FF2B5EF4-FFF2-40B4-BE49-F238E27FC236}">
                <a16:creationId xmlns:a16="http://schemas.microsoft.com/office/drawing/2014/main" id="{94504CC8-DAB1-452B-AD0C-EDBCDDB5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9" name="Google Shape;239;p33">
            <a:extLst xmlns:a="http://schemas.openxmlformats.org/drawingml/2006/main">
              <a:ext uri="{FF2B5EF4-FFF2-40B4-BE49-F238E27FC236}">
                <a16:creationId xmlns:a16="http://schemas.microsoft.com/office/drawing/2014/main" id="{840BFA5B-1076-4EBA-8B89-49D9F7CE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145286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System: Cloudflare’s global reverse proxy and CDN use a web application firewall (WAF) to inspect web traffic.</a:t>
            </a:r>
            <a:endParaRPr sz="1100"/>
          </a:p>
        </p:txBody>
      </p:sp>
      <p:sp>
        <p:nvSpPr>
          <p:cNvPr id="240" name="Google Shape;240;p33">
            <a:extLst xmlns:a="http://schemas.openxmlformats.org/drawingml/2006/main">
              <a:ext uri="{FF2B5EF4-FFF2-40B4-BE49-F238E27FC236}">
                <a16:creationId xmlns:a16="http://schemas.microsoft.com/office/drawing/2014/main" id="{CA5FFF82-4267-44BF-A1DF-BF89B14A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1" name="Google Shape;241;p33">
            <a:extLst xmlns:a="http://schemas.openxmlformats.org/drawingml/2006/main">
              <a:ext uri="{FF2B5EF4-FFF2-40B4-BE49-F238E27FC236}">
                <a16:creationId xmlns:a16="http://schemas.microsoft.com/office/drawing/2014/main" id="{71C9C7F8-4F92-47E6-A4B9-72CF77D8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844802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Trigger: a July 2 rule update targeted malicious JavaScript. “Simulate” mode still executed the regex on real traffic.</a:t>
            </a:r>
            <a:endParaRPr sz="1100"/>
          </a:p>
        </p:txBody>
      </p:sp>
      <p:sp>
        <p:nvSpPr>
          <p:cNvPr id="242" name="Google Shape;242;p33">
            <a:extLst xmlns:a="http://schemas.openxmlformats.org/drawingml/2006/main">
              <a:ext uri="{FF2B5EF4-FFF2-40B4-BE49-F238E27FC236}">
                <a16:creationId xmlns:a16="http://schemas.microsoft.com/office/drawing/2014/main" id="{3EDD57F6-38FE-4377-9F9F-A4062260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3" name="Google Shape;243;p33">
            <a:extLst xmlns:a="http://schemas.openxmlformats.org/drawingml/2006/main">
              <a:ext uri="{FF2B5EF4-FFF2-40B4-BE49-F238E27FC236}">
                <a16:creationId xmlns:a16="http://schemas.microsoft.com/office/drawing/2014/main" id="{07946CF9-59FD-41E9-93CA-E1185576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2544318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Impact: 27 minutes of disruption. Visitors saw 502 errors, CPU reached 100%, and traffic fell 82% at its worst.</a:t>
            </a:r>
            <a:endParaRPr sz="1100"/>
          </a:p>
        </p:txBody>
      </p:sp>
      <p:sp>
        <p:nvSpPr>
          <p:cNvPr id="244" name="Google Shape;244;p33">
            <a:extLst xmlns:a="http://schemas.openxmlformats.org/drawingml/2006/main">
              <a:ext uri="{FF2B5EF4-FFF2-40B4-BE49-F238E27FC236}">
                <a16:creationId xmlns:a16="http://schemas.microsoft.com/office/drawing/2014/main" id="{2A207192-D343-46DC-9D34-8FDEFDC0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Google Shape;245;p33">
            <a:extLst xmlns:a="http://schemas.openxmlformats.org/drawingml/2006/main">
              <a:ext uri="{FF2B5EF4-FFF2-40B4-BE49-F238E27FC236}">
                <a16:creationId xmlns:a16="http://schemas.microsoft.com/office/drawing/2014/main" id="{7E81016E-E8D9-4C6A-9147-844B9A51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3243834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Operational impact: customers also lost Dashboard/API access, while engineers struggled to reach internal recovery tools.</a:t>
            </a:r>
            <a:endParaRPr sz="1100"/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59B38C6B-ACA5-4C8D-B747-72D62A76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52925"/>
            <a:ext cx="795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9DACBC"/>
                </a:solidFill>
              </a:defRPr>
            </a:defPPr>
            <a:lvl1pPr>
              <a:defRPr sz="863">
                <a:solidFill>
                  <a:srgbClr val="9DACBC"/>
                </a:solidFill>
              </a:defRPr>
            </a:lvl1pPr>
            <a:lvl2pPr>
              <a:defRPr sz="863">
                <a:solidFill>
                  <a:srgbClr val="9DACBC"/>
                </a:solidFill>
              </a:defRPr>
            </a:lvl2pPr>
            <a:lvl3pPr>
              <a:defRPr sz="863">
                <a:solidFill>
                  <a:srgbClr val="9DACBC"/>
                </a:solidFill>
              </a:defRPr>
            </a:lvl3pPr>
            <a:lvl4pPr>
              <a:defRPr sz="863">
                <a:solidFill>
                  <a:srgbClr val="9DACBC"/>
                </a:solidFill>
              </a:defRPr>
            </a:lvl4pPr>
            <a:lvl5pPr>
              <a:defRPr sz="863">
                <a:solidFill>
                  <a:srgbClr val="9DACBC"/>
                </a:solidFill>
              </a:defRPr>
            </a:lvl5pPr>
            <a:lvl6pPr>
              <a:defRPr sz="863">
                <a:solidFill>
                  <a:srgbClr val="9DACBC"/>
                </a:solidFill>
              </a:defRPr>
            </a:lvl6pPr>
            <a:lvl7pPr>
              <a:defRPr sz="863">
                <a:solidFill>
                  <a:srgbClr val="9DACBC"/>
                </a:solidFill>
              </a:defRPr>
            </a:lvl7pPr>
            <a:lvl8pPr>
              <a:defRPr sz="863">
                <a:solidFill>
                  <a:srgbClr val="9DACBC"/>
                </a:solidFill>
              </a:defRPr>
            </a:lvl8pPr>
            <a:lvl9pPr>
              <a:defRPr sz="863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>
                <a:solidFill>
                  <a:srgbClr val="9DACBC"/>
                </a:solidFill>
              </a:defRPr>
            </a:pPr>
            <a:r>
              <a:rPr sz="863">
                <a:solidFill>
                  <a:srgbClr val="9DACBC"/>
                </a:solidFill>
              </a:rPr>
              <a:t>Sources: Cloudflare incident update (July 2) and postmortem (July 12, 2019)</a:t>
            </a:r>
          </a:p>
        </p:txBody>
      </p:sp>
    </p:spTree>
    <p:extLst>
      <p:ext uri="{BB962C8B-B14F-4D97-AF65-F5344CB8AC3E}">
        <p14:creationId xmlns:p14="http://schemas.microsoft.com/office/powerpoint/2010/main" val="1597061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0" name="Google Shape;250;p34">
            <a:extLst xmlns:a="http://schemas.openxmlformats.org/drawingml/2006/main">
              <a:ext uri="{FF2B5EF4-FFF2-40B4-BE49-F238E27FC236}">
                <a16:creationId xmlns:a16="http://schemas.microsoft.com/office/drawing/2014/main" id="{EB8C8399-F098-46ED-9256-3B05B37C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Google Shape;251;p34">
            <a:extLst xmlns:a="http://schemas.openxmlformats.org/drawingml/2006/main">
              <a:ext uri="{FF2B5EF4-FFF2-40B4-BE49-F238E27FC236}">
                <a16:creationId xmlns:a16="http://schemas.microsoft.com/office/drawing/2014/main" id="{54E6F293-BFB9-4700-B095-F78971E4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82" y="329184"/>
            <a:ext cx="8229900" cy="41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Cloudflare 2019: why the rule failed</a:t>
            </a:r>
            <a:endParaRPr sz="1100"/>
          </a:p>
        </p:txBody>
      </p:sp>
      <p:sp>
        <p:nvSpPr>
          <p:cNvPr id="252" name="Google Shape;252;p34">
            <a:extLst xmlns:a="http://schemas.openxmlformats.org/drawingml/2006/main">
              <a:ext uri="{FF2B5EF4-FFF2-40B4-BE49-F238E27FC236}">
                <a16:creationId xmlns:a16="http://schemas.microsoft.com/office/drawing/2014/main" id="{123F0C47-3FC8-4788-8FDE-35BE264A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3" y="4766310"/>
            <a:ext cx="6172500" cy="19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9DACBC"/>
                </a:solidFill>
                <a:latin typeface="Arial"/>
                <a:ea typeface="Arial"/>
                <a:cs typeface="Arial"/>
              </a:rPr>
              <a:t>CASE 1</a:t>
            </a:r>
            <a:endParaRPr sz="800">
              <a:solidFill>
                <a:srgbClr val="9DACBC"/>
              </a:solidFill>
            </a:endParaRPr>
          </a:p>
        </p:txBody>
      </p:sp>
      <p:sp>
        <p:nvSpPr>
          <p:cNvPr id="253" name="Google Shape;253;p34">
            <a:extLst xmlns:a="http://schemas.openxmlformats.org/drawingml/2006/main">
              <a:ext uri="{FF2B5EF4-FFF2-40B4-BE49-F238E27FC236}">
                <a16:creationId xmlns:a16="http://schemas.microsoft.com/office/drawing/2014/main" id="{FA7ACEAD-30B0-4270-A503-C5166138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4" name="Google Shape;254;p34">
            <a:extLst xmlns:a="http://schemas.openxmlformats.org/drawingml/2006/main">
              <a:ext uri="{FF2B5EF4-FFF2-40B4-BE49-F238E27FC236}">
                <a16:creationId xmlns:a16="http://schemas.microsoft.com/office/drawing/2014/main" id="{44060280-E688-49F3-AAEB-87255648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145286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Expensive matching: overlapping wildcards in .*.*=.* made the engine repeatedly retry matches, exhausting CPU.</a:t>
            </a:r>
            <a:endParaRPr sz="1100"/>
          </a:p>
        </p:txBody>
      </p:sp>
      <p:sp>
        <p:nvSpPr>
          <p:cNvPr id="255" name="Google Shape;255;p34">
            <a:extLst xmlns:a="http://schemas.openxmlformats.org/drawingml/2006/main">
              <a:ext uri="{FF2B5EF4-FFF2-40B4-BE49-F238E27FC236}">
                <a16:creationId xmlns:a16="http://schemas.microsoft.com/office/drawing/2014/main" id="{F204B195-28A5-45EA-9229-6C0B34D8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" name="Google Shape;256;p34">
            <a:extLst xmlns:a="http://schemas.openxmlformats.org/drawingml/2006/main">
              <a:ext uri="{FF2B5EF4-FFF2-40B4-BE49-F238E27FC236}">
                <a16:creationId xmlns:a16="http://schemas.microsoft.com/office/drawing/2014/main" id="{468AE495-BB88-4BE2-AA38-A4C4AE8D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844802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Refactoring regression: an earlier performance refactor accidentally removed a CPU safeguard.</a:t>
            </a:r>
            <a:endParaRPr sz="1100"/>
          </a:p>
        </p:txBody>
      </p:sp>
      <p:sp>
        <p:nvSpPr>
          <p:cNvPr id="257" name="Google Shape;257;p34">
            <a:extLst xmlns:a="http://schemas.openxmlformats.org/drawingml/2006/main">
              <a:ext uri="{FF2B5EF4-FFF2-40B4-BE49-F238E27FC236}">
                <a16:creationId xmlns:a16="http://schemas.microsoft.com/office/drawing/2014/main" id="{1F36A8CC-7D35-45F7-A358-BD1E3FE8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Google Shape;258;p34">
            <a:extLst xmlns:a="http://schemas.openxmlformats.org/drawingml/2006/main">
              <a:ext uri="{FF2B5EF4-FFF2-40B4-BE49-F238E27FC236}">
                <a16:creationId xmlns:a16="http://schemas.microsoft.com/office/drawing/2014/main" id="{33CC8FA8-B458-4CFA-833F-0BA9CF4F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2544318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Testing gap: functional tests passed, but the suite did not detect excessive CPU consumption.</a:t>
            </a:r>
            <a:endParaRPr sz="1100"/>
          </a:p>
        </p:txBody>
      </p:sp>
      <p:sp>
        <p:nvSpPr>
          <p:cNvPr id="259" name="Google Shape;259;p34">
            <a:extLst xmlns:a="http://schemas.openxmlformats.org/drawingml/2006/main">
              <a:ext uri="{FF2B5EF4-FFF2-40B4-BE49-F238E27FC236}">
                <a16:creationId xmlns:a16="http://schemas.microsoft.com/office/drawing/2014/main" id="{44421AC9-880E-472E-999D-B8E7E676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0" name="Google Shape;260;p34">
            <a:extLst xmlns:a="http://schemas.openxmlformats.org/drawingml/2006/main">
              <a:ext uri="{FF2B5EF4-FFF2-40B4-BE49-F238E27FC236}">
                <a16:creationId xmlns:a16="http://schemas.microsoft.com/office/drawing/2014/main" id="{46CC5EFC-EDE6-48B5-BDFE-1A4F10EE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3243834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Deployment risk: rules bypassed staged rollout and reached the global network within seconds.</a:t>
            </a:r>
            <a:endParaRPr sz="1100"/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809FECEE-C269-44B6-BC58-FD171EDC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52925"/>
            <a:ext cx="795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9DACBC"/>
                </a:solidFill>
              </a:defRPr>
            </a:defPPr>
            <a:lvl1pPr>
              <a:defRPr sz="863">
                <a:solidFill>
                  <a:srgbClr val="9DACBC"/>
                </a:solidFill>
              </a:defRPr>
            </a:lvl1pPr>
            <a:lvl2pPr>
              <a:defRPr sz="863">
                <a:solidFill>
                  <a:srgbClr val="9DACBC"/>
                </a:solidFill>
              </a:defRPr>
            </a:lvl2pPr>
            <a:lvl3pPr>
              <a:defRPr sz="863">
                <a:solidFill>
                  <a:srgbClr val="9DACBC"/>
                </a:solidFill>
              </a:defRPr>
            </a:lvl3pPr>
            <a:lvl4pPr>
              <a:defRPr sz="863">
                <a:solidFill>
                  <a:srgbClr val="9DACBC"/>
                </a:solidFill>
              </a:defRPr>
            </a:lvl4pPr>
            <a:lvl5pPr>
              <a:defRPr sz="863">
                <a:solidFill>
                  <a:srgbClr val="9DACBC"/>
                </a:solidFill>
              </a:defRPr>
            </a:lvl5pPr>
            <a:lvl6pPr>
              <a:defRPr sz="863">
                <a:solidFill>
                  <a:srgbClr val="9DACBC"/>
                </a:solidFill>
              </a:defRPr>
            </a:lvl6pPr>
            <a:lvl7pPr>
              <a:defRPr sz="863">
                <a:solidFill>
                  <a:srgbClr val="9DACBC"/>
                </a:solidFill>
              </a:defRPr>
            </a:lvl7pPr>
            <a:lvl8pPr>
              <a:defRPr sz="863">
                <a:solidFill>
                  <a:srgbClr val="9DACBC"/>
                </a:solidFill>
              </a:defRPr>
            </a:lvl8pPr>
            <a:lvl9pPr>
              <a:defRPr sz="863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>
                <a:solidFill>
                  <a:srgbClr val="9DACBC"/>
                </a:solidFill>
              </a:defRPr>
            </a:pPr>
            <a:r>
              <a:rPr sz="863">
                <a:solidFill>
                  <a:srgbClr val="9DACBC"/>
                </a:solidFill>
              </a:rPr>
              <a:t>Source: Cloudflare engineering postmortem, July 12, 2019</a:t>
            </a:r>
          </a:p>
        </p:txBody>
      </p:sp>
    </p:spTree>
    <p:extLst>
      <p:ext uri="{BB962C8B-B14F-4D97-AF65-F5344CB8AC3E}">
        <p14:creationId xmlns:p14="http://schemas.microsoft.com/office/powerpoint/2010/main" val="14023610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Google Shape;265;p35">
            <a:extLst xmlns:a="http://schemas.openxmlformats.org/drawingml/2006/main">
              <a:ext uri="{FF2B5EF4-FFF2-40B4-BE49-F238E27FC236}">
                <a16:creationId xmlns:a16="http://schemas.microsoft.com/office/drawing/2014/main" id="{AADB566A-F46A-482E-ACF6-4FD70DD8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6" name="Google Shape;266;p35">
            <a:extLst xmlns:a="http://schemas.openxmlformats.org/drawingml/2006/main">
              <a:ext uri="{FF2B5EF4-FFF2-40B4-BE49-F238E27FC236}">
                <a16:creationId xmlns:a16="http://schemas.microsoft.com/office/drawing/2014/main" id="{18E1E0F4-7E77-4FFB-B141-D4A71FFC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82" y="329184"/>
            <a:ext cx="8229819" cy="41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F7F9FC"/>
                </a:solidFill>
              </a:defRPr>
            </a:pPr>
            <a:r>
              <a:rPr sz="2300" b="1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Cloudflare 2019: recovery timeline</a:t>
            </a:r>
            <a:endParaRPr sz="1100"/>
          </a:p>
        </p:txBody>
      </p:sp>
      <p:sp>
        <p:nvSpPr>
          <p:cNvPr id="267" name="Google Shape;267;p35">
            <a:extLst xmlns:a="http://schemas.openxmlformats.org/drawingml/2006/main">
              <a:ext uri="{FF2B5EF4-FFF2-40B4-BE49-F238E27FC236}">
                <a16:creationId xmlns:a16="http://schemas.microsoft.com/office/drawing/2014/main" id="{63997BCA-EA1E-40C2-B106-80F3E343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3" y="4766310"/>
            <a:ext cx="6172365" cy="19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9DACBC"/>
                </a:solidFill>
                <a:latin typeface="Arial"/>
                <a:ea typeface="Arial"/>
                <a:cs typeface="Arial"/>
              </a:rPr>
              <a:t>CASE 1</a:t>
            </a:r>
            <a:endParaRPr sz="1100"/>
          </a:p>
        </p:txBody>
      </p:sp>
      <p:sp>
        <p:nvSpPr>
          <p:cNvPr id="268" name="Google Shape;268;p35">
            <a:extLst xmlns:a="http://schemas.openxmlformats.org/drawingml/2006/main">
              <a:ext uri="{FF2B5EF4-FFF2-40B4-BE49-F238E27FC236}">
                <a16:creationId xmlns:a16="http://schemas.microsoft.com/office/drawing/2014/main" id="{511CA296-7FCA-4722-A373-2D26ED0A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9" name="Google Shape;269;p35">
            <a:extLst xmlns:a="http://schemas.openxmlformats.org/drawingml/2006/main">
              <a:ext uri="{FF2B5EF4-FFF2-40B4-BE49-F238E27FC236}">
                <a16:creationId xmlns:a16="http://schemas.microsoft.com/office/drawing/2014/main" id="{BA3F80A7-B966-468B-8C98-DE5ECE33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145286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13:42 UTC: deployment begins. By 14:00, engineers identify the WAF as the cause.</a:t>
            </a:r>
            <a:endParaRPr sz="1100"/>
          </a:p>
        </p:txBody>
      </p:sp>
      <p:sp>
        <p:nvSpPr>
          <p:cNvPr id="270" name="Google Shape;270;p35">
            <a:extLst xmlns:a="http://schemas.openxmlformats.org/drawingml/2006/main">
              <a:ext uri="{FF2B5EF4-FFF2-40B4-BE49-F238E27FC236}">
                <a16:creationId xmlns:a16="http://schemas.microsoft.com/office/drawing/2014/main" id="{E73AF75D-D0DC-4BEC-A2E2-E6E98FE9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" name="Google Shape;271;p35">
            <a:extLst xmlns:a="http://schemas.openxmlformats.org/drawingml/2006/main">
              <a:ext uri="{FF2B5EF4-FFF2-40B4-BE49-F238E27FC236}">
                <a16:creationId xmlns:a16="http://schemas.microsoft.com/office/drawing/2014/main" id="{F0BEA63D-BD9D-4D3E-9A2F-9FFD69B2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844802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14:07 UTC: the team disables the WAF globally. Traffic and CPU recover by 14:09.</a:t>
            </a:r>
            <a:endParaRPr sz="1100"/>
          </a:p>
        </p:txBody>
      </p:sp>
      <p:sp>
        <p:nvSpPr>
          <p:cNvPr id="272" name="Google Shape;272;p35">
            <a:extLst xmlns:a="http://schemas.openxmlformats.org/drawingml/2006/main">
              <a:ext uri="{FF2B5EF4-FFF2-40B4-BE49-F238E27FC236}">
                <a16:creationId xmlns:a16="http://schemas.microsoft.com/office/drawing/2014/main" id="{5B181F11-411F-4399-AD8B-57E8A861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3" name="Google Shape;273;p35">
            <a:extLst xmlns:a="http://schemas.openxmlformats.org/drawingml/2006/main">
              <a:ext uri="{FF2B5EF4-FFF2-40B4-BE49-F238E27FC236}">
                <a16:creationId xmlns:a16="http://schemas.microsoft.com/office/drawing/2014/main" id="{97CF2903-9266-493C-84D5-C99D7B87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2544318"/>
            <a:ext cx="7544001" cy="32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14:52 UTC: after rollback and testing, engineers restore the WAF globally.</a:t>
            </a:r>
            <a:endParaRPr sz="1100"/>
          </a:p>
        </p:txBody>
      </p:sp>
      <p:sp>
        <p:nvSpPr>
          <p:cNvPr id="274" name="Google Shape;274;p35">
            <a:extLst xmlns:a="http://schemas.openxmlformats.org/drawingml/2006/main">
              <a:ext uri="{FF2B5EF4-FFF2-40B4-BE49-F238E27FC236}">
                <a16:creationId xmlns:a16="http://schemas.microsoft.com/office/drawing/2014/main" id="{AA21B2BD-6E80-494F-823D-006B78F8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" name="Google Shape;275;p35">
            <a:extLst xmlns:a="http://schemas.openxmlformats.org/drawingml/2006/main">
              <a:ext uri="{FF2B5EF4-FFF2-40B4-BE49-F238E27FC236}">
                <a16:creationId xmlns:a16="http://schemas.microsoft.com/office/drawing/2014/main" id="{67AFE1F0-72CE-4F58-8BC5-C9318969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3243834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Tradeoff: restoring availability required temporarily disabling WAF inspection. Other protection mechanisms continued operating.</a:t>
            </a:r>
            <a:endParaRPr sz="1100"/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0902D386-7D17-482F-B0D2-774912CC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52925"/>
            <a:ext cx="795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9DACBC"/>
                </a:solidFill>
              </a:defRPr>
            </a:defPPr>
            <a:lvl1pPr>
              <a:defRPr sz="863">
                <a:solidFill>
                  <a:srgbClr val="9DACBC"/>
                </a:solidFill>
              </a:defRPr>
            </a:lvl1pPr>
            <a:lvl2pPr>
              <a:defRPr sz="863">
                <a:solidFill>
                  <a:srgbClr val="9DACBC"/>
                </a:solidFill>
              </a:defRPr>
            </a:lvl2pPr>
            <a:lvl3pPr>
              <a:defRPr sz="863">
                <a:solidFill>
                  <a:srgbClr val="9DACBC"/>
                </a:solidFill>
              </a:defRPr>
            </a:lvl3pPr>
            <a:lvl4pPr>
              <a:defRPr sz="863">
                <a:solidFill>
                  <a:srgbClr val="9DACBC"/>
                </a:solidFill>
              </a:defRPr>
            </a:lvl4pPr>
            <a:lvl5pPr>
              <a:defRPr sz="863">
                <a:solidFill>
                  <a:srgbClr val="9DACBC"/>
                </a:solidFill>
              </a:defRPr>
            </a:lvl5pPr>
            <a:lvl6pPr>
              <a:defRPr sz="863">
                <a:solidFill>
                  <a:srgbClr val="9DACBC"/>
                </a:solidFill>
              </a:defRPr>
            </a:lvl6pPr>
            <a:lvl7pPr>
              <a:defRPr sz="863">
                <a:solidFill>
                  <a:srgbClr val="9DACBC"/>
                </a:solidFill>
              </a:defRPr>
            </a:lvl7pPr>
            <a:lvl8pPr>
              <a:defRPr sz="863">
                <a:solidFill>
                  <a:srgbClr val="9DACBC"/>
                </a:solidFill>
              </a:defRPr>
            </a:lvl8pPr>
            <a:lvl9pPr>
              <a:defRPr sz="863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>
                <a:solidFill>
                  <a:srgbClr val="9DACBC"/>
                </a:solidFill>
              </a:defRPr>
            </a:pPr>
            <a:r>
              <a:rPr sz="863">
                <a:solidFill>
                  <a:srgbClr val="9DACBC"/>
                </a:solidFill>
              </a:rPr>
              <a:t>Sources: Cloudflare incident update and engineering postmortem, July 2019</a:t>
            </a:r>
          </a:p>
        </p:txBody>
      </p:sp>
    </p:spTree>
    <p:extLst>
      <p:ext uri="{BB962C8B-B14F-4D97-AF65-F5344CB8AC3E}">
        <p14:creationId xmlns:p14="http://schemas.microsoft.com/office/powerpoint/2010/main" val="175116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0" name="Google Shape;280;p36">
            <a:extLst xmlns:a="http://schemas.openxmlformats.org/drawingml/2006/main">
              <a:ext uri="{FF2B5EF4-FFF2-40B4-BE49-F238E27FC236}">
                <a16:creationId xmlns:a16="http://schemas.microsoft.com/office/drawing/2014/main" id="{F0A732B5-FF48-48CA-9EF8-41E36F6A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" name="Google Shape;281;p36">
            <a:extLst xmlns:a="http://schemas.openxmlformats.org/drawingml/2006/main">
              <a:ext uri="{FF2B5EF4-FFF2-40B4-BE49-F238E27FC236}">
                <a16:creationId xmlns:a16="http://schemas.microsoft.com/office/drawing/2014/main" id="{54E0FEAC-8767-47E6-9EFD-2383BE09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82" y="329184"/>
            <a:ext cx="8229819" cy="419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F7F9FC"/>
                </a:solidFill>
              </a:defRPr>
            </a:pPr>
            <a:r>
              <a:rPr sz="2300" b="1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Cloudflare 2019: maintenance &amp; lessons</a:t>
            </a:r>
            <a:endParaRPr sz="1100"/>
          </a:p>
        </p:txBody>
      </p:sp>
      <p:sp>
        <p:nvSpPr>
          <p:cNvPr id="282" name="Google Shape;282;p36">
            <a:extLst xmlns:a="http://schemas.openxmlformats.org/drawingml/2006/main">
              <a:ext uri="{FF2B5EF4-FFF2-40B4-BE49-F238E27FC236}">
                <a16:creationId xmlns:a16="http://schemas.microsoft.com/office/drawing/2014/main" id="{5B667BE1-0ED1-4AA3-98CF-4C5DA4EC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3" y="4766310"/>
            <a:ext cx="6172365" cy="19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trike="noStrike" cap="none">
                <a:solidFill>
                  <a:srgbClr val="9DACBC"/>
                </a:solidFill>
                <a:latin typeface="Arial"/>
                <a:ea typeface="Arial"/>
                <a:cs typeface="Arial"/>
              </a:rPr>
              <a:t>CASE 1</a:t>
            </a:r>
            <a:endParaRPr sz="1100"/>
          </a:p>
        </p:txBody>
      </p:sp>
      <p:sp>
        <p:nvSpPr>
          <p:cNvPr id="284" name="Google Shape;284;p36">
            <a:extLst xmlns:a="http://schemas.openxmlformats.org/drawingml/2006/main">
              <a:ext uri="{FF2B5EF4-FFF2-40B4-BE49-F238E27FC236}">
                <a16:creationId xmlns:a16="http://schemas.microsoft.com/office/drawing/2014/main" id="{F3187852-6D2E-4063-B65E-D0A4C48A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5" name="Google Shape;285;p36">
            <a:extLst xmlns:a="http://schemas.openxmlformats.org/drawingml/2006/main">
              <a:ext uri="{FF2B5EF4-FFF2-40B4-BE49-F238E27FC236}">
                <a16:creationId xmlns:a16="http://schemas.microsoft.com/office/drawing/2014/main" id="{C4BBA707-7282-4A2A-8585-BAC043D3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145286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Completed by July 12: Cloudflare restored the CPU safeguard and inspected all 3,868 managed rules.</a:t>
            </a:r>
            <a:endParaRPr sz="1100"/>
          </a:p>
        </p:txBody>
      </p:sp>
      <p:sp>
        <p:nvSpPr>
          <p:cNvPr id="286" name="Google Shape;286;p36">
            <a:extLst xmlns:a="http://schemas.openxmlformats.org/drawingml/2006/main">
              <a:ext uri="{FF2B5EF4-FFF2-40B4-BE49-F238E27FC236}">
                <a16:creationId xmlns:a16="http://schemas.microsoft.com/office/drawing/2014/main" id="{355518A4-CB97-4087-969D-FD16CAAD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7" name="Google Shape;287;p36">
            <a:extLst xmlns:a="http://schemas.openxmlformats.org/drawingml/2006/main">
              <a:ext uri="{FF2B5EF4-FFF2-40B4-BE49-F238E27FC236}">
                <a16:creationId xmlns:a16="http://schemas.microsoft.com/office/drawing/2014/main" id="{96B51546-BD3E-40BF-993B-8B95F173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1844802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Announced fixes: performance profiling, staged rule rollout, and a regex engine with runtime guarantees.</a:t>
            </a:r>
            <a:endParaRPr sz="1100"/>
          </a:p>
        </p:txBody>
      </p:sp>
      <p:sp>
        <p:nvSpPr>
          <p:cNvPr id="288" name="Google Shape;288;p36">
            <a:extLst xmlns:a="http://schemas.openxmlformats.org/drawingml/2006/main">
              <a:ext uri="{FF2B5EF4-FFF2-40B4-BE49-F238E27FC236}">
                <a16:creationId xmlns:a16="http://schemas.microsoft.com/office/drawing/2014/main" id="{BDA76833-7304-43B2-813B-02D82B81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9" name="Google Shape;289;p36">
            <a:extLst xmlns:a="http://schemas.openxmlformats.org/drawingml/2006/main">
              <a:ext uri="{FF2B5EF4-FFF2-40B4-BE49-F238E27FC236}">
                <a16:creationId xmlns:a16="http://schemas.microsoft.com/office/drawing/2014/main" id="{875EC5E4-7D4B-46E4-8A68-2CB1BD16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2544318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Technical debt lesson: fast global updates carried reliability risk. Missing performance checks let that risk accumulate.</a:t>
            </a:r>
            <a:endParaRPr sz="1100"/>
          </a:p>
        </p:txBody>
      </p:sp>
      <p:sp>
        <p:nvSpPr>
          <p:cNvPr id="290" name="Google Shape;290;p36">
            <a:extLst xmlns:a="http://schemas.openxmlformats.org/drawingml/2006/main">
              <a:ext uri="{FF2B5EF4-FFF2-40B4-BE49-F238E27FC236}">
                <a16:creationId xmlns:a16="http://schemas.microsoft.com/office/drawing/2014/main" id="{5C04A717-1D72-40CA-A70B-170B87CE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1" name="Google Shape;291;p36">
            <a:extLst xmlns:a="http://schemas.openxmlformats.org/drawingml/2006/main">
              <a:ext uri="{FF2B5EF4-FFF2-40B4-BE49-F238E27FC236}">
                <a16:creationId xmlns:a16="http://schemas.microsoft.com/office/drawing/2014/main" id="{BF21113A-72DD-485A-BBFE-AA6CA789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56" y="3243834"/>
            <a:ext cx="7544001" cy="58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spAutoFit/>
          </a:bodyPr>
          <a:lstStyle xmlns:a="http://schemas.openxmlformats.org/drawingml/2006/main">
            <a:defPPr>
              <a:defRPr sz="1700">
                <a:solidFill>
                  <a:srgbClr val="F7F9FC"/>
                </a:solidFill>
              </a:defRPr>
            </a:defPPr>
            <a:lvl1pPr>
              <a:defRPr sz="1700">
                <a:solidFill>
                  <a:srgbClr val="F7F9FC"/>
                </a:solidFill>
              </a:defRPr>
            </a:lvl1pPr>
            <a:lvl2pPr>
              <a:defRPr sz="1700">
                <a:solidFill>
                  <a:srgbClr val="F7F9FC"/>
                </a:solidFill>
              </a:defRPr>
            </a:lvl2pPr>
            <a:lvl3pPr>
              <a:defRPr sz="1700">
                <a:solidFill>
                  <a:srgbClr val="F7F9FC"/>
                </a:solidFill>
              </a:defRPr>
            </a:lvl3pPr>
            <a:lvl4pPr>
              <a:defRPr sz="1700">
                <a:solidFill>
                  <a:srgbClr val="F7F9FC"/>
                </a:solidFill>
              </a:defRPr>
            </a:lvl4pPr>
            <a:lvl5pPr>
              <a:defRPr sz="1700">
                <a:solidFill>
                  <a:srgbClr val="F7F9FC"/>
                </a:solidFill>
              </a:defRPr>
            </a:lvl5pPr>
            <a:lvl6pPr>
              <a:defRPr sz="1700">
                <a:solidFill>
                  <a:srgbClr val="F7F9FC"/>
                </a:solidFill>
              </a:defRPr>
            </a:lvl6pPr>
            <a:lvl7pPr>
              <a:defRPr sz="1700">
                <a:solidFill>
                  <a:srgbClr val="F7F9FC"/>
                </a:solidFill>
              </a:defRPr>
            </a:lvl7pPr>
            <a:lvl8pPr>
              <a:defRPr sz="1700">
                <a:solidFill>
                  <a:srgbClr val="F7F9FC"/>
                </a:solidFill>
              </a:defRPr>
            </a:lvl8pPr>
            <a:lvl9pPr>
              <a:defRPr sz="170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7F9FC"/>
                </a:solidFill>
              </a:defRPr>
            </a:pPr>
            <a:r>
              <a:rPr sz="1700" b="0" i="0" u="none" strike="noStrike" cap="none">
                <a:solidFill>
                  <a:srgbClr val="F7F9FC"/>
                </a:solidFill>
                <a:latin typeface="Arial"/>
                <a:ea typeface="Arial"/>
                <a:cs typeface="Arial"/>
              </a:rPr>
              <a:t>Refactoring lesson: preserve safety limits with regression tests. Safer rollouts trade deployment speed for a smaller failure scope.</a:t>
            </a:r>
            <a:endParaRPr sz="1100"/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A118761-E31C-4E79-BD78-11B49927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52925"/>
            <a:ext cx="795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>
                <a:solidFill>
                  <a:srgbClr val="9DACBC"/>
                </a:solidFill>
              </a:defRPr>
            </a:defPPr>
            <a:lvl1pPr>
              <a:defRPr sz="863">
                <a:solidFill>
                  <a:srgbClr val="9DACBC"/>
                </a:solidFill>
              </a:defRPr>
            </a:lvl1pPr>
            <a:lvl2pPr>
              <a:defRPr sz="863">
                <a:solidFill>
                  <a:srgbClr val="9DACBC"/>
                </a:solidFill>
              </a:defRPr>
            </a:lvl2pPr>
            <a:lvl3pPr>
              <a:defRPr sz="863">
                <a:solidFill>
                  <a:srgbClr val="9DACBC"/>
                </a:solidFill>
              </a:defRPr>
            </a:lvl3pPr>
            <a:lvl4pPr>
              <a:defRPr sz="863">
                <a:solidFill>
                  <a:srgbClr val="9DACBC"/>
                </a:solidFill>
              </a:defRPr>
            </a:lvl4pPr>
            <a:lvl5pPr>
              <a:defRPr sz="863">
                <a:solidFill>
                  <a:srgbClr val="9DACBC"/>
                </a:solidFill>
              </a:defRPr>
            </a:lvl5pPr>
            <a:lvl6pPr>
              <a:defRPr sz="863">
                <a:solidFill>
                  <a:srgbClr val="9DACBC"/>
                </a:solidFill>
              </a:defRPr>
            </a:lvl6pPr>
            <a:lvl7pPr>
              <a:defRPr sz="863">
                <a:solidFill>
                  <a:srgbClr val="9DACBC"/>
                </a:solidFill>
              </a:defRPr>
            </a:lvl7pPr>
            <a:lvl8pPr>
              <a:defRPr sz="863">
                <a:solidFill>
                  <a:srgbClr val="9DACBC"/>
                </a:solidFill>
              </a:defRPr>
            </a:lvl8pPr>
            <a:lvl9pPr>
              <a:defRPr sz="863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>
                <a:solidFill>
                  <a:srgbClr val="9DACBC"/>
                </a:solidFill>
              </a:defRPr>
            </a:pPr>
            <a:r>
              <a:rPr sz="863">
                <a:solidFill>
                  <a:srgbClr val="9DACBC"/>
                </a:solidFill>
              </a:rPr>
              <a:t>Source: Cloudflare postmortem, July 12, 2019. Lessons are case analysis.</a:t>
            </a:r>
          </a:p>
        </p:txBody>
      </p:sp>
    </p:spTree>
    <p:extLst>
      <p:ext uri="{BB962C8B-B14F-4D97-AF65-F5344CB8AC3E}">
        <p14:creationId xmlns:p14="http://schemas.microsoft.com/office/powerpoint/2010/main" val="1004419011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2026-10-27T17:09:09.5430000Z</dcterms:created>
  <dcterms:modified xsi:type="dcterms:W3CDTF">2026-10-27T17:09:09.5430000Z</dcterms:modified>
</coreProperties>
</file>