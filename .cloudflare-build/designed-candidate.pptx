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4e545c223e4bcb" /><Relationship Type="http://schemas.openxmlformats.org/officeDocument/2006/relationships/extended-properties" Target="/docProps/app.xml" Id="R9ab1da70e9c04f4d" /><Relationship Type="http://schemas.openxmlformats.org/officeDocument/2006/relationships/officeDocument" Target="/ppt/presentation.xml" Id="Rcb17b766ab7241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2f16d7bb3440f"/>
    <p:sldMasterId xmlns:r="http://schemas.openxmlformats.org/officeDocument/2006/relationships" id="2147483660" r:id="R9bd190439b374216"/>
  </p:sldMasterIdLst>
  <p:notesMasterIdLst>
    <p:notesMasterId xmlns:r="http://schemas.openxmlformats.org/officeDocument/2006/relationships" r:id="R8e7c74232e7c44cd"/>
  </p:notesMasterIdLst>
  <p:sldIdLst>
    <p:sldId xmlns:r="http://schemas.openxmlformats.org/officeDocument/2006/relationships" id="256" r:id="Reed2612fe0f64bfa"/>
    <p:sldId xmlns:r="http://schemas.openxmlformats.org/officeDocument/2006/relationships" id="257" r:id="R3e9626607c1b4542"/>
    <p:sldId xmlns:r="http://schemas.openxmlformats.org/officeDocument/2006/relationships" id="258" r:id="R90cac280c3b442a8"/>
    <p:sldId xmlns:r="http://schemas.openxmlformats.org/officeDocument/2006/relationships" id="259" r:id="Rc88b5240b4244c91"/>
    <p:sldId xmlns:r="http://schemas.openxmlformats.org/officeDocument/2006/relationships" id="260" r:id="Rfb169574acf5402c"/>
    <p:sldId xmlns:r="http://schemas.openxmlformats.org/officeDocument/2006/relationships" id="261" r:id="Rb6d3fe531ca04309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cb919bb6e444f3" /><Relationship Type="http://schemas.openxmlformats.org/officeDocument/2006/relationships/slideMaster" Target="/ppt/slideMasters/slideMaster1.xml" Id="R1732f16d7bb3440f" /><Relationship Type="http://schemas.openxmlformats.org/officeDocument/2006/relationships/slideMaster" Target="/ppt/slideMasters/slideMaster2.xml" Id="R9bd190439b374216" /><Relationship Type="http://schemas.openxmlformats.org/officeDocument/2006/relationships/notesMaster" Target="/ppt/notesMasters/notesMaster1.xml" Id="R8e7c74232e7c44cd" /><Relationship Type="http://schemas.openxmlformats.org/officeDocument/2006/relationships/presProps" Target="/ppt/presProps.xml" Id="Rb69d98fad8c44444" /><Relationship Type="http://schemas.openxmlformats.org/officeDocument/2006/relationships/viewProps" Target="/ppt/viewProps.xml" Id="R7df297ac01cf4ad1" /><Relationship Type="http://schemas.openxmlformats.org/officeDocument/2006/relationships/tableStyles" Target="/ppt/tableStyles.xml" Id="R184972be57244066" /><Relationship Type="http://schemas.openxmlformats.org/officeDocument/2006/relationships/slide" Target="/ppt/slides/slide1.xml" Id="Reed2612fe0f64bfa" /><Relationship Type="http://schemas.openxmlformats.org/officeDocument/2006/relationships/slide" Target="/ppt/slides/slide2.xml" Id="R3e9626607c1b4542" /><Relationship Type="http://schemas.openxmlformats.org/officeDocument/2006/relationships/slide" Target="/ppt/slides/slide3.xml" Id="R90cac280c3b442a8" /><Relationship Type="http://schemas.openxmlformats.org/officeDocument/2006/relationships/slide" Target="/ppt/slides/slide4.xml" Id="Rc88b5240b4244c91" /><Relationship Type="http://schemas.openxmlformats.org/officeDocument/2006/relationships/slide" Target="/ppt/slides/slide5.xml" Id="Rfb169574acf5402c" /><Relationship Type="http://schemas.openxmlformats.org/officeDocument/2006/relationships/slide" Target="/ppt/slides/slide6.xml" Id="Rb6d3fe531ca0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fdb7ee4c9eb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a7eaa1f384720" /><Relationship Type="http://schemas.openxmlformats.org/officeDocument/2006/relationships/notesMaster" Target="/ppt/notesMasters/notesMaster1.xml" Id="Rffefd693f62d4d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2dedec1b844b3" /><Relationship Type="http://schemas.openxmlformats.org/officeDocument/2006/relationships/notesMaster" Target="/ppt/notesMasters/notesMaster1.xml" Id="Rcd1832b8853b4e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32f808c92b48ec" /><Relationship Type="http://schemas.openxmlformats.org/officeDocument/2006/relationships/notesMaster" Target="/ppt/notesMasters/notesMaster1.xml" Id="R6e208b52354343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b6d6f23d9e436c" /><Relationship Type="http://schemas.openxmlformats.org/officeDocument/2006/relationships/notesMaster" Target="/ppt/notesMasters/notesMaster1.xml" Id="Re6a460026fbb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9e1ff39d774a3f" /><Relationship Type="http://schemas.openxmlformats.org/officeDocument/2006/relationships/notesMaster" Target="/ppt/notesMasters/notesMaster1.xml" Id="R95c2c425dbe842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fd028461ae46e9" /><Relationship Type="http://schemas.openxmlformats.org/officeDocument/2006/relationships/notesMaster" Target="/ppt/notesMasters/notesMaster1.xml" Id="Re305a8cd2e394a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 sits between visitors and websites. Its servers deliver content and screen requests before they reach a website’s own server.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July 2, a firewall rule update overloaded servers worldwide. Visitors saw “502 Bad Gateway” errors instead of web pages.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outage lasted 27 minutes. CPU usage reached 100%, and Cloudflare’s traffic fell 82% at its worst.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it mattered: one shared provider’s failure interrupted many customers at once, even when their own websites were otherwise healthy.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Cloudflare, A Tour Inside Cloudflare’s G9 Servers (October 10, 2018). https://blog.cloudflare.com/a-tour-inside-cloudflares-g9-servers/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asset: https://blog.cloudflare.com/_emdash/api/media/file/01KW46RPEYCEAKMS3YKZM20Z6N.png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web application firewall (WAF) checks requests for suspicious content. This update targeted malicious JavaScript.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regular expression, or regex, is a text-search pattern. The simplified fragment .*.*=.* contains overlapping “match anything” sections.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Backtracking means retrying different ways to match the same text. Here, the repeated work consumed the CPU needed to serve requests.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“Simulate” mode only stopped the rule from blocking visitors. It still ran the expensive check on real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refactoring accidentally removed a CPU safeguard. The effort to improve performance weakened a protection against costly rules.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Tests checked which requests to allow or block. They did not catch runaway CPU use, so passing tests gave incomplete reassurance.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rollout sent the rule worldwide without a limited trial. A local defect therefore became a global availability problem.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Recovery also depended on affected systems. Engineers struggled to access internal tools, making an emergency change harder.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13:42 UTC: the rule goes live. By 14:00, engineers identify the WAF as the source of CPU exhaustion.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14:07 UTC: they disable the WAF globally. By 14:09, CPU usage and traffic return to normal.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They roll back the faulty rule and test the fix. At 14:52 UTC, they restore the WAF worldwide.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tradeoff: websites recover before WAF inspection returns. Other security protections remain active during that interval.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original CPU chart, Cloudflare engineering postmortem. https://blog.cloudflare.com/_emdash/api/media/file/01KW44G5FHMGT7B6C2NGNFWVW7.png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shows one location, not a separately measured global average.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Completed by July 12: restored the CPU safeguard and inspected all 3,868 managed rules for similar problems.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testing: profile each rule’s performance. That means measuring its processing cost, beyond whether it gives the right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rollout: release rules in stages. Planned engine change: use RE2 or Rust regex with runtime guarantees.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the engine matters: RE2 bounds matching time linearly in input length for a fixed pattern, avoiding unbounded backtracking.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Maintenance includes keeping changes safe. Fixing the broken rule restores service, while stronger tests help prevent another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debt can live in processes too. Saving time on rollout or testing can create larger debugging and outage costs later.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should preserve behavior. Teams also need regression tests for safety limits that ordinary feature tests may miss.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takeaway: test correctness and resource use, expand releases gradually, and rehearse recovery when normal tools are unavailable.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6acbb9b1b4d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b35dd158d4d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6751e873a4e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8616c48cc4f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40782d55248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fb5b4a7714f0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7878d21ec4d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70b464f0345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c47fc156244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5695a1e0d4a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80b99720c4f0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2fb7d50c9e44c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9344c4d8024de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8b695e1cbe463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27aa3044674d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5555ecdc61473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a403260c464a2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674a5bd6fc466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d525e2cd9b4e5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c5b061e113496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d1e6d9670348f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00093db1da4ca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efe5f28664a24" /><Relationship Type="http://schemas.openxmlformats.org/officeDocument/2006/relationships/slideLayout" Target="/ppt/slideLayouts/slideLayout1.xml" Id="R186b0c99a6d54a44" /><Relationship Type="http://schemas.openxmlformats.org/officeDocument/2006/relationships/slideLayout" Target="/ppt/slideLayouts/slideLayout2.xml" Id="R425b70657c85490b" /><Relationship Type="http://schemas.openxmlformats.org/officeDocument/2006/relationships/slideLayout" Target="/ppt/slideLayouts/slideLayout3.xml" Id="R94cc1b46727d4fe2" /><Relationship Type="http://schemas.openxmlformats.org/officeDocument/2006/relationships/slideLayout" Target="/ppt/slideLayouts/slideLayout4.xml" Id="R561b4e95b8a74a0c" /><Relationship Type="http://schemas.openxmlformats.org/officeDocument/2006/relationships/slideLayout" Target="/ppt/slideLayouts/slideLayout5.xml" Id="Re64beb4b44cc49d0" /><Relationship Type="http://schemas.openxmlformats.org/officeDocument/2006/relationships/slideLayout" Target="/ppt/slideLayouts/slideLayout6.xml" Id="R74266a385e784151" /><Relationship Type="http://schemas.openxmlformats.org/officeDocument/2006/relationships/slideLayout" Target="/ppt/slideLayouts/slideLayout7.xml" Id="Rfe99ee3acc0e4204" /><Relationship Type="http://schemas.openxmlformats.org/officeDocument/2006/relationships/slideLayout" Target="/ppt/slideLayouts/slideLayout8.xml" Id="R9d9916bb3c7141e4" /><Relationship Type="http://schemas.openxmlformats.org/officeDocument/2006/relationships/slideLayout" Target="/ppt/slideLayouts/slideLayout9.xml" Id="R97777418c5fd42e1" /><Relationship Type="http://schemas.openxmlformats.org/officeDocument/2006/relationships/slideLayout" Target="/ppt/slideLayouts/slideLayout10.xml" Id="R7fb01b43856748cc" /><Relationship Type="http://schemas.openxmlformats.org/officeDocument/2006/relationships/slideLayout" Target="/ppt/slideLayouts/slideLayout11.xml" Id="R550c0eab354a468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02478794cd749f2" /><Relationship Type="http://schemas.openxmlformats.org/officeDocument/2006/relationships/slideLayout" Target="/ppt/slideLayouts/slideLayout12.xml" Id="R60973ef7d7324497" /><Relationship Type="http://schemas.openxmlformats.org/officeDocument/2006/relationships/slideLayout" Target="/ppt/slideLayouts/slideLayout13.xml" Id="R9766f8d4e9124d3b" /><Relationship Type="http://schemas.openxmlformats.org/officeDocument/2006/relationships/slideLayout" Target="/ppt/slideLayouts/slideLayout14.xml" Id="R6fa41b0a1e3b4dff" /><Relationship Type="http://schemas.openxmlformats.org/officeDocument/2006/relationships/slideLayout" Target="/ppt/slideLayouts/slideLayout15.xml" Id="R9f787aa992704801" /><Relationship Type="http://schemas.openxmlformats.org/officeDocument/2006/relationships/slideLayout" Target="/ppt/slideLayouts/slideLayout16.xml" Id="R56907b95078b40f9" /><Relationship Type="http://schemas.openxmlformats.org/officeDocument/2006/relationships/slideLayout" Target="/ppt/slideLayouts/slideLayout17.xml" Id="R03c8e31d87e54c47" /><Relationship Type="http://schemas.openxmlformats.org/officeDocument/2006/relationships/slideLayout" Target="/ppt/slideLayouts/slideLayout18.xml" Id="R0df17dbfd7a24faf" /><Relationship Type="http://schemas.openxmlformats.org/officeDocument/2006/relationships/slideLayout" Target="/ppt/slideLayouts/slideLayout19.xml" Id="R0dca444691f54815" /><Relationship Type="http://schemas.openxmlformats.org/officeDocument/2006/relationships/slideLayout" Target="/ppt/slideLayouts/slideLayout20.xml" Id="R753cae78f20d4cad" /><Relationship Type="http://schemas.openxmlformats.org/officeDocument/2006/relationships/slideLayout" Target="/ppt/slideLayouts/slideLayout21.xml" Id="R3f4446e87171432b" /><Relationship Type="http://schemas.openxmlformats.org/officeDocument/2006/relationships/slideLayout" Target="/ppt/slideLayouts/slideLayout22.xml" Id="R37dbe60c6e2c480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b0c99a6d54a44"/>
    <p:sldLayoutId xmlns:r="http://schemas.openxmlformats.org/officeDocument/2006/relationships" id="2147483650" r:id="R425b70657c85490b"/>
    <p:sldLayoutId xmlns:r="http://schemas.openxmlformats.org/officeDocument/2006/relationships" id="2147483651" r:id="R94cc1b46727d4fe2"/>
    <p:sldLayoutId xmlns:r="http://schemas.openxmlformats.org/officeDocument/2006/relationships" id="2147483652" r:id="R561b4e95b8a74a0c"/>
    <p:sldLayoutId xmlns:r="http://schemas.openxmlformats.org/officeDocument/2006/relationships" id="2147483653" r:id="Re64beb4b44cc49d0"/>
    <p:sldLayoutId xmlns:r="http://schemas.openxmlformats.org/officeDocument/2006/relationships" id="2147483654" r:id="R74266a385e784151"/>
    <p:sldLayoutId xmlns:r="http://schemas.openxmlformats.org/officeDocument/2006/relationships" id="2147483655" r:id="Rfe99ee3acc0e4204"/>
    <p:sldLayoutId xmlns:r="http://schemas.openxmlformats.org/officeDocument/2006/relationships" id="2147483656" r:id="R9d9916bb3c7141e4"/>
    <p:sldLayoutId xmlns:r="http://schemas.openxmlformats.org/officeDocument/2006/relationships" id="2147483657" r:id="R97777418c5fd42e1"/>
    <p:sldLayoutId xmlns:r="http://schemas.openxmlformats.org/officeDocument/2006/relationships" id="2147483658" r:id="R7fb01b43856748cc"/>
    <p:sldLayoutId xmlns:r="http://schemas.openxmlformats.org/officeDocument/2006/relationships" id="2147483659" r:id="R550c0eab354a468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0973ef7d7324497"/>
    <p:sldLayoutId xmlns:r="http://schemas.openxmlformats.org/officeDocument/2006/relationships" id="2147483662" r:id="R9766f8d4e9124d3b"/>
    <p:sldLayoutId xmlns:r="http://schemas.openxmlformats.org/officeDocument/2006/relationships" id="2147483663" r:id="R6fa41b0a1e3b4dff"/>
    <p:sldLayoutId xmlns:r="http://schemas.openxmlformats.org/officeDocument/2006/relationships" id="2147483664" r:id="R9f787aa992704801"/>
    <p:sldLayoutId xmlns:r="http://schemas.openxmlformats.org/officeDocument/2006/relationships" id="2147483665" r:id="R56907b95078b40f9"/>
    <p:sldLayoutId xmlns:r="http://schemas.openxmlformats.org/officeDocument/2006/relationships" id="2147483666" r:id="R03c8e31d87e54c47"/>
    <p:sldLayoutId xmlns:r="http://schemas.openxmlformats.org/officeDocument/2006/relationships" id="2147483667" r:id="R0df17dbfd7a24faf"/>
    <p:sldLayoutId xmlns:r="http://schemas.openxmlformats.org/officeDocument/2006/relationships" id="2147483668" r:id="R0dca444691f54815"/>
    <p:sldLayoutId xmlns:r="http://schemas.openxmlformats.org/officeDocument/2006/relationships" id="2147483669" r:id="R753cae78f20d4cad"/>
    <p:sldLayoutId xmlns:r="http://schemas.openxmlformats.org/officeDocument/2006/relationships" id="2147483670" r:id="R3f4446e87171432b"/>
    <p:sldLayoutId xmlns:r="http://schemas.openxmlformats.org/officeDocument/2006/relationships" id="2147483671" r:id="R37dbe60c6e2c480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a266a6aa184f6b" /><Relationship Type="http://schemas.openxmlformats.org/officeDocument/2006/relationships/image" Target="/ppt/media/image.png" Id="R2a672f539ec54fdd" /><Relationship Type="http://schemas.openxmlformats.org/officeDocument/2006/relationships/notesSlide" Target="/ppt/notesSlides/notesSlide1.xml" Id="R74c74c1d769b4c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c6ad53cef94d16" /><Relationship Type="http://schemas.openxmlformats.org/officeDocument/2006/relationships/notesSlide" Target="/ppt/notesSlides/notesSlide2.xml" Id="R14a3921fffbd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cbfdd2cffe4b03" /><Relationship Type="http://schemas.openxmlformats.org/officeDocument/2006/relationships/notesSlide" Target="/ppt/notesSlides/notesSlide3.xml" Id="Re0a73974da6048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a5f2258dec54fbd" /><Relationship Type="http://schemas.openxmlformats.org/officeDocument/2006/relationships/image" Target="/ppt/media/image2.png" Id="R9459d709de624e24" /><Relationship Type="http://schemas.openxmlformats.org/officeDocument/2006/relationships/notesSlide" Target="/ppt/notesSlides/notesSlide4.xml" Id="Rea4ead0f12e94d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95228fac67497b" /><Relationship Type="http://schemas.openxmlformats.org/officeDocument/2006/relationships/notesSlide" Target="/ppt/notesSlides/notesSlide5.xml" Id="Ra0b9199884184d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629dce401af4492" /><Relationship Type="http://schemas.openxmlformats.org/officeDocument/2006/relationships/notesSlide" Target="/ppt/notesSlides/notesSlide6.xml" Id="Rf7ac80a366a9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A671954-B3AF-4FC9-AA12-0206DF8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One faulty rule. A worldwide outage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AA703E1-25C5-41F3-A8EF-2003CB80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D97EE49-C54B-4C27-8EB6-2386260F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1 / 6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559A4C0-E9C8-41B6-8095-5D8BCF7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JULY 2, 2019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98EFC9B-3094-4AAE-AD74-52423CE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sits between visitors and websites, delivering content and checking requests for threats.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6D62E59-CA28-4E28-83E1-67E0551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A firewall update overloaded its servers. Visitors saw 502 errors even when the websites behind Cloudflare were healthy.</a:t>
            </a:r>
          </a:p>
        </p:txBody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70EB696-E142-4D0F-9AEE-2C08B23D8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72f539ec54fdd"/>
          <a:stretch xmlns:a="http://schemas.openxmlformats.org/drawingml/2006/main"/>
        </p:blipFill>
        <p:spPr>
          <a:xfrm xmlns:a="http://schemas.openxmlformats.org/drawingml/2006/main">
            <a:off x="4845022" y="1057275"/>
            <a:ext cx="3549706" cy="2667000"/>
          </a:xfrm>
          <a:prstGeom xmlns:a="http://schemas.openxmlformats.org/drawingml/2006/main" prst="rect">
            <a:avLst/>
          </a:prstGeom>
        </p:spPr>
      </p:pic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9AC3958-D1FF-44E6-A97A-4B4CF1F5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528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Cloudflare G9 hardware, 2018. Context photo, not the incident.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4B5B9F7-B674-4188-BE7F-8F54A4FA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27 min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AB6D23B-E887-4697-A399-512B2BF3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service disruption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EBBC9DD-F4A9-494E-BC8E-C3617B0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82%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9A530A7-C032-4877-A41A-687EA98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worst traffic drop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23EA0DA-AA21-4AED-BEC9-1F1E42D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100%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2A7C414-75AE-4F67-8372-F6F1B5ED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CPU usage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AB8A2C1-85D1-49A7-B564-7186FD1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Why a text-search rule consumed the CPU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BE349AB-E4E4-425A-8579-EB2FA86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C407D2A-B704-43F4-8327-78266F1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2 / 6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FAA89C7-AA4C-424B-B4E6-A520B15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THE SIMPLIFIED PATTERN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1ACCC40-FDE8-448D-AC17-9F3663A3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89D94"/>
                </a:solidFill>
              </a:defRPr>
            </a:defPPr>
            <a:lvl1pPr>
              <a:defRPr sz="3750" b="1">
                <a:solidFill>
                  <a:srgbClr val="189D94"/>
                </a:solidFill>
              </a:defRPr>
            </a:lvl1pPr>
            <a:lvl2pPr>
              <a:defRPr sz="3750" b="1">
                <a:solidFill>
                  <a:srgbClr val="189D94"/>
                </a:solidFill>
              </a:defRPr>
            </a:lvl2pPr>
            <a:lvl3pPr>
              <a:defRPr sz="3750" b="1">
                <a:solidFill>
                  <a:srgbClr val="189D94"/>
                </a:solidFill>
              </a:defRPr>
            </a:lvl3pPr>
            <a:lvl4pPr>
              <a:defRPr sz="3750" b="1">
                <a:solidFill>
                  <a:srgbClr val="189D94"/>
                </a:solidFill>
              </a:defRPr>
            </a:lvl4pPr>
            <a:lvl5pPr>
              <a:defRPr sz="3750" b="1">
                <a:solidFill>
                  <a:srgbClr val="189D94"/>
                </a:solidFill>
              </a:defRPr>
            </a:lvl5pPr>
            <a:lvl6pPr>
              <a:defRPr sz="3750" b="1">
                <a:solidFill>
                  <a:srgbClr val="189D94"/>
                </a:solidFill>
              </a:defRPr>
            </a:lvl6pPr>
            <a:lvl7pPr>
              <a:defRPr sz="3750" b="1">
                <a:solidFill>
                  <a:srgbClr val="189D94"/>
                </a:solidFill>
              </a:defRPr>
            </a:lvl7pPr>
            <a:lvl8pPr>
              <a:defRPr sz="3750" b="1">
                <a:solidFill>
                  <a:srgbClr val="189D94"/>
                </a:solidFill>
              </a:defRPr>
            </a:lvl8pPr>
            <a:lvl9pPr>
              <a:defRPr sz="37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9D94"/>
                </a:solidFill>
              </a:defRPr>
            </a:pPr>
            <a:r>
              <a:rPr sz="3750" b="1">
                <a:solidFill>
                  <a:srgbClr val="189D94"/>
                </a:solidFill>
              </a:rPr>
              <a:t>.*.*=.*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ED2854C-CE38-40F3-BC07-A37F79D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Each .* can match almost any amount of text. The overlapping sections create many possible ways to split the same input.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4B4B61B-28F5-4070-8C7A-406E0FE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DACBC"/>
                </a:solidFill>
              </a:defRPr>
            </a:defPPr>
            <a:lvl1pPr>
              <a:defRPr sz="1500" b="0">
                <a:solidFill>
                  <a:srgbClr val="9DACBC"/>
                </a:solidFill>
              </a:defRPr>
            </a:lvl1pPr>
            <a:lvl2pPr>
              <a:defRPr sz="1500" b="0">
                <a:solidFill>
                  <a:srgbClr val="9DACBC"/>
                </a:solidFill>
              </a:defRPr>
            </a:lvl2pPr>
            <a:lvl3pPr>
              <a:defRPr sz="1500" b="0">
                <a:solidFill>
                  <a:srgbClr val="9DACBC"/>
                </a:solidFill>
              </a:defRPr>
            </a:lvl3pPr>
            <a:lvl4pPr>
              <a:defRPr sz="1500" b="0">
                <a:solidFill>
                  <a:srgbClr val="9DACBC"/>
                </a:solidFill>
              </a:defRPr>
            </a:lvl4pPr>
            <a:lvl5pPr>
              <a:defRPr sz="1500" b="0">
                <a:solidFill>
                  <a:srgbClr val="9DACBC"/>
                </a:solidFill>
              </a:defRPr>
            </a:lvl5pPr>
            <a:lvl6pPr>
              <a:defRPr sz="1500" b="0">
                <a:solidFill>
                  <a:srgbClr val="9DACBC"/>
                </a:solidFill>
              </a:defRPr>
            </a:lvl6pPr>
            <a:lvl7pPr>
              <a:defRPr sz="1500" b="0">
                <a:solidFill>
                  <a:srgbClr val="9DACBC"/>
                </a:solidFill>
              </a:defRPr>
            </a:lvl7pPr>
            <a:lvl8pPr>
              <a:defRPr sz="1500" b="0">
                <a:solidFill>
                  <a:srgbClr val="9DACBC"/>
                </a:solidFill>
              </a:defRPr>
            </a:lvl8pPr>
            <a:lvl9pPr>
              <a:defRPr sz="15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DACBC"/>
                </a:solidFill>
              </a:defRPr>
            </a:pPr>
            <a:r>
              <a:rPr sz="1500" b="0">
                <a:solidFill>
                  <a:srgbClr val="9DACBC"/>
                </a:solidFill>
              </a:rPr>
              <a:t>A regex is a pattern for searching text.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97F1110-8E1B-4713-A7A8-52EB4E05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334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01  Inspect the request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DEF4328-93F8-44FC-A56B-AC56A1AB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web application firewall (WAF) ran this rule to detect malicious JavaScript.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532D10D-D644-49DC-A545-A26DB02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02  Retry possible matches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03AA7F4-FEA3-47D5-9C06-55B1108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Backtracking tries alternative matches. Too many retries use up processing time.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5397990-C8BD-455E-B266-60108D2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718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03  Crowd out normal work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6136F5D-22F8-4D53-B40C-B3084C1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check consumed CPU that servers needed to respond to visitors.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58642CC-38CB-4D47-8A97-EEC2ACA7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“Simulate” mode still runs the check. It only prevents the rule from blocking visitors.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23CC213-64DE-4852-9025-AF02281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Four missing defenses amplified the failure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717C3C1-449A-4E69-824D-1B456FF0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8D9B1DB-196B-4C47-96F8-01D31EA0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3 / 6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8C6ACA7-D34E-420C-93FE-53E389E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1C645AF-6C33-4591-B18E-EB50A94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620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CPU protection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1835142-BF9E-4BE0-BCCE-C78058D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430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An earlier performance refactor accidentally removed a safeguard against costly regex processing.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0BC1196-B1A6-4569-8E51-28761631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02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76D565A-4DFE-4A74-BA1A-A2346BBF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Performance tests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6E0A43B-8A1D-491A-A38D-D798CDB0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Tests checked allow/block decisions, but did not catch runaway CPU use. Correct answers were not enough.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D85AF59-E9D5-48F7-A68D-4EF4579B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03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9A72839A-AD3A-405F-BF94-F83523A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A limited rollout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FA1A000-097C-4615-9E05-EE85ECF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rule reached the world without a small trial first. One defect affected many locations together.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38177BF-A267-4426-AD6A-D966B74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04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9911C4C-F46A-4CAF-9A28-1899D709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Independent recovery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0FFC3F0-94C4-476C-AAE8-620C8BEF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outage also blocked internal tools, making emergency access and recovery harder.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7754558-60C5-426D-94B2-6441E062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DACBC"/>
                </a:solidFill>
              </a:defRPr>
            </a:defPPr>
            <a:lvl1pPr>
              <a:defRPr sz="1200" b="0">
                <a:solidFill>
                  <a:srgbClr val="9DACBC"/>
                </a:solidFill>
              </a:defRPr>
            </a:lvl1pPr>
            <a:lvl2pPr>
              <a:defRPr sz="1200" b="0">
                <a:solidFill>
                  <a:srgbClr val="9DACBC"/>
                </a:solidFill>
              </a:defRPr>
            </a:lvl2pPr>
            <a:lvl3pPr>
              <a:defRPr sz="1200" b="0">
                <a:solidFill>
                  <a:srgbClr val="9DACBC"/>
                </a:solidFill>
              </a:defRPr>
            </a:lvl3pPr>
            <a:lvl4pPr>
              <a:defRPr sz="1200" b="0">
                <a:solidFill>
                  <a:srgbClr val="9DACBC"/>
                </a:solidFill>
              </a:defRPr>
            </a:lvl4pPr>
            <a:lvl5pPr>
              <a:defRPr sz="1200" b="0">
                <a:solidFill>
                  <a:srgbClr val="9DACBC"/>
                </a:solidFill>
              </a:defRPr>
            </a:lvl5pPr>
            <a:lvl6pPr>
              <a:defRPr sz="1200" b="0">
                <a:solidFill>
                  <a:srgbClr val="9DACBC"/>
                </a:solidFill>
              </a:defRPr>
            </a:lvl6pPr>
            <a:lvl7pPr>
              <a:defRPr sz="1200" b="0">
                <a:solidFill>
                  <a:srgbClr val="9DACBC"/>
                </a:solidFill>
              </a:defRPr>
            </a:lvl7pPr>
            <a:lvl8pPr>
              <a:defRPr sz="1200" b="0">
                <a:solidFill>
                  <a:srgbClr val="9DACBC"/>
                </a:solidFill>
              </a:defRPr>
            </a:lvl8pPr>
            <a:lvl9pPr>
              <a:defRPr sz="12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DACBC"/>
                </a:solidFill>
              </a:defRPr>
            </a:pPr>
            <a:r>
              <a:rPr sz="1200" b="0">
                <a:solidFill>
                  <a:srgbClr val="9DACBC"/>
                </a:solidFill>
              </a:rPr>
              <a:t>The rule triggered the incident. Existing weaknesses made it global and harder to stop.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9048D2E-81B6-4119-89E2-621F54D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Service recovered before the firewall returned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43683AA-2E62-4B30-8F29-CEDCE6B9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8450CF7-229D-4699-B4CE-CFB73CD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4 / 6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BF5F8219-F346-420B-92D2-F5B6AFD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9D94"/>
                </a:solidFill>
              </a:defRPr>
            </a:defPPr>
            <a:lvl1pPr>
              <a:defRPr sz="975" b="1">
                <a:solidFill>
                  <a:srgbClr val="189D94"/>
                </a:solidFill>
              </a:defRPr>
            </a:lvl1pPr>
            <a:lvl2pPr>
              <a:defRPr sz="975" b="1">
                <a:solidFill>
                  <a:srgbClr val="189D94"/>
                </a:solidFill>
              </a:defRPr>
            </a:lvl2pPr>
            <a:lvl3pPr>
              <a:defRPr sz="975" b="1">
                <a:solidFill>
                  <a:srgbClr val="189D94"/>
                </a:solidFill>
              </a:defRPr>
            </a:lvl3pPr>
            <a:lvl4pPr>
              <a:defRPr sz="975" b="1">
                <a:solidFill>
                  <a:srgbClr val="189D94"/>
                </a:solidFill>
              </a:defRPr>
            </a:lvl4pPr>
            <a:lvl5pPr>
              <a:defRPr sz="975" b="1">
                <a:solidFill>
                  <a:srgbClr val="189D94"/>
                </a:solidFill>
              </a:defRPr>
            </a:lvl5pPr>
            <a:lvl6pPr>
              <a:defRPr sz="975" b="1">
                <a:solidFill>
                  <a:srgbClr val="189D94"/>
                </a:solidFill>
              </a:defRPr>
            </a:lvl6pPr>
            <a:lvl7pPr>
              <a:defRPr sz="975" b="1">
                <a:solidFill>
                  <a:srgbClr val="189D94"/>
                </a:solidFill>
              </a:defRPr>
            </a:lvl7pPr>
            <a:lvl8pPr>
              <a:defRPr sz="975" b="1">
                <a:solidFill>
                  <a:srgbClr val="189D94"/>
                </a:solidFill>
              </a:defRPr>
            </a:lvl8pPr>
            <a:lvl9pPr>
              <a:defRPr sz="9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9D94"/>
                </a:solidFill>
              </a:defRPr>
            </a:pPr>
            <a:r>
              <a:rPr sz="975" b="1">
                <a:solidFill>
                  <a:srgbClr val="189D94"/>
                </a:solidFill>
              </a:rPr>
              <a:t>CPU USAGE AT ONE CLOUDFLARE LOCATION</a:t>
            </a:r>
          </a:p>
        </p:txBody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B55D455-CF15-4723-8F1D-55F8D6F4E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9d709de624e24"/>
          <a:stretch xmlns:a="http://schemas.openxmlformats.org/drawingml/2006/main"/>
        </p:blipFill>
        <p:spPr>
          <a:xfrm xmlns:a="http://schemas.openxmlformats.org/drawingml/2006/main">
            <a:off x="533400" y="1495644"/>
            <a:ext cx="5219700" cy="2142687"/>
          </a:xfrm>
          <a:prstGeom xmlns:a="http://schemas.openxmlformats.org/drawingml/2006/main" prst="rect">
            <a:avLst/>
          </a:prstGeom>
        </p:spPr>
      </p:pic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94FB918-837A-4D32-8098-926BC04B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Original monitoring chart from Cloudflare’s postmortem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004CA72-23ED-41C0-AC28-05C9DEC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Disabling the WAF removed the immediate load. Other security protections stayed active.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C81D258-FE61-4C4E-A6D6-5928EB4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8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13:42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8C51A0-57DA-4CD1-8958-68C27620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Rule deployed globally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2F557F6-B7FB-4275-A054-BA17C77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14:00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0EDD22D-9B27-404E-9CE7-F5287BFF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identified as cause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F198E6E-C897-485A-99F0-44F1E375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14:07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CA0C37C-1E13-4281-915C-9B77797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disabled globally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CF94B64-5EE0-4D40-8DCD-68CC8B7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14:09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8DAE968-9332-4481-933B-2495D02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Traffic and CPU recover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763257F-69C9-46BB-B5BB-DAD9246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14:52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0608A69-62D2-41E6-84D7-6C54ECD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restored after testing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F16D4DC-BAB6-49EA-8C64-FA868B38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958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All times UTC, July 2,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4F22752-BB54-42EE-B6BD-E72FB69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The response addressed code and release process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265F5D4-6FDA-4EE9-BA74-AA93D88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5EF769E6-DEFA-490E-8F31-23FB70DA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5 / 6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6A557AA-1852-44E6-B860-9F11A5A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COMPLETED BY JULY 12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600E010-E95C-4A87-985B-993AD9A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7F9FC"/>
                </a:solidFill>
              </a:defRPr>
            </a:defPPr>
            <a:lvl1pPr>
              <a:defRPr sz="3900" b="1">
                <a:solidFill>
                  <a:srgbClr val="F7F9FC"/>
                </a:solidFill>
              </a:defRPr>
            </a:lvl1pPr>
            <a:lvl2pPr>
              <a:defRPr sz="3900" b="1">
                <a:solidFill>
                  <a:srgbClr val="F7F9FC"/>
                </a:solidFill>
              </a:defRPr>
            </a:lvl2pPr>
            <a:lvl3pPr>
              <a:defRPr sz="3900" b="1">
                <a:solidFill>
                  <a:srgbClr val="F7F9FC"/>
                </a:solidFill>
              </a:defRPr>
            </a:lvl3pPr>
            <a:lvl4pPr>
              <a:defRPr sz="3900" b="1">
                <a:solidFill>
                  <a:srgbClr val="F7F9FC"/>
                </a:solidFill>
              </a:defRPr>
            </a:lvl4pPr>
            <a:lvl5pPr>
              <a:defRPr sz="3900" b="1">
                <a:solidFill>
                  <a:srgbClr val="F7F9FC"/>
                </a:solidFill>
              </a:defRPr>
            </a:lvl5pPr>
            <a:lvl6pPr>
              <a:defRPr sz="3900" b="1">
                <a:solidFill>
                  <a:srgbClr val="F7F9FC"/>
                </a:solidFill>
              </a:defRPr>
            </a:lvl6pPr>
            <a:lvl7pPr>
              <a:defRPr sz="3900" b="1">
                <a:solidFill>
                  <a:srgbClr val="F7F9FC"/>
                </a:solidFill>
              </a:defRPr>
            </a:lvl7pPr>
            <a:lvl8pPr>
              <a:defRPr sz="3900" b="1">
                <a:solidFill>
                  <a:srgbClr val="F7F9FC"/>
                </a:solidFill>
              </a:defRPr>
            </a:lvl8pPr>
            <a:lvl9pPr>
              <a:defRPr sz="39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3,868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BDF8C22-EF63-42B4-B4E4-1975BA9E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managed rules inspected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81B2136-8B84-45B2-9F8F-D31AF89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333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also restored the CPU safeguard removed during refactoring.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C12D7E2-84E6-46D0-906D-76B18C4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2395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ANNOUNCED NEXT STEPS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72AD8FB-A5D6-45B4-AE31-F842F1C6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525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Measure processing cost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898A390-4F70-4EAE-AB75-AC56C1BA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1452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Profile rules for excessive CPU use, as well as checking whether they detect attacks.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D77804F-F3E0-499B-B0BB-EC7A08E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Expand releases gradually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58A914B-7E8D-42C0-B6AC-C348F32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Start with limited traffic and inspect results before deploying worldwide.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34E5E6E-6B7A-4278-9272-46BB632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Use a safer regex engine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1DF0F5A-64E6-44A9-89BE-BF5C861C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RE2 or Rust regex can provide runtime guarantees. Compatibility still needs testing.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1892B60-99D0-4091-A166-E8E5B27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8086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RE2: for a fixed pattern, matching time scales linearly with input length.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38">
            <a:extLst xmlns:a="http://schemas.openxmlformats.org/drawingml/2006/main">
              <a:ext uri="{FF2B5EF4-FFF2-40B4-BE49-F238E27FC236}">
                <a16:creationId xmlns:a16="http://schemas.microsoft.com/office/drawing/2014/main" id="{83D0D9FB-36B8-44F5-8A5C-7A982B6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3E47D08-664B-4137-AEB4-A599F7A9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What this case teaches engineering teams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6669189-2C08-45D7-B423-745CE2C5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6BC5EB2-0231-4C8F-9875-1BFB9A7E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6 / 6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CC62B7D-8BF2-420E-9E04-BA2AA03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Maintenance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963F4F2-B406-4659-B764-EF71D69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Restore service first. Then improve the controls that keep the same failure from recurring.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E53E213-61C9-4FFB-A6D7-30C351C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Technical debt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08A3C62-A12E-497D-8ED3-64D259D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Shortcuts in testing and deployment can turn today’s speed into tomorrow’s outage costs.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BC428DA-1B0E-4B2C-BDF8-ECD16BD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Refactoring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B45697B-EF0B-43C3-86C5-D2ACE31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Preserve safety limits as well as feature behavior. Test resource use, not only correct answers.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A243B32-FCD7-4A31-91A1-D242E2C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8086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9FC"/>
                </a:solidFill>
              </a:defRPr>
            </a:defPPr>
            <a:lvl1pPr>
              <a:defRPr sz="2550" b="1">
                <a:solidFill>
                  <a:srgbClr val="F7F9FC"/>
                </a:solidFill>
              </a:defRPr>
            </a:lvl1pPr>
            <a:lvl2pPr>
              <a:defRPr sz="2550" b="1">
                <a:solidFill>
                  <a:srgbClr val="F7F9FC"/>
                </a:solidFill>
              </a:defRPr>
            </a:lvl2pPr>
            <a:lvl3pPr>
              <a:defRPr sz="2550" b="1">
                <a:solidFill>
                  <a:srgbClr val="F7F9FC"/>
                </a:solidFill>
              </a:defRPr>
            </a:lvl3pPr>
            <a:lvl4pPr>
              <a:defRPr sz="2550" b="1">
                <a:solidFill>
                  <a:srgbClr val="F7F9FC"/>
                </a:solidFill>
              </a:defRPr>
            </a:lvl4pPr>
            <a:lvl5pPr>
              <a:defRPr sz="2550" b="1">
                <a:solidFill>
                  <a:srgbClr val="F7F9FC"/>
                </a:solidFill>
              </a:defRPr>
            </a:lvl5pPr>
            <a:lvl6pPr>
              <a:defRPr sz="2550" b="1">
                <a:solidFill>
                  <a:srgbClr val="F7F9FC"/>
                </a:solidFill>
              </a:defRPr>
            </a:lvl6pPr>
            <a:lvl7pPr>
              <a:defRPr sz="2550" b="1">
                <a:solidFill>
                  <a:srgbClr val="F7F9FC"/>
                </a:solidFill>
              </a:defRPr>
            </a:lvl7pPr>
            <a:lvl8pPr>
              <a:defRPr sz="2550" b="1">
                <a:solidFill>
                  <a:srgbClr val="F7F9FC"/>
                </a:solidFill>
              </a:defRPr>
            </a:lvl8pPr>
            <a:lvl9pPr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Does “the same output” mean</a:t>
            </a:r>
          </a:p>
          <a:p xmlns:a="http://schemas.openxmlformats.org/drawingml/2006/main"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“the same behavior” under load?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693EE9DB-80D1-4DC2-A3B4-3BF50F8A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8086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Test processing cost. Limit rollout exposure. Rehearse recovery without normal tools.</a:t>
            </a:r>
          </a:p>
        </p:txBody>
      </p:sp>
    </p:spTree>
    <p:extLst>
      <p:ext uri="{BB962C8B-B14F-4D97-AF65-F5344CB8AC3E}">
        <p14:creationId xmlns:p14="http://schemas.microsoft.com/office/powerpoint/2010/main" val="118915048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2026-10-27T17:25:38.6650000Z</dcterms:created>
  <dcterms:modified xsi:type="dcterms:W3CDTF">2026-10-27T17:25:38.6650000Z</dcterms:modified>
</coreProperties>
</file>